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70" r:id="rId7"/>
    <p:sldId id="271" r:id="rId8"/>
    <p:sldId id="280" r:id="rId9"/>
    <p:sldId id="275" r:id="rId10"/>
    <p:sldId id="276" r:id="rId11"/>
    <p:sldId id="277" r:id="rId12"/>
    <p:sldId id="278" r:id="rId13"/>
    <p:sldId id="279" r:id="rId14"/>
    <p:sldId id="261" r:id="rId15"/>
    <p:sldId id="273" r:id="rId16"/>
    <p:sldId id="272" r:id="rId17"/>
    <p:sldId id="274" r:id="rId18"/>
    <p:sldId id="262" r:id="rId19"/>
    <p:sldId id="263" r:id="rId20"/>
    <p:sldId id="268" r:id="rId21"/>
    <p:sldId id="264" r:id="rId22"/>
    <p:sldId id="265" r:id="rId23"/>
    <p:sldId id="266" r:id="rId24"/>
    <p:sldId id="267" r:id="rId25"/>
    <p:sldId id="260" r:id="rId26"/>
    <p:sldId id="288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54" d="100"/>
          <a:sy n="54" d="100"/>
        </p:scale>
        <p:origin x="1554" y="4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0D794F-8ED1-55B2-B55E-8CF63F965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32A7ACB-2761-0F1A-7A5C-1D9CD0DFD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B0C253-A1CC-ECBB-84AF-D19F481CC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59184-802A-491B-9DD8-65A9959668F1}" type="datetimeFigureOut">
              <a:rPr lang="ru-BY" smtClean="0"/>
              <a:t>25.12.2025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007B7D-392C-475F-EEB1-45B85586E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00204D-462C-266A-DBAB-01E97DEBF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1B43-E7B9-4FFC-9270-3DCDF39300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721751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3C6572-9711-B339-F27C-504A7A2FE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2B8CF7-B291-658E-FFF1-8C9BEF3DA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B497FB-A56F-AE10-9741-81C75F93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59184-802A-491B-9DD8-65A9959668F1}" type="datetimeFigureOut">
              <a:rPr lang="ru-BY" smtClean="0"/>
              <a:t>25.12.2025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47E19F-83CA-1E85-5826-7A27D2B0D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E171C7-C2D2-45D2-1926-AA364D068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1B43-E7B9-4FFC-9270-3DCDF39300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802116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3C4F2A-A17A-1052-A132-21E07163B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99136D-ACE4-9D3A-B056-EC666C9B4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256E84-AB5E-5904-96E1-D6F1F1F65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59184-802A-491B-9DD8-65A9959668F1}" type="datetimeFigureOut">
              <a:rPr lang="ru-BY" smtClean="0"/>
              <a:t>25.12.2025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CCA0C8-5CCF-E68C-E426-64C0E4980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6FFB5A-5AE2-AAD7-AAC4-3373739D6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1B43-E7B9-4FFC-9270-3DCDF39300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633999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960F05-A360-C18A-B09E-C0113980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BC0A4F-A8E2-3334-576C-FC0C4B5FA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7C58E9-2D20-2D53-FD6D-710342B94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DD8DD4-330F-5698-E7C6-ABCCF1947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59184-802A-491B-9DD8-65A9959668F1}" type="datetimeFigureOut">
              <a:rPr lang="ru-BY" smtClean="0"/>
              <a:t>25.12.2025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D32612-4C74-CF72-7024-CCB8FA9C6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4ED965-8822-618B-C1EC-496D592C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1B43-E7B9-4FFC-9270-3DCDF39300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612849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FBA761-D2AD-969B-58B2-C58452DBF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6D781D-9A86-511F-4BCD-2D715D9C6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2535AC-D3A2-DD38-974A-4F9CA6D56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2A0B436-99E0-2A24-47DB-85B78E6EC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BA54CF5-2A04-6330-80F3-A7BDC84421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D4E7BAD-2731-70A9-F626-DCB7A12F3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59184-802A-491B-9DD8-65A9959668F1}" type="datetimeFigureOut">
              <a:rPr lang="ru-BY" smtClean="0"/>
              <a:t>25.12.2025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02CD620-DD7C-A279-0726-93A90BFFA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5B418C7-C4D8-39E4-54C6-0E1459731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1B43-E7B9-4FFC-9270-3DCDF39300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328018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03DA22-7627-D54F-9869-6B53A6D1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310342C-6135-78A6-D7AF-01BCD2948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59184-802A-491B-9DD8-65A9959668F1}" type="datetimeFigureOut">
              <a:rPr lang="ru-BY" smtClean="0"/>
              <a:t>25.12.2025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DF4EF9E-972D-862C-B4DF-6853CFC77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F985C59-AF33-0E3D-CA74-302AF83F2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1B43-E7B9-4FFC-9270-3DCDF39300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685226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6EA8069-72A5-BCD3-2E82-424588908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59184-802A-491B-9DD8-65A9959668F1}" type="datetimeFigureOut">
              <a:rPr lang="ru-BY" smtClean="0"/>
              <a:t>25.12.2025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3610712-A2E5-482E-E1E9-34B7412BC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58ACB1-4FDA-FD6A-A437-C485D3B7D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1B43-E7B9-4FFC-9270-3DCDF39300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598854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BAC30-89A4-38F3-CD91-130301061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2B1FAB-6B1D-9BFD-2015-157F6B076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A5D1727-40A1-405F-E7A5-E82787CA71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A0E4F6-D57F-D451-520A-28D00C9AB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59184-802A-491B-9DD8-65A9959668F1}" type="datetimeFigureOut">
              <a:rPr lang="ru-BY" smtClean="0"/>
              <a:t>25.12.2025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08B7F09-9617-1D9A-024F-CE3839F1C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9DCC23-AFC6-8071-4F70-7B963DAAF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1B43-E7B9-4FFC-9270-3DCDF39300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586496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B37CDE-F7E5-CFF3-4050-CCF25BB27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7D2F5CB-7C45-59F2-F2B7-A91E7B1AA1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F8AD19A-ED08-4FF4-0F76-F877A446D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E42F4F-E02F-8C87-0357-760973B83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59184-802A-491B-9DD8-65A9959668F1}" type="datetimeFigureOut">
              <a:rPr lang="ru-BY" smtClean="0"/>
              <a:t>25.12.2025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4A9FC9-247A-83D4-CABB-E8B40A22C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08FAC3-F9DD-F530-01B4-B605FD03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1B43-E7B9-4FFC-9270-3DCDF39300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891603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18D961-510A-1DD1-21D0-D94942D11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71CF08C-9332-0CA6-B39C-DC9F990F6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49E196-D935-8554-DD9C-D1EC624F2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59184-802A-491B-9DD8-65A9959668F1}" type="datetimeFigureOut">
              <a:rPr lang="ru-BY" smtClean="0"/>
              <a:t>25.12.2025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636410-04E8-CBE1-37E9-D6D9EFBFE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C643EE-5E05-71F1-A93A-CEC511531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1B43-E7B9-4FFC-9270-3DCDF39300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669889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0D7825D-4779-778A-F7DA-30ACA38EEF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375ECBF-BC2C-74A2-44DB-D38F3B1A2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583806-1979-73DE-85E3-71B8AE924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59184-802A-491B-9DD8-65A9959668F1}" type="datetimeFigureOut">
              <a:rPr lang="ru-BY" smtClean="0"/>
              <a:t>25.12.2025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1E4426-AFDE-A73C-5E3C-2D64B1C01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B754CE-2AF2-5221-36CA-9628FB9E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1B43-E7B9-4FFC-9270-3DCDF39300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890833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598F1C-14B3-3285-20D0-9D0AAF796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6A7291-991D-81BA-E30F-7DF7FF35F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C4E837-914C-DF41-88D5-87C78750F7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59184-802A-491B-9DD8-65A9959668F1}" type="datetimeFigureOut">
              <a:rPr lang="ru-BY" smtClean="0"/>
              <a:t>25.12.2025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A28557-B3CA-63E9-446F-2A5CB547A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7A9A02-C253-DF75-2ECD-CC45DA659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441B43-E7B9-4FFC-9270-3DCDF39300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598704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5299C0-A3E0-4C2A-F121-61F107677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60687"/>
          </a:xfrm>
        </p:spPr>
        <p:txBody>
          <a:bodyPr>
            <a:normAutofit fontScale="90000"/>
          </a:bodyPr>
          <a:lstStyle/>
          <a:p>
            <a:r>
              <a:rPr lang="ru-RU" dirty="0"/>
              <a:t>ЭЛЕМЕНТАРНЫЕ ФУНКЦИИ КОМПЛЕКСНОГО ПЕРЕМЕННОГО И ИХ СВОЙСТВА</a:t>
            </a:r>
            <a:endParaRPr lang="ru-BY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2BB12C1-E83A-EDD9-137B-03172F288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8750" y="4649788"/>
            <a:ext cx="9144000" cy="1655762"/>
          </a:xfrm>
        </p:spPr>
        <p:txBody>
          <a:bodyPr>
            <a:normAutofit/>
          </a:bodyPr>
          <a:lstStyle/>
          <a:p>
            <a:pPr lvl="1"/>
            <a:r>
              <a:rPr lang="ru-RU" sz="5400" dirty="0" err="1"/>
              <a:t>ХАЛАМОВ</a:t>
            </a:r>
            <a:r>
              <a:rPr lang="ru-RU" sz="5400" dirty="0"/>
              <a:t> </a:t>
            </a:r>
            <a:r>
              <a:rPr lang="ru-RU" sz="5400" dirty="0" err="1"/>
              <a:t>Н.А</a:t>
            </a:r>
            <a:r>
              <a:rPr lang="ru-RU" sz="5400" dirty="0"/>
              <a:t>., ГР. 453503</a:t>
            </a:r>
            <a:endParaRPr lang="ru-BY" sz="5400" dirty="0"/>
          </a:p>
        </p:txBody>
      </p:sp>
    </p:spTree>
    <p:extLst>
      <p:ext uri="{BB962C8B-B14F-4D97-AF65-F5344CB8AC3E}">
        <p14:creationId xmlns:p14="http://schemas.microsoft.com/office/powerpoint/2010/main" val="206862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85802-C2B4-9031-1237-248CCC8A3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B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545121D-05C9-10DB-B2D8-B4B09C793D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65125"/>
                <a:ext cx="10515600" cy="5811838"/>
              </a:xfrm>
            </p:spPr>
            <p:txBody>
              <a:bodyPr>
                <a:normAutofit/>
              </a:bodyPr>
              <a:lstStyle/>
              <a:p>
                <a:r>
                  <a:rPr lang="ru-RU" sz="5400" dirty="0"/>
                  <a:t>Функция комплексного переменного – это отображение: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5400"/>
                      <m:t>w</m:t>
                    </m:r>
                    <m:r>
                      <a:rPr lang="ru-RU" sz="5400"/>
                      <m:t>=</m:t>
                    </m:r>
                    <m:r>
                      <m:rPr>
                        <m:sty m:val="p"/>
                      </m:rPr>
                      <a:rPr lang="ru-RU" sz="5400"/>
                      <m:t>f</m:t>
                    </m:r>
                    <m:r>
                      <a:rPr lang="ru-RU" sz="5400"/>
                      <m:t>(</m:t>
                    </m:r>
                    <m:r>
                      <m:rPr>
                        <m:sty m:val="p"/>
                      </m:rPr>
                      <a:rPr lang="ru-RU" sz="5400"/>
                      <m:t>z</m:t>
                    </m:r>
                    <m:r>
                      <a:rPr lang="ru-RU" sz="5400"/>
                      <m:t>),</m:t>
                    </m:r>
                  </m:oMath>
                </a14:m>
                <a:r>
                  <a:rPr lang="ru-RU" sz="5400" dirty="0"/>
                  <a:t> которое каждому комплексному числу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5400"/>
                      <m:t>z</m:t>
                    </m:r>
                  </m:oMath>
                </a14:m>
                <a:r>
                  <a:rPr lang="ru-RU" sz="5400" dirty="0"/>
                  <a:t> из некоторой области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5400"/>
                      <m:t>D</m:t>
                    </m:r>
                    <m:r>
                      <a:rPr lang="ru-RU" sz="5400"/>
                      <m:t>⊂</m:t>
                    </m:r>
                    <m:r>
                      <a:rPr lang="ru-RU" sz="5400" i="1"/>
                      <m:t>ℂ</m:t>
                    </m:r>
                  </m:oMath>
                </a14:m>
                <a:r>
                  <a:rPr lang="ru-RU" sz="5400" dirty="0"/>
                  <a:t> ставит в соответствие комплексное число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5400"/>
                      <m:t>w</m:t>
                    </m:r>
                    <m:r>
                      <a:rPr lang="ru-RU" sz="5400"/>
                      <m:t>∈</m:t>
                    </m:r>
                    <m:r>
                      <a:rPr lang="ru-RU" sz="5400" i="1"/>
                      <m:t>ℂ</m:t>
                    </m:r>
                  </m:oMath>
                </a14:m>
                <a:r>
                  <a:rPr lang="ru-RU" sz="5400" dirty="0"/>
                  <a:t>.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545121D-05C9-10DB-B2D8-B4B09C793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65125"/>
                <a:ext cx="10515600" cy="5811838"/>
              </a:xfrm>
              <a:blipFill>
                <a:blip r:embed="rId2"/>
                <a:stretch>
                  <a:fillRect l="-2841" t="-4302" r="-330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159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C5BA6-4854-7695-31A4-460307C5F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Элементарные функции комплексного переменного</a:t>
            </a:r>
            <a:endParaRPr lang="ru-B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339AA36-1E9A-5624-1701-1E2FBA2B32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sz="3600" dirty="0"/>
                  <a:t>ПОКАЗАТЕЛЬНАЯ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BY" sz="3600" i="1"/>
                        </m:ctrlPr>
                      </m:sSupPr>
                      <m:e>
                        <m:r>
                          <a:rPr lang="ru-RU" sz="3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3600"/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3600"/>
                          <m:t>z</m:t>
                        </m:r>
                      </m:sup>
                    </m:sSup>
                  </m:oMath>
                </a14:m>
                <a:br>
                  <a:rPr lang="ru-RU" sz="3600" dirty="0"/>
                </a:br>
                <a:r>
                  <a:rPr lang="ru-RU" sz="3600" dirty="0"/>
                  <a:t>ТРИГОНОМЕТРИЧЕСКАЯ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BY" sz="3600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sz="3600"/>
                          <m:t>sin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ru-RU" sz="3600"/>
                          <m:t>z</m:t>
                        </m:r>
                      </m:e>
                    </m:func>
                    <m:r>
                      <a:rPr lang="ru-RU" sz="3600"/>
                      <m:t>=</m:t>
                    </m:r>
                    <m:f>
                      <m:fPr>
                        <m:ctrlPr>
                          <a:rPr lang="ru-BY" sz="3600" i="1"/>
                        </m:ctrlPr>
                      </m:fPr>
                      <m:num>
                        <m:sSup>
                          <m:sSupPr>
                            <m:ctrlPr>
                              <a:rPr lang="ru-BY" sz="3600" i="1"/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ru-RU" sz="3600"/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ru-RU" sz="3600"/>
                              <m:t>iz</m:t>
                            </m:r>
                          </m:sup>
                        </m:sSup>
                        <m:r>
                          <a:rPr lang="ru-RU" sz="3600" i="1"/>
                          <m:t>−</m:t>
                        </m:r>
                        <m:sSup>
                          <m:sSupPr>
                            <m:ctrlPr>
                              <a:rPr lang="ru-BY" sz="3600" i="1"/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ru-RU" sz="3600"/>
                              <m:t>e</m:t>
                            </m:r>
                          </m:e>
                          <m:sup>
                            <m:r>
                              <a:rPr lang="ru-RU" sz="3600" i="1"/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ru-RU" sz="3600"/>
                              <m:t>iz</m:t>
                            </m:r>
                          </m:sup>
                        </m:sSup>
                      </m:num>
                      <m:den>
                        <m:r>
                          <a:rPr lang="ru-RU" sz="3600"/>
                          <m:t>2</m:t>
                        </m:r>
                        <m:r>
                          <m:rPr>
                            <m:sty m:val="p"/>
                          </m:rPr>
                          <a:rPr lang="ru-RU" sz="3600"/>
                          <m:t>i</m:t>
                        </m:r>
                      </m:den>
                    </m:f>
                  </m:oMath>
                </a14:m>
                <a:br>
                  <a:rPr lang="ru-RU" sz="3600" dirty="0"/>
                </a:br>
                <a:r>
                  <a:rPr lang="ru-RU" sz="3600" dirty="0"/>
                  <a:t>ЛОГАРИФМИЧЕСКАЯ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3600"/>
                      <m:t>Ln</m:t>
                    </m:r>
                    <m:r>
                      <a:rPr lang="ru-RU" sz="3600"/>
                      <m:t> </m:t>
                    </m:r>
                    <m:r>
                      <m:rPr>
                        <m:sty m:val="p"/>
                      </m:rPr>
                      <a:rPr lang="ru-RU" sz="3600"/>
                      <m:t>w</m:t>
                    </m:r>
                    <m:r>
                      <a:rPr lang="ru-RU" sz="3600"/>
                      <m:t>=</m:t>
                    </m:r>
                    <m:func>
                      <m:funcPr>
                        <m:ctrlPr>
                          <a:rPr lang="ru-BY" sz="3600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sz="3600"/>
                          <m:t>ln</m:t>
                        </m:r>
                      </m:fName>
                      <m:e>
                        <m:r>
                          <a:rPr lang="ru-RU" sz="3600"/>
                          <m:t>|</m:t>
                        </m:r>
                      </m:e>
                    </m:func>
                    <m:r>
                      <m:rPr>
                        <m:sty m:val="p"/>
                      </m:rPr>
                      <a:rPr lang="ru-RU" sz="3600"/>
                      <m:t>w</m:t>
                    </m:r>
                    <m:r>
                      <a:rPr lang="ru-RU" sz="3600"/>
                      <m:t>|+</m:t>
                    </m:r>
                    <m:r>
                      <m:rPr>
                        <m:sty m:val="p"/>
                      </m:rPr>
                      <a:rPr lang="ru-RU" sz="3600"/>
                      <m:t>iArg</m:t>
                    </m:r>
                    <m:r>
                      <a:rPr lang="ru-RU" sz="3600"/>
                      <m:t> </m:t>
                    </m:r>
                    <m:r>
                      <m:rPr>
                        <m:sty m:val="p"/>
                      </m:rPr>
                      <a:rPr lang="ru-RU" sz="3600"/>
                      <m:t>w</m:t>
                    </m:r>
                  </m:oMath>
                </a14:m>
                <a:br>
                  <a:rPr lang="ru-RU" sz="3600" dirty="0"/>
                </a:br>
                <a:r>
                  <a:rPr lang="ru-RU" sz="3600" dirty="0"/>
                  <a:t>СТЕПЕННАЯ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BY" sz="3600" i="1"/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3600"/>
                          <m:t>z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3600"/>
                          <m:t>α</m:t>
                        </m:r>
                      </m:sup>
                    </m:sSup>
                    <m:r>
                      <a:rPr lang="ru-RU" sz="3600"/>
                      <m:t>=</m:t>
                    </m:r>
                    <m:sSup>
                      <m:sSupPr>
                        <m:ctrlPr>
                          <a:rPr lang="ru-BY" sz="3600" i="1"/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3600"/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3600"/>
                          <m:t>α</m:t>
                        </m:r>
                        <m:r>
                          <a:rPr lang="ru-RU" sz="3600"/>
                          <m:t>⋅</m:t>
                        </m:r>
                        <m:r>
                          <m:rPr>
                            <m:sty m:val="p"/>
                          </m:rPr>
                          <a:rPr lang="ru-RU" sz="3600"/>
                          <m:t>Ln</m:t>
                        </m:r>
                        <m:r>
                          <a:rPr lang="ru-RU" sz="3600"/>
                          <m:t> </m:t>
                        </m:r>
                        <m:r>
                          <m:rPr>
                            <m:sty m:val="p"/>
                          </m:rPr>
                          <a:rPr lang="ru-RU" sz="3600"/>
                          <m:t>z</m:t>
                        </m:r>
                      </m:sup>
                    </m:sSup>
                  </m:oMath>
                </a14:m>
                <a:endParaRPr lang="ru-RU" sz="3600" dirty="0"/>
              </a:p>
              <a:p>
                <a:r>
                  <a:rPr lang="ru-RU" sz="3600" dirty="0"/>
                  <a:t>Образуют основу теории функций комплексного переменного и центральное место в приложениях математического анализа в инженерии и физике</a:t>
                </a:r>
                <a:endParaRPr lang="ru-BY" sz="3600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339AA36-1E9A-5624-1701-1E2FBA2B32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23" t="-3361" r="-52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6531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91E7EF-17B0-793F-F227-417BCFA16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35437"/>
          </a:xfrm>
        </p:spPr>
        <p:txBody>
          <a:bodyPr>
            <a:normAutofit/>
          </a:bodyPr>
          <a:lstStyle/>
          <a:p>
            <a:r>
              <a:rPr lang="ru-RU" dirty="0"/>
              <a:t>Рассмотрим на практике основные свойства элементарных функций комплексного переменного</a:t>
            </a:r>
            <a:endParaRPr lang="ru-BY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366728-63E0-FAA2-A1FE-319C309DE4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66864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0A3A75-E0F4-4FE2-C859-C2006C8D2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BY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1A4285C-869F-05F0-F58A-D4B3589C2C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50850"/>
                <a:ext cx="10515600" cy="5726113"/>
              </a:xfrm>
            </p:spPr>
            <p:txBody>
              <a:bodyPr>
                <a:noAutofit/>
              </a:bodyPr>
              <a:lstStyle/>
              <a:p>
                <a:r>
                  <a:rPr lang="ru-RU" sz="4000" dirty="0"/>
                  <a:t>Функция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4000"/>
                      <m:t>f</m:t>
                    </m:r>
                    <m:r>
                      <m:rPr>
                        <m:nor/>
                      </m:rPr>
                      <a:rPr lang="ru-RU" sz="4000"/>
                      <m:t>(</m:t>
                    </m:r>
                    <m:r>
                      <m:rPr>
                        <m:nor/>
                      </m:rPr>
                      <a:rPr lang="ru-RU" sz="4000"/>
                      <m:t>z</m:t>
                    </m:r>
                    <m:r>
                      <m:rPr>
                        <m:nor/>
                      </m:rPr>
                      <a:rPr lang="ru-RU" sz="4000"/>
                      <m:t>)</m:t>
                    </m:r>
                  </m:oMath>
                </a14:m>
                <a:r>
                  <a:rPr lang="ru-RU" sz="4000" dirty="0"/>
                  <a:t> называется аналитической (или голоморфной, или регулярной) в 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BY" sz="4000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4000"/>
                          <m:t>z</m:t>
                        </m:r>
                      </m:e>
                      <m:sub>
                        <m:r>
                          <a:rPr lang="ru-RU" sz="4000"/>
                          <m:t>0</m:t>
                        </m:r>
                      </m:sub>
                    </m:sSub>
                  </m:oMath>
                </a14:m>
                <a:r>
                  <a:rPr lang="ru-RU" sz="4000" dirty="0"/>
                  <a:t>, если она дифференцируема не только в самой 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BY" sz="4000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4000"/>
                          <m:t>z</m:t>
                        </m:r>
                      </m:e>
                      <m:sub>
                        <m:r>
                          <a:rPr lang="ru-RU" sz="4000"/>
                          <m:t>0</m:t>
                        </m:r>
                      </m:sub>
                    </m:sSub>
                  </m:oMath>
                </a14:m>
                <a:r>
                  <a:rPr lang="ru-RU" sz="4000" dirty="0"/>
                  <a:t>, но и в некоторой её окрестности. Функция </a:t>
                </a:r>
                <a:r>
                  <a:rPr lang="ru-RU" sz="4000" dirty="0" err="1"/>
                  <a:t>аналитична</a:t>
                </a:r>
                <a:r>
                  <a:rPr lang="ru-RU" sz="4000" dirty="0"/>
                  <a:t> в области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4000"/>
                      <m:t>D</m:t>
                    </m:r>
                  </m:oMath>
                </a14:m>
                <a:r>
                  <a:rPr lang="ru-RU" sz="4000" dirty="0"/>
                  <a:t>, если она </a:t>
                </a:r>
                <a:r>
                  <a:rPr lang="ru-RU" sz="4000" dirty="0" err="1"/>
                  <a:t>аналитична</a:t>
                </a:r>
                <a:r>
                  <a:rPr lang="ru-RU" sz="4000" dirty="0"/>
                  <a:t> в каждой точке этой области. Аналитичность – это локальное свойство: функция может быть аналитической в одной области и неаналитической в другой </a:t>
                </a:r>
                <a:endParaRPr lang="ru-BY" sz="4000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1A4285C-869F-05F0-F58A-D4B3589C2C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50850"/>
                <a:ext cx="10515600" cy="5726113"/>
              </a:xfrm>
              <a:blipFill>
                <a:blip r:embed="rId2"/>
                <a:stretch>
                  <a:fillRect l="-1855" t="-2982" r="-249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4582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3A7390-A6E2-308B-016E-A894A1A21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Условия Коши-Римана</a:t>
            </a:r>
            <a:endParaRPr lang="ru-B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ACADFE5-C075-C0E0-0667-FEC86EA917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Это необходимые условия дифференцируемости функции комплексного переменного.</a:t>
                </a:r>
              </a:p>
              <a:p>
                <a:r>
                  <a:rPr lang="ru-RU" dirty="0"/>
                  <a:t> Если функция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/>
                      <m:t>f</m:t>
                    </m:r>
                    <m:r>
                      <a:rPr lang="ru-RU"/>
                      <m:t>(</m:t>
                    </m:r>
                    <m:r>
                      <m:rPr>
                        <m:sty m:val="p"/>
                      </m:rPr>
                      <a:rPr lang="ru-RU"/>
                      <m:t>z</m:t>
                    </m:r>
                    <m:r>
                      <a:rPr lang="ru-RU"/>
                      <m:t>)=</m:t>
                    </m:r>
                    <m:r>
                      <m:rPr>
                        <m:sty m:val="p"/>
                      </m:rPr>
                      <a:rPr lang="ru-RU"/>
                      <m:t>u</m:t>
                    </m:r>
                    <m:r>
                      <a:rPr lang="ru-RU"/>
                      <m:t>(</m:t>
                    </m:r>
                    <m:r>
                      <m:rPr>
                        <m:sty m:val="p"/>
                      </m:rPr>
                      <a:rPr lang="ru-RU"/>
                      <m:t>x</m:t>
                    </m:r>
                    <m:r>
                      <a:rPr lang="ru-RU"/>
                      <m:t>,</m:t>
                    </m:r>
                    <m:r>
                      <m:rPr>
                        <m:sty m:val="p"/>
                      </m:rPr>
                      <a:rPr lang="ru-RU"/>
                      <m:t>y</m:t>
                    </m:r>
                    <m:r>
                      <a:rPr lang="ru-RU"/>
                      <m:t>)+</m:t>
                    </m:r>
                    <m:r>
                      <m:rPr>
                        <m:sty m:val="p"/>
                      </m:rPr>
                      <a:rPr lang="ru-RU"/>
                      <m:t>iv</m:t>
                    </m:r>
                    <m:r>
                      <a:rPr lang="ru-RU"/>
                      <m:t>(</m:t>
                    </m:r>
                    <m:r>
                      <m:rPr>
                        <m:sty m:val="p"/>
                      </m:rPr>
                      <a:rPr lang="ru-RU"/>
                      <m:t>x</m:t>
                    </m:r>
                    <m:r>
                      <a:rPr lang="ru-RU"/>
                      <m:t>,</m:t>
                    </m:r>
                    <m:r>
                      <m:rPr>
                        <m:sty m:val="p"/>
                      </m:rPr>
                      <a:rPr lang="ru-RU"/>
                      <m:t>y</m:t>
                    </m:r>
                    <m:r>
                      <a:rPr lang="ru-RU"/>
                      <m:t>)</m:t>
                    </m:r>
                  </m:oMath>
                </a14:m>
                <a:r>
                  <a:rPr lang="ru-RU" dirty="0"/>
                  <a:t> дифференцируема в 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BY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/>
                          <m:t>z</m:t>
                        </m:r>
                      </m:e>
                      <m:sub>
                        <m:r>
                          <a:rPr lang="ru-RU"/>
                          <m:t>0</m:t>
                        </m:r>
                      </m:sub>
                    </m:sSub>
                    <m:r>
                      <a:rPr lang="ru-RU"/>
                      <m:t>=</m:t>
                    </m:r>
                    <m:sSub>
                      <m:sSubPr>
                        <m:ctrlPr>
                          <a:rPr lang="ru-BY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/>
                          <m:t>x</m:t>
                        </m:r>
                      </m:e>
                      <m:sub>
                        <m:r>
                          <a:rPr lang="ru-RU"/>
                          <m:t>0</m:t>
                        </m:r>
                      </m:sub>
                    </m:sSub>
                    <m:r>
                      <a:rPr lang="ru-RU"/>
                      <m:t>+</m:t>
                    </m:r>
                    <m:r>
                      <m:rPr>
                        <m:sty m:val="p"/>
                      </m:rPr>
                      <a:rPr lang="ru-RU"/>
                      <m:t>i</m:t>
                    </m:r>
                    <m:sSub>
                      <m:sSubPr>
                        <m:ctrlPr>
                          <a:rPr lang="ru-BY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/>
                          <m:t>y</m:t>
                        </m:r>
                      </m:e>
                      <m:sub>
                        <m:r>
                          <a:rPr lang="ru-RU"/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, то в этой точке частные производные</a:t>
                </a:r>
              </a:p>
              <a:p>
                <a:pPr marL="0" indent="0">
                  <a:buNone/>
                </a:pPr>
                <a:r>
                  <a:rPr lang="en-US" dirty="0"/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BY" i="1" smtClean="0"/>
                        </m:ctrlPr>
                      </m:fPr>
                      <m:num>
                        <m:r>
                          <a:rPr lang="ru-RU"/>
                          <m:t>∂</m:t>
                        </m:r>
                        <m:r>
                          <m:rPr>
                            <m:sty m:val="p"/>
                          </m:rPr>
                          <a:rPr lang="ru-RU"/>
                          <m:t>u</m:t>
                        </m:r>
                      </m:num>
                      <m:den>
                        <m:r>
                          <a:rPr lang="ru-RU"/>
                          <m:t>∂</m:t>
                        </m:r>
                        <m:r>
                          <m:rPr>
                            <m:sty m:val="p"/>
                          </m:rPr>
                          <a:rPr lang="ru-RU"/>
                          <m:t>x</m:t>
                        </m:r>
                      </m:den>
                    </m:f>
                    <m:r>
                      <a:rPr lang="ru-RU"/>
                      <m:t>=</m:t>
                    </m:r>
                    <m:f>
                      <m:fPr>
                        <m:ctrlPr>
                          <a:rPr lang="ru-BY" i="1"/>
                        </m:ctrlPr>
                      </m:fPr>
                      <m:num>
                        <m:r>
                          <a:rPr lang="ru-RU"/>
                          <m:t>∂</m:t>
                        </m:r>
                        <m:r>
                          <m:rPr>
                            <m:sty m:val="p"/>
                          </m:rPr>
                          <a:rPr lang="ru-RU"/>
                          <m:t>v</m:t>
                        </m:r>
                      </m:num>
                      <m:den>
                        <m:r>
                          <a:rPr lang="ru-RU"/>
                          <m:t>∂</m:t>
                        </m:r>
                        <m:r>
                          <m:rPr>
                            <m:sty m:val="p"/>
                          </m:rPr>
                          <a:rPr lang="ru-RU"/>
                          <m:t>y</m:t>
                        </m:r>
                      </m:den>
                    </m:f>
                    <m:r>
                      <a:rPr lang="ru-RU"/>
                      <m:t>, </m:t>
                    </m:r>
                    <m:f>
                      <m:fPr>
                        <m:ctrlPr>
                          <a:rPr lang="ru-BY" i="1"/>
                        </m:ctrlPr>
                      </m:fPr>
                      <m:num>
                        <m:r>
                          <a:rPr lang="ru-RU"/>
                          <m:t>∂</m:t>
                        </m:r>
                        <m:r>
                          <m:rPr>
                            <m:sty m:val="p"/>
                          </m:rPr>
                          <a:rPr lang="ru-RU"/>
                          <m:t>u</m:t>
                        </m:r>
                      </m:num>
                      <m:den>
                        <m:r>
                          <a:rPr lang="ru-RU"/>
                          <m:t>∂</m:t>
                        </m:r>
                        <m:r>
                          <m:rPr>
                            <m:sty m:val="p"/>
                          </m:rPr>
                          <a:rPr lang="ru-RU"/>
                          <m:t>y</m:t>
                        </m:r>
                      </m:den>
                    </m:f>
                    <m:r>
                      <a:rPr lang="ru-RU"/>
                      <m:t>=</m:t>
                    </m:r>
                    <m:r>
                      <a:rPr lang="ru-RU" i="1"/>
                      <m:t>−</m:t>
                    </m:r>
                    <m:f>
                      <m:fPr>
                        <m:ctrlPr>
                          <a:rPr lang="ru-BY" i="1"/>
                        </m:ctrlPr>
                      </m:fPr>
                      <m:num>
                        <m:r>
                          <a:rPr lang="ru-RU"/>
                          <m:t>∂</m:t>
                        </m:r>
                        <m:r>
                          <m:rPr>
                            <m:sty m:val="p"/>
                          </m:rPr>
                          <a:rPr lang="ru-RU"/>
                          <m:t>v</m:t>
                        </m:r>
                      </m:num>
                      <m:den>
                        <m:r>
                          <a:rPr lang="ru-RU"/>
                          <m:t>∂</m:t>
                        </m:r>
                        <m:r>
                          <m:rPr>
                            <m:sty m:val="p"/>
                          </m:rPr>
                          <a:rPr lang="ru-RU"/>
                          <m:t>x</m:t>
                        </m:r>
                      </m:den>
                    </m:f>
                  </m:oMath>
                </a14:m>
                <a:r>
                  <a:rPr lang="ru-RU" dirty="0"/>
                  <a:t>.</a:t>
                </a:r>
              </a:p>
              <a:p>
                <a:r>
                  <a:rPr lang="ru-RU" dirty="0"/>
                  <a:t>Связь между действительной и мнимой частями дифференцируемой функции комплексного переменного </a:t>
                </a:r>
                <a:endParaRPr lang="ru-BY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ACADFE5-C075-C0E0-0667-FEC86EA917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1049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8D0595E8-49DC-830B-CD57-E2FAAF93273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br>
                  <a:rPr lang="ru-RU" dirty="0"/>
                </a:br>
                <a:br>
                  <a:rPr lang="ru-RU" dirty="0"/>
                </a:br>
                <a:br>
                  <a:rPr lang="ru-RU" dirty="0"/>
                </a:br>
                <a:br>
                  <a:rPr lang="ru-RU" dirty="0"/>
                </a:br>
                <a:br>
                  <a:rPr lang="ru-RU" dirty="0"/>
                </a:br>
                <a:br>
                  <a:rPr lang="ru-RU" dirty="0"/>
                </a:br>
                <a:r>
                  <a:rPr lang="ru-RU" dirty="0"/>
                  <a:t>Пример </a:t>
                </a:r>
                <a:r>
                  <a:rPr lang="ru-RU" dirty="0" err="1"/>
                  <a:t>неаналитичной</a:t>
                </a:r>
                <a:r>
                  <a:rPr lang="ru-RU" dirty="0"/>
                  <a:t> функции</a:t>
                </a:r>
                <a:br>
                  <a:rPr lang="ru-RU" dirty="0"/>
                </a:br>
                <a14:m>
                  <m:oMath xmlns:m="http://schemas.openxmlformats.org/officeDocument/2006/math">
                    <m:r>
                      <a:rPr lang="ru-RU" i="1"/>
                      <m:t>𝑓</m:t>
                    </m:r>
                    <m:r>
                      <a:rPr lang="ru-RU" i="1"/>
                      <m:t>(</m:t>
                    </m:r>
                    <m:r>
                      <a:rPr lang="ru-RU" i="1"/>
                      <m:t>𝑧</m:t>
                    </m:r>
                    <m:r>
                      <a:rPr lang="ru-RU" i="1"/>
                      <m:t>)=</m:t>
                    </m:r>
                    <m:bar>
                      <m:barPr>
                        <m:pos m:val="top"/>
                        <m:ctrlPr>
                          <a:rPr lang="ru-BY" i="1"/>
                        </m:ctrlPr>
                      </m:barPr>
                      <m:e>
                        <m:r>
                          <a:rPr lang="ru-RU" i="1"/>
                          <m:t>𝑧</m:t>
                        </m:r>
                      </m:e>
                    </m:bar>
                    <m:r>
                      <a:rPr lang="ru-RU" i="1"/>
                      <m:t>=</m:t>
                    </m:r>
                    <m:r>
                      <a:rPr lang="ru-RU" i="1"/>
                      <m:t>𝑥</m:t>
                    </m:r>
                    <m:r>
                      <a:rPr lang="ru-RU" i="1"/>
                      <m:t>−</m:t>
                    </m:r>
                    <m:r>
                      <a:rPr lang="ru-RU" i="1"/>
                      <m:t>𝑖𝑦</m:t>
                    </m:r>
                  </m:oMath>
                </a14:m>
                <a:r>
                  <a:rPr lang="ru-RU" dirty="0"/>
                  <a:t> </a:t>
                </a:r>
                <a:br>
                  <a:rPr lang="ru-RU" dirty="0"/>
                </a:br>
                <a:br>
                  <a:rPr lang="ru-RU" dirty="0"/>
                </a:br>
                <a:br>
                  <a:rPr lang="ru-RU" dirty="0"/>
                </a:br>
                <a:endParaRPr lang="ru-BY" dirty="0"/>
              </a:p>
            </p:txBody>
          </p:sp>
        </mc:Choice>
        <mc:Fallback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8D0595E8-49DC-830B-CD57-E2FAAF9327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b="-5207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Объект 3">
            <a:extLst>
              <a:ext uri="{FF2B5EF4-FFF2-40B4-BE49-F238E27FC236}">
                <a16:creationId xmlns:a16="http://schemas.microsoft.com/office/drawing/2014/main" id="{DCF421C6-0800-66D0-8A66-22021DB53E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41221" y="2130641"/>
            <a:ext cx="4694558" cy="38367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2B134A-B3A3-542C-2F96-05E4D1C97121}"/>
              </a:ext>
            </a:extLst>
          </p:cNvPr>
          <p:cNvSpPr txBox="1"/>
          <p:nvPr/>
        </p:nvSpPr>
        <p:spPr>
          <a:xfrm>
            <a:off x="804908" y="2787588"/>
            <a:ext cx="66316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/>
              <a:t>для</a:t>
            </a:r>
            <a:r>
              <a:rPr lang="en-US" altLang="zh-CN" sz="3600" dirty="0"/>
              <a:t> </a:t>
            </a:r>
            <a:r>
              <a:rPr lang="en-US" altLang="zh-CN" sz="3600" dirty="0" err="1"/>
              <a:t>аналитичности</a:t>
            </a:r>
            <a:r>
              <a:rPr lang="en-US" altLang="zh-CN" sz="3600" dirty="0"/>
              <a:t> </a:t>
            </a:r>
            <a:r>
              <a:rPr lang="en-US" altLang="zh-CN" sz="3600" dirty="0" err="1"/>
              <a:t>недостаточно</a:t>
            </a:r>
            <a:r>
              <a:rPr lang="en-US" altLang="zh-CN" sz="3600" dirty="0"/>
              <a:t> </a:t>
            </a:r>
            <a:r>
              <a:rPr lang="en-US" altLang="zh-CN" sz="3600" dirty="0" err="1"/>
              <a:t>непрерывности</a:t>
            </a:r>
            <a:r>
              <a:rPr lang="en-US" altLang="zh-CN" sz="3600" dirty="0"/>
              <a:t> и </a:t>
            </a:r>
            <a:r>
              <a:rPr lang="en-US" altLang="zh-CN" sz="3600" dirty="0" err="1"/>
              <a:t>дифференцируемости</a:t>
            </a:r>
            <a:r>
              <a:rPr lang="zh-CN" altLang="en-US" sz="3600" dirty="0"/>
              <a:t> </a:t>
            </a:r>
            <a:r>
              <a:rPr lang="ru-RU" altLang="zh-CN" sz="3600" dirty="0"/>
              <a:t>Н</a:t>
            </a:r>
            <a:r>
              <a:rPr lang="en-US" altLang="zh-CN" sz="3600" dirty="0" err="1"/>
              <a:t>еобходимо</a:t>
            </a:r>
            <a:r>
              <a:rPr lang="en-US" altLang="zh-CN" sz="3600" dirty="0"/>
              <a:t> </a:t>
            </a:r>
            <a:r>
              <a:rPr lang="en-US" altLang="zh-CN" sz="3600" dirty="0" err="1"/>
              <a:t>выполнение</a:t>
            </a:r>
            <a:r>
              <a:rPr lang="en-US" altLang="zh-CN" sz="3600" dirty="0"/>
              <a:t> </a:t>
            </a:r>
            <a:r>
              <a:rPr lang="en-US" altLang="zh-CN" sz="3600" dirty="0" err="1"/>
              <a:t>дополнительных</a:t>
            </a:r>
            <a:r>
              <a:rPr lang="en-US" altLang="zh-CN" sz="3600" dirty="0"/>
              <a:t> </a:t>
            </a:r>
            <a:r>
              <a:rPr lang="en-US" altLang="zh-CN" sz="3600" dirty="0" err="1"/>
              <a:t>условий</a:t>
            </a:r>
            <a:r>
              <a:rPr lang="en-US" altLang="zh-CN" sz="3600" dirty="0"/>
              <a:t> </a:t>
            </a:r>
            <a:r>
              <a:rPr lang="en-US" altLang="zh-CN" sz="3600" dirty="0" err="1"/>
              <a:t>Коши</a:t>
            </a:r>
            <a:r>
              <a:rPr lang="ru-RU" sz="3600" dirty="0"/>
              <a:t>–</a:t>
            </a:r>
            <a:r>
              <a:rPr lang="en-US" altLang="zh-CN" sz="3600" dirty="0" err="1"/>
              <a:t>Римана</a:t>
            </a:r>
            <a:endParaRPr lang="ru-BY" sz="3600" dirty="0"/>
          </a:p>
        </p:txBody>
      </p:sp>
    </p:spTree>
    <p:extLst>
      <p:ext uri="{BB962C8B-B14F-4D97-AF65-F5344CB8AC3E}">
        <p14:creationId xmlns:p14="http://schemas.microsoft.com/office/powerpoint/2010/main" val="705276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C5813A-DCBA-1785-44B7-152C2EE70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B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D8F73C9-F210-0C4A-8459-3F24B7A46D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77049"/>
                <a:ext cx="10515600" cy="5599914"/>
              </a:xfrm>
            </p:spPr>
            <p:txBody>
              <a:bodyPr/>
              <a:lstStyle/>
              <a:p>
                <a:r>
                  <a:rPr lang="ru-RU" sz="3600" dirty="0"/>
                  <a:t>Аналитические функции представляются степенными рядами (рядами Тейлора) в окрестности каждой точки области аналитичности: если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3600"/>
                      <m:t>f</m:t>
                    </m:r>
                    <m:r>
                      <a:rPr lang="ru-RU" sz="3600"/>
                      <m:t>(</m:t>
                    </m:r>
                    <m:r>
                      <m:rPr>
                        <m:sty m:val="p"/>
                      </m:rPr>
                      <a:rPr lang="ru-RU" sz="3600"/>
                      <m:t>z</m:t>
                    </m:r>
                    <m:r>
                      <a:rPr lang="ru-RU" sz="3600"/>
                      <m:t>)</m:t>
                    </m:r>
                  </m:oMath>
                </a14:m>
                <a:r>
                  <a:rPr lang="ru-RU" sz="3600" dirty="0"/>
                  <a:t> </a:t>
                </a:r>
                <a:r>
                  <a:rPr lang="ru-RU" sz="3600" dirty="0" err="1"/>
                  <a:t>аналитична</a:t>
                </a:r>
                <a:r>
                  <a:rPr lang="ru-RU" sz="3600" dirty="0"/>
                  <a:t> в круге </a:t>
                </a:r>
                <a14:m>
                  <m:oMath xmlns:m="http://schemas.openxmlformats.org/officeDocument/2006/math">
                    <m:r>
                      <a:rPr lang="ru-RU" sz="3600"/>
                      <m:t>|</m:t>
                    </m:r>
                    <m:r>
                      <m:rPr>
                        <m:sty m:val="p"/>
                      </m:rPr>
                      <a:rPr lang="ru-RU" sz="3600"/>
                      <m:t>z</m:t>
                    </m:r>
                    <m:r>
                      <a:rPr lang="ru-RU" sz="3600" i="1"/>
                      <m:t>−</m:t>
                    </m:r>
                    <m:sSub>
                      <m:sSubPr>
                        <m:ctrlPr>
                          <a:rPr lang="ru-BY" sz="3600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3600"/>
                          <m:t>z</m:t>
                        </m:r>
                      </m:e>
                      <m:sub>
                        <m:r>
                          <a:rPr lang="ru-RU" sz="3600"/>
                          <m:t>0</m:t>
                        </m:r>
                      </m:sub>
                    </m:sSub>
                    <m:r>
                      <a:rPr lang="ru-RU" sz="3600"/>
                      <m:t>|&lt;</m:t>
                    </m:r>
                    <m:r>
                      <m:rPr>
                        <m:sty m:val="p"/>
                      </m:rPr>
                      <a:rPr lang="ru-RU" sz="3600"/>
                      <m:t>R</m:t>
                    </m:r>
                  </m:oMath>
                </a14:m>
                <a:r>
                  <a:rPr lang="ru-RU" sz="3600" dirty="0"/>
                  <a:t>, </a:t>
                </a:r>
              </a:p>
              <a:p>
                <a:pPr marL="0" indent="0">
                  <a:buNone/>
                </a:pPr>
                <a:r>
                  <a:rPr lang="ru-RU" sz="3600" dirty="0"/>
                  <a:t> То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3600"/>
                      <m:t>f</m:t>
                    </m:r>
                    <m:r>
                      <a:rPr lang="ru-RU" sz="3600"/>
                      <m:t>(</m:t>
                    </m:r>
                    <m:r>
                      <m:rPr>
                        <m:sty m:val="p"/>
                      </m:rPr>
                      <a:rPr lang="ru-RU" sz="3600"/>
                      <m:t>z</m:t>
                    </m:r>
                    <m:r>
                      <a:rPr lang="ru-RU" sz="3600"/>
                      <m:t>)=</m:t>
                    </m:r>
                    <m:nary>
                      <m:naryPr>
                        <m:chr m:val="∑"/>
                        <m:limLoc m:val="undOvr"/>
                        <m:ctrlPr>
                          <a:rPr lang="ru-BY" sz="3600" i="1"/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ru-RU" sz="3600"/>
                          <m:t>n</m:t>
                        </m:r>
                        <m:r>
                          <a:rPr lang="ru-RU" sz="3600"/>
                          <m:t>=0</m:t>
                        </m:r>
                      </m:sub>
                      <m:sup>
                        <m:r>
                          <a:rPr lang="ru-RU" sz="3600"/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ru-BY" sz="3600" i="1"/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3600"/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u-RU" sz="3600"/>
                              <m:t>n</m:t>
                            </m:r>
                          </m:sub>
                        </m:sSub>
                      </m:e>
                    </m:nary>
                    <m:r>
                      <a:rPr lang="ru-RU" sz="3600"/>
                      <m:t>(</m:t>
                    </m:r>
                    <m:r>
                      <m:rPr>
                        <m:sty m:val="p"/>
                      </m:rPr>
                      <a:rPr lang="ru-RU" sz="3600"/>
                      <m:t>z</m:t>
                    </m:r>
                    <m:r>
                      <a:rPr lang="ru-RU" sz="3600" i="1"/>
                      <m:t>−</m:t>
                    </m:r>
                    <m:sSub>
                      <m:sSubPr>
                        <m:ctrlPr>
                          <a:rPr lang="ru-BY" sz="3600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3600"/>
                          <m:t>z</m:t>
                        </m:r>
                      </m:e>
                      <m:sub>
                        <m:r>
                          <a:rPr lang="ru-RU" sz="3600"/>
                          <m:t>0</m:t>
                        </m:r>
                      </m:sub>
                    </m:sSub>
                    <m:sSup>
                      <m:sSupPr>
                        <m:ctrlPr>
                          <a:rPr lang="ru-BY" sz="3600" i="1"/>
                        </m:ctrlPr>
                      </m:sSupPr>
                      <m:e>
                        <m:r>
                          <a:rPr lang="ru-RU" sz="3600"/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3600"/>
                          <m:t>n</m:t>
                        </m:r>
                      </m:sup>
                    </m:sSup>
                  </m:oMath>
                </a14:m>
                <a:r>
                  <a:rPr lang="ru-RU" sz="3600" dirty="0"/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BY" sz="3600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3600"/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3600"/>
                          <m:t>n</m:t>
                        </m:r>
                      </m:sub>
                    </m:sSub>
                    <m:r>
                      <a:rPr lang="ru-RU" sz="3600"/>
                      <m:t>=</m:t>
                    </m:r>
                    <m:f>
                      <m:fPr>
                        <m:ctrlPr>
                          <a:rPr lang="ru-BY" sz="3600" i="1"/>
                        </m:ctrlPr>
                      </m:fPr>
                      <m:num>
                        <m:sSup>
                          <m:sSupPr>
                            <m:ctrlPr>
                              <a:rPr lang="ru-BY" sz="3600" i="1"/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ru-RU" sz="3600"/>
                              <m:t>f</m:t>
                            </m:r>
                          </m:e>
                          <m:sup>
                            <m:r>
                              <a:rPr lang="ru-RU" sz="3600"/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ru-RU" sz="3600"/>
                              <m:t>n</m:t>
                            </m:r>
                            <m:r>
                              <a:rPr lang="ru-RU" sz="3600"/>
                              <m:t>)</m:t>
                            </m:r>
                          </m:sup>
                        </m:sSup>
                        <m:r>
                          <a:rPr lang="ru-RU" sz="3600"/>
                          <m:t>(</m:t>
                        </m:r>
                        <m:sSub>
                          <m:sSubPr>
                            <m:ctrlPr>
                              <a:rPr lang="ru-BY" sz="3600" i="1"/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3600"/>
                              <m:t>z</m:t>
                            </m:r>
                          </m:e>
                          <m:sub>
                            <m:r>
                              <a:rPr lang="ru-RU" sz="3600"/>
                              <m:t>0</m:t>
                            </m:r>
                          </m:sub>
                        </m:sSub>
                        <m:r>
                          <a:rPr lang="ru-RU" sz="3600"/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ru-RU" sz="3600"/>
                          <m:t>n</m:t>
                        </m:r>
                        <m:r>
                          <a:rPr lang="ru-RU" sz="3600"/>
                          <m:t>!</m:t>
                        </m:r>
                      </m:den>
                    </m:f>
                  </m:oMath>
                </a14:m>
                <a:r>
                  <a:rPr lang="ru-RU" sz="3600" dirty="0"/>
                  <a:t>.</a:t>
                </a:r>
                <a:endParaRPr lang="ru-BY" sz="3600" dirty="0"/>
              </a:p>
              <a:p>
                <a:endParaRPr lang="ru-BY" dirty="0"/>
              </a:p>
              <a:p>
                <a:endParaRPr lang="ru-BY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D8F73C9-F210-0C4A-8459-3F24B7A46D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77049"/>
                <a:ext cx="10515600" cy="5599914"/>
              </a:xfrm>
              <a:blipFill>
                <a:blip r:embed="rId2"/>
                <a:stretch>
                  <a:fillRect l="-1623" t="-2723" r="-133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5950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60E5D-6E39-718F-DD12-023E40A53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832951"/>
          </a:xfrm>
        </p:spPr>
        <p:txBody>
          <a:bodyPr>
            <a:normAutofit fontScale="90000"/>
          </a:bodyPr>
          <a:lstStyle/>
          <a:p>
            <a:r>
              <a:rPr lang="ru-RU" dirty="0"/>
              <a:t>Ряд Лорана -  представление функции в виде степенного ряда, в котором присутствуют слагаемые с отрицательными степенями</a:t>
            </a:r>
            <a:br>
              <a:rPr lang="ru-RU" u="sng" baseline="30000" dirty="0"/>
            </a:br>
            <a:endParaRPr lang="ru-BY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0BA4C970-95C1-0645-C8BE-8305E972FF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198076"/>
            <a:ext cx="10515600" cy="160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257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C0BEB4-1552-F189-50FC-8C8A6DF4F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Рассмотрим</a:t>
            </a:r>
            <a:r>
              <a:rPr lang="en-US" altLang="zh-CN" dirty="0"/>
              <a:t> </a:t>
            </a:r>
            <a:r>
              <a:rPr lang="en-US" altLang="zh-CN" dirty="0" err="1"/>
              <a:t>различные</a:t>
            </a:r>
            <a:r>
              <a:rPr lang="en-US" altLang="zh-CN" dirty="0"/>
              <a:t> </a:t>
            </a:r>
            <a:r>
              <a:rPr lang="en-US" altLang="zh-CN" dirty="0" err="1"/>
              <a:t>разложения</a:t>
            </a:r>
            <a:r>
              <a:rPr lang="en-US" altLang="zh-CN" dirty="0"/>
              <a:t> в </a:t>
            </a:r>
            <a:r>
              <a:rPr lang="en-US" altLang="zh-CN" dirty="0" err="1"/>
              <a:t>ряд</a:t>
            </a:r>
            <a:r>
              <a:rPr lang="en-US" altLang="zh-CN" dirty="0"/>
              <a:t> </a:t>
            </a:r>
            <a:r>
              <a:rPr lang="en-US" altLang="zh-CN" dirty="0" err="1"/>
              <a:t>Лорана</a:t>
            </a:r>
            <a:r>
              <a:rPr lang="en-US" altLang="zh-CN" dirty="0"/>
              <a:t> </a:t>
            </a:r>
            <a:r>
              <a:rPr lang="en-US" altLang="zh-CN" dirty="0" err="1"/>
              <a:t>функции</a:t>
            </a:r>
            <a:r>
              <a:rPr lang="en-US" altLang="zh-CN" dirty="0"/>
              <a:t> f(z) = (</a:t>
            </a:r>
            <a:r>
              <a:rPr lang="en-US" altLang="zh-CN" dirty="0" err="1"/>
              <a:t>2z</a:t>
            </a:r>
            <a:r>
              <a:rPr lang="en-US" altLang="zh-CN" dirty="0"/>
              <a:t> + 1)/(</a:t>
            </a:r>
            <a:r>
              <a:rPr lang="en-US" altLang="zh-CN" dirty="0" err="1"/>
              <a:t>z²</a:t>
            </a:r>
            <a:r>
              <a:rPr lang="en-US" altLang="zh-CN" dirty="0"/>
              <a:t> + z − 2), </a:t>
            </a:r>
            <a:r>
              <a:rPr lang="en-US" altLang="zh-CN" dirty="0" err="1"/>
              <a:t>приняв</a:t>
            </a:r>
            <a:r>
              <a:rPr lang="en-US" altLang="zh-CN" dirty="0"/>
              <a:t> z₀ = 0.</a:t>
            </a:r>
            <a:endParaRPr lang="ru-BY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2531FA84-49CC-9D1F-3C88-43EDE2E6A6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4133" y="1458663"/>
            <a:ext cx="5899476" cy="524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040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740EF-056A-1CCF-78A2-826F7A2E4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972026"/>
          </a:xfrm>
        </p:spPr>
        <p:txBody>
          <a:bodyPr>
            <a:normAutofit/>
          </a:bodyPr>
          <a:lstStyle/>
          <a:p>
            <a:r>
              <a:rPr lang="ru-RU" altLang="zh-CN" dirty="0"/>
              <a:t>К</a:t>
            </a:r>
            <a:r>
              <a:rPr lang="en-US" altLang="zh-CN" dirty="0" err="1"/>
              <a:t>руг</a:t>
            </a:r>
            <a:r>
              <a:rPr lang="en-US" altLang="zh-CN" dirty="0"/>
              <a:t> |z| &lt; 1</a:t>
            </a:r>
            <a:r>
              <a:rPr lang="ru-RU" altLang="zh-CN" dirty="0"/>
              <a:t>. Обе особые точки (-2 и +1) находятся вне области, поэтому раскладываем</a:t>
            </a:r>
            <a:r>
              <a:rPr lang="en-US" altLang="zh-CN" dirty="0"/>
              <a:t> </a:t>
            </a:r>
            <a:r>
              <a:rPr lang="ru-RU" altLang="zh-CN" dirty="0"/>
              <a:t>по неотрицательным степеням </a:t>
            </a:r>
            <a:r>
              <a:rPr lang="en-US" altLang="zh-CN" dirty="0"/>
              <a:t>z </a:t>
            </a:r>
            <a:r>
              <a:rPr lang="ru-RU" altLang="zh-CN" dirty="0"/>
              <a:t>– ряд Тейлора</a:t>
            </a:r>
            <a:endParaRPr lang="ru-BY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7E66B61-A300-AC90-CC6C-796FF7DA00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337151"/>
            <a:ext cx="10515600" cy="140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414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A1563B-6F04-F39F-DB4C-BB0292254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990259"/>
          </a:xfrm>
        </p:spPr>
        <p:txBody>
          <a:bodyPr>
            <a:normAutofit/>
          </a:bodyPr>
          <a:lstStyle/>
          <a:p>
            <a:r>
              <a:rPr lang="ru-RU" dirty="0"/>
              <a:t>Кольцо </a:t>
            </a:r>
            <a:r>
              <a:rPr lang="en-US" altLang="zh-CN" dirty="0"/>
              <a:t>1 &lt;= |z| &lt; 2</a:t>
            </a:r>
            <a:br>
              <a:rPr lang="ru-RU" altLang="zh-CN" dirty="0"/>
            </a:br>
            <a:r>
              <a:rPr lang="ru-RU" altLang="zh-CN" dirty="0"/>
              <a:t>Для </a:t>
            </a:r>
            <a:r>
              <a:rPr lang="en-US" altLang="zh-CN" dirty="0"/>
              <a:t>z</a:t>
            </a:r>
            <a:r>
              <a:rPr lang="ru-RU" altLang="zh-CN" dirty="0"/>
              <a:t> </a:t>
            </a:r>
            <a:r>
              <a:rPr lang="en-US" altLang="zh-CN" dirty="0"/>
              <a:t>=</a:t>
            </a:r>
            <a:r>
              <a:rPr lang="ru-RU" altLang="zh-CN" dirty="0"/>
              <a:t> </a:t>
            </a:r>
            <a:r>
              <a:rPr lang="en-US" altLang="zh-CN" dirty="0"/>
              <a:t>-2 </a:t>
            </a:r>
            <a:r>
              <a:rPr lang="ru-RU" altLang="zh-CN" dirty="0"/>
              <a:t>раскладываем по степеням </a:t>
            </a:r>
            <a:r>
              <a:rPr lang="en-US" altLang="zh-CN" dirty="0"/>
              <a:t>z</a:t>
            </a:r>
            <a:br>
              <a:rPr lang="en-US" altLang="zh-CN" dirty="0"/>
            </a:br>
            <a:r>
              <a:rPr lang="ru-RU" altLang="zh-CN" dirty="0"/>
              <a:t>Для </a:t>
            </a:r>
            <a:r>
              <a:rPr lang="en-US" altLang="zh-CN" dirty="0"/>
              <a:t>z</a:t>
            </a:r>
            <a:r>
              <a:rPr lang="ru-RU" altLang="zh-CN" dirty="0"/>
              <a:t> </a:t>
            </a:r>
            <a:r>
              <a:rPr lang="en-US" altLang="zh-CN" dirty="0"/>
              <a:t>=</a:t>
            </a:r>
            <a:r>
              <a:rPr lang="ru-RU" altLang="zh-CN" dirty="0"/>
              <a:t> </a:t>
            </a:r>
            <a:r>
              <a:rPr lang="en-US" altLang="zh-CN" dirty="0"/>
              <a:t>1 </a:t>
            </a:r>
            <a:r>
              <a:rPr lang="ru-RU" altLang="zh-CN" dirty="0"/>
              <a:t>раскладываем по степеням </a:t>
            </a:r>
            <a:r>
              <a:rPr lang="en-US" altLang="zh-CN" dirty="0"/>
              <a:t>1/z</a:t>
            </a:r>
            <a:br>
              <a:rPr lang="en-US" altLang="zh-CN" dirty="0"/>
            </a:br>
            <a:r>
              <a:rPr lang="ru-RU" altLang="zh-CN" dirty="0"/>
              <a:t>Получаем полный ряд Лорана</a:t>
            </a:r>
            <a:endParaRPr lang="ru-BY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2EE3012-A17C-3CCD-FDF4-1727D5071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502616"/>
            <a:ext cx="10515600" cy="127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664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4EABB7-7297-9E94-8255-9896A1FE8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884102"/>
          </a:xfrm>
        </p:spPr>
        <p:txBody>
          <a:bodyPr>
            <a:normAutofit/>
          </a:bodyPr>
          <a:lstStyle/>
          <a:p>
            <a:r>
              <a:rPr lang="ru-RU" dirty="0"/>
              <a:t>Во внешней области </a:t>
            </a:r>
            <a:r>
              <a:rPr lang="en-US" altLang="zh-CN" dirty="0"/>
              <a:t>2 &lt; |z| &lt; ∞ </a:t>
            </a:r>
            <a:r>
              <a:rPr lang="ru-RU" dirty="0"/>
              <a:t>получается ряд Лорана, состоящий только из отрицательных степеней </a:t>
            </a:r>
            <a:r>
              <a:rPr lang="en-US" dirty="0"/>
              <a:t>z</a:t>
            </a:r>
            <a:endParaRPr lang="ru-BY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076A412-9BA4-0911-C085-952501E815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9087" y="3329126"/>
            <a:ext cx="10233825" cy="213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18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85BEDC-1F4C-3D1A-714B-B4231E8B0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Экспоненциальная функция</a:t>
            </a:r>
            <a:endParaRPr lang="ru-B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C940742-7B5D-7051-7737-65BB2DBDB2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391400" cy="4351338"/>
              </a:xfrm>
            </p:spPr>
            <p:txBody>
              <a:bodyPr/>
              <a:lstStyle/>
              <a:p>
                <a:r>
                  <a:rPr lang="en-US" altLang="zh-CN" dirty="0" err="1"/>
                  <a:t>Экспоненциальная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функция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BY" i="1"/>
                        </m:ctrlPr>
                      </m:sSupPr>
                      <m:e>
                        <m:r>
                          <a:rPr lang="ru-RU" i="1"/>
                          <m:t>𝑒</m:t>
                        </m:r>
                      </m:e>
                      <m:sup>
                        <m:r>
                          <a:rPr lang="ru-RU" i="1"/>
                          <m:t>𝑧</m:t>
                        </m:r>
                      </m:sup>
                    </m:sSup>
                    <m:r>
                      <a:rPr lang="ru-RU" i="1"/>
                      <m:t>=</m:t>
                    </m:r>
                    <m:sSup>
                      <m:sSupPr>
                        <m:ctrlPr>
                          <a:rPr lang="ru-BY" i="1"/>
                        </m:ctrlPr>
                      </m:sSupPr>
                      <m:e>
                        <m:r>
                          <a:rPr lang="ru-RU" i="1"/>
                          <m:t>𝑒</m:t>
                        </m:r>
                      </m:e>
                      <m:sup>
                        <m:r>
                          <a:rPr lang="ru-RU" i="1"/>
                          <m:t>𝑥</m:t>
                        </m:r>
                        <m:r>
                          <a:rPr lang="ru-RU" i="1"/>
                          <m:t>+</m:t>
                        </m:r>
                        <m:r>
                          <a:rPr lang="ru-RU" i="1"/>
                          <m:t>𝑖𝑦</m:t>
                        </m:r>
                      </m:sup>
                    </m:sSup>
                    <m:r>
                      <a:rPr lang="ru-RU" i="1"/>
                      <m:t>=</m:t>
                    </m:r>
                    <m:sSup>
                      <m:sSupPr>
                        <m:ctrlPr>
                          <a:rPr lang="ru-BY" i="1"/>
                        </m:ctrlPr>
                      </m:sSupPr>
                      <m:e>
                        <m:r>
                          <a:rPr lang="ru-RU" i="1"/>
                          <m:t>𝑒</m:t>
                        </m:r>
                      </m:e>
                      <m:sup>
                        <m:r>
                          <a:rPr lang="ru-RU" i="1"/>
                          <m:t>𝑥</m:t>
                        </m:r>
                      </m:sup>
                    </m:sSup>
                    <m:r>
                      <a:rPr lang="ru-RU" i="1"/>
                      <m:t>⋅</m:t>
                    </m:r>
                    <m:sSup>
                      <m:sSupPr>
                        <m:ctrlPr>
                          <a:rPr lang="ru-BY" i="1"/>
                        </m:ctrlPr>
                      </m:sSupPr>
                      <m:e>
                        <m:r>
                          <a:rPr lang="ru-RU" i="1"/>
                          <m:t>𝑒</m:t>
                        </m:r>
                      </m:e>
                      <m:sup>
                        <m:r>
                          <a:rPr lang="ru-RU" i="1"/>
                          <m:t>𝑖𝑦</m:t>
                        </m:r>
                      </m:sup>
                    </m:sSup>
                    <m:r>
                      <a:rPr lang="ru-RU" i="1"/>
                      <m:t>=</m:t>
                    </m:r>
                    <m:sSup>
                      <m:sSupPr>
                        <m:ctrlPr>
                          <a:rPr lang="ru-BY" i="1"/>
                        </m:ctrlPr>
                      </m:sSupPr>
                      <m:e>
                        <m:r>
                          <a:rPr lang="ru-RU" i="1"/>
                          <m:t>𝑒</m:t>
                        </m:r>
                      </m:e>
                      <m:sup>
                        <m:r>
                          <a:rPr lang="ru-RU" i="1"/>
                          <m:t>𝑥</m:t>
                        </m:r>
                      </m:sup>
                    </m:sSup>
                    <m:r>
                      <a:rPr lang="ru-RU" i="1"/>
                      <m:t>(</m:t>
                    </m:r>
                    <m:func>
                      <m:funcPr>
                        <m:ctrlPr>
                          <a:rPr lang="ru-BY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/>
                          <m:t>cos</m:t>
                        </m:r>
                      </m:fName>
                      <m:e>
                        <m:r>
                          <a:rPr lang="ru-RU" i="1"/>
                          <m:t>𝑦</m:t>
                        </m:r>
                      </m:e>
                    </m:func>
                    <m:r>
                      <a:rPr lang="ru-RU" i="1"/>
                      <m:t>+</m:t>
                    </m:r>
                    <m:r>
                      <a:rPr lang="ru-RU" i="1"/>
                      <m:t>𝑖</m:t>
                    </m:r>
                    <m:func>
                      <m:funcPr>
                        <m:ctrlPr>
                          <a:rPr lang="ru-BY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/>
                          <m:t>sin</m:t>
                        </m:r>
                      </m:fName>
                      <m:e>
                        <m:r>
                          <a:rPr lang="ru-RU" i="1"/>
                          <m:t>𝑦</m:t>
                        </m:r>
                      </m:e>
                    </m:func>
                    <m:r>
                      <a:rPr lang="ru-RU" i="1"/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 err="1"/>
                  <a:t>обладает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уникальными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свойствами</a:t>
                </a:r>
                <a:r>
                  <a:rPr lang="en-US" altLang="zh-CN" dirty="0"/>
                  <a:t>. </a:t>
                </a:r>
                <a:r>
                  <a:rPr lang="en-US" altLang="zh-CN" dirty="0" err="1"/>
                  <a:t>Модуль</a:t>
                </a:r>
                <a:r>
                  <a:rPr lang="en-US" altLang="zh-CN" dirty="0"/>
                  <a:t> |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BY" i="1"/>
                        </m:ctrlPr>
                      </m:sSupPr>
                      <m:e>
                        <m:r>
                          <a:rPr lang="ru-RU" i="1"/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/>
                          <m:t>x</m:t>
                        </m:r>
                      </m:sup>
                    </m:sSup>
                  </m:oMath>
                </a14:m>
                <a:r>
                  <a:rPr lang="en-US" altLang="zh-CN" dirty="0"/>
                  <a:t>|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BY" i="1"/>
                        </m:ctrlPr>
                      </m:sSupPr>
                      <m:e>
                        <m:r>
                          <a:rPr lang="ru-RU" i="1"/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/>
                          <m:t>x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 err="1"/>
                  <a:t>зависит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только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от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действительной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части</a:t>
                </a:r>
                <a:r>
                  <a:rPr lang="en-US" altLang="zh-CN" dirty="0"/>
                  <a:t> и </a:t>
                </a:r>
                <a:r>
                  <a:rPr lang="en-US" altLang="zh-CN" dirty="0" err="1"/>
                  <a:t>экспоненциально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растёт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вдоль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оси</a:t>
                </a:r>
                <a:r>
                  <a:rPr lang="en-US" altLang="zh-CN" dirty="0"/>
                  <a:t> x. </a:t>
                </a:r>
                <a:r>
                  <a:rPr lang="en-US" altLang="zh-CN" dirty="0" err="1"/>
                  <a:t>Аргумент</a:t>
                </a:r>
                <a:r>
                  <a:rPr lang="en-US" altLang="zh-CN" dirty="0"/>
                  <a:t> Arg(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BY" i="1"/>
                        </m:ctrlPr>
                      </m:sSupPr>
                      <m:e>
                        <m:r>
                          <a:rPr lang="ru-RU" i="1"/>
                          <m:t>𝑒</m:t>
                        </m:r>
                      </m:e>
                      <m:sup>
                        <m:r>
                          <a:rPr lang="ru-RU" i="1"/>
                          <m:t>𝑧</m:t>
                        </m:r>
                      </m:sup>
                    </m:sSup>
                  </m:oMath>
                </a14:m>
                <a:r>
                  <a:rPr lang="en-US" altLang="zh-CN" dirty="0"/>
                  <a:t>) = y </a:t>
                </a:r>
                <a:r>
                  <a:rPr lang="en-US" altLang="zh-CN" dirty="0" err="1"/>
                  <a:t>зависит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только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от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мнимой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части</a:t>
                </a:r>
                <a:r>
                  <a:rPr lang="en-US" altLang="zh-CN" dirty="0"/>
                  <a:t> и </a:t>
                </a:r>
                <a:r>
                  <a:rPr lang="en-US" altLang="zh-CN" dirty="0" err="1"/>
                  <a:t>периодичен</a:t>
                </a:r>
                <a:r>
                  <a:rPr lang="en-US" altLang="zh-CN" dirty="0"/>
                  <a:t> с </a:t>
                </a:r>
                <a:r>
                  <a:rPr lang="en-US" altLang="zh-CN" dirty="0" err="1"/>
                  <a:t>периодом</a:t>
                </a:r>
                <a:r>
                  <a:rPr lang="en-US" altLang="zh-CN" dirty="0"/>
                  <a:t> 2π.</a:t>
                </a:r>
                <a:endParaRPr lang="ru-BY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C940742-7B5D-7051-7737-65BB2DBDB2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391400" cy="4351338"/>
              </a:xfrm>
              <a:blipFill>
                <a:blip r:embed="rId2"/>
                <a:stretch>
                  <a:fillRect t="-210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F2E0B6-B8B3-A330-D248-9B8EDE2A0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884" y="1771650"/>
            <a:ext cx="3653116" cy="368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22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B1A3DD-243C-4A4A-A780-6EEBA7FC9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7200" dirty="0"/>
              <a:t>Особые точки</a:t>
            </a:r>
            <a:endParaRPr lang="ru-BY" sz="7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7B72319-1325-7E71-7F43-2E3BFE9210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sz="4400" dirty="0"/>
                  <a:t>Точка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BY" sz="4400" i="1"/>
                        </m:ctrlPr>
                      </m:sSubPr>
                      <m:e>
                        <m:r>
                          <m:rPr>
                            <m:nor/>
                          </m:rPr>
                          <a:rPr lang="ru-RU" sz="4400"/>
                          <m:t>z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4400"/>
                          <m:t>0</m:t>
                        </m:r>
                      </m:sub>
                    </m:sSub>
                  </m:oMath>
                </a14:m>
                <a:r>
                  <a:rPr lang="ru-RU" sz="4400" dirty="0"/>
                  <a:t> называется особой точкой функции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4400"/>
                      <m:t>f</m:t>
                    </m:r>
                    <m:r>
                      <a:rPr lang="ru-RU" sz="4400"/>
                      <m:t>(</m:t>
                    </m:r>
                    <m:r>
                      <m:rPr>
                        <m:sty m:val="p"/>
                      </m:rPr>
                      <a:rPr lang="ru-RU" sz="4400"/>
                      <m:t>z</m:t>
                    </m:r>
                    <m:r>
                      <a:rPr lang="ru-RU" sz="4400"/>
                      <m:t>)</m:t>
                    </m:r>
                  </m:oMath>
                </a14:m>
                <a:r>
                  <a:rPr lang="ru-RU" sz="4400" dirty="0"/>
                  <a:t>, если функция не является аналитической в этой точке, но </a:t>
                </a:r>
                <a:r>
                  <a:rPr lang="ru-RU" sz="4400" dirty="0" err="1"/>
                  <a:t>аналитична</a:t>
                </a:r>
                <a:r>
                  <a:rPr lang="ru-RU" sz="4400" dirty="0"/>
                  <a:t> в некоторой её проколотой окрестности </a:t>
                </a:r>
                <a14:m>
                  <m:oMath xmlns:m="http://schemas.openxmlformats.org/officeDocument/2006/math">
                    <m:r>
                      <a:rPr lang="ru-RU" sz="4400"/>
                      <m:t>0&lt;|</m:t>
                    </m:r>
                    <m:r>
                      <m:rPr>
                        <m:sty m:val="p"/>
                      </m:rPr>
                      <a:rPr lang="ru-RU" sz="4400"/>
                      <m:t>z</m:t>
                    </m:r>
                    <m:r>
                      <a:rPr lang="ru-RU" sz="4400" i="1"/>
                      <m:t>−</m:t>
                    </m:r>
                    <m:sSub>
                      <m:sSubPr>
                        <m:ctrlPr>
                          <a:rPr lang="ru-BY" sz="4400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4400"/>
                          <m:t>z</m:t>
                        </m:r>
                      </m:e>
                      <m:sub>
                        <m:r>
                          <a:rPr lang="ru-RU" sz="4400"/>
                          <m:t>0</m:t>
                        </m:r>
                      </m:sub>
                    </m:sSub>
                    <m:r>
                      <a:rPr lang="ru-RU" sz="4400"/>
                      <m:t>|&lt;</m:t>
                    </m:r>
                    <m:r>
                      <m:rPr>
                        <m:sty m:val="p"/>
                      </m:rPr>
                      <a:rPr lang="ru-RU" sz="4400"/>
                      <m:t>r</m:t>
                    </m:r>
                  </m:oMath>
                </a14:m>
                <a:r>
                  <a:rPr lang="ru-RU" sz="4400" dirty="0"/>
                  <a:t>.</a:t>
                </a:r>
                <a:endParaRPr lang="ru-BY" sz="4400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7B72319-1325-7E71-7F43-2E3BFE9210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145" t="-420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470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207134-28BC-7F16-4E08-FE7ACA2F7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Логарифмическая функция многозначна</a:t>
            </a:r>
            <a:endParaRPr lang="ru-B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605F2E1-BAFD-8ACB-5337-67409BB34E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46181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mtClean="0"/>
                      <m:t>Ln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/>
                          <m:t>z</m:t>
                        </m:r>
                      </m:e>
                    </m:d>
                    <m:r>
                      <a:rPr lang="en-US" altLang="zh-CN"/>
                      <m:t>= </m:t>
                    </m:r>
                    <m:r>
                      <m:rPr>
                        <m:sty m:val="p"/>
                      </m:rPr>
                      <a:rPr lang="en-US" altLang="zh-CN"/>
                      <m:t>ln</m:t>
                    </m:r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/>
                          <m:t>z</m:t>
                        </m:r>
                      </m:e>
                    </m:d>
                    <m:r>
                      <a:rPr lang="en-US" altLang="zh-CN"/>
                      <m:t>+ </m:t>
                    </m:r>
                    <m:r>
                      <m:rPr>
                        <m:sty m:val="p"/>
                      </m:rPr>
                      <a:rPr lang="en-US" altLang="zh-CN"/>
                      <m:t>i</m:t>
                    </m:r>
                    <m:r>
                      <a:rPr lang="en-US" altLang="zh-CN"/>
                      <m:t>·</m:t>
                    </m:r>
                    <m:r>
                      <m:rPr>
                        <m:sty m:val="p"/>
                      </m:rPr>
                      <a:rPr lang="en-US" altLang="zh-CN"/>
                      <m:t>Arg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/>
                          <m:t>z</m:t>
                        </m:r>
                      </m:e>
                    </m:d>
                    <m:r>
                      <a:rPr lang="en-US" altLang="zh-CN"/>
                      <m:t>= </m:t>
                    </m:r>
                    <m:r>
                      <m:rPr>
                        <m:sty m:val="p"/>
                      </m:rPr>
                      <a:rPr lang="en-US" altLang="zh-CN"/>
                      <m:t>ln</m:t>
                    </m:r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/>
                          <m:t>z</m:t>
                        </m:r>
                      </m:e>
                    </m:d>
                    <m:r>
                      <a:rPr lang="en-US" altLang="zh-CN"/>
                      <m:t>+ </m:t>
                    </m:r>
                    <m:r>
                      <m:rPr>
                        <m:sty m:val="p"/>
                      </m:rPr>
                      <a:rPr lang="en-US" altLang="zh-CN"/>
                      <m:t>i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/>
                          <m:t>arg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/>
                              <m:t>z</m:t>
                            </m:r>
                          </m:e>
                        </m:d>
                        <m:r>
                          <a:rPr lang="en-US" altLang="zh-CN"/>
                          <m:t>+ 2</m:t>
                        </m:r>
                        <m:r>
                          <m:rPr>
                            <m:sty m:val="p"/>
                          </m:rPr>
                          <a:rPr lang="en-US" altLang="zh-CN"/>
                          <m:t>πk</m:t>
                        </m:r>
                      </m:e>
                    </m:d>
                  </m:oMath>
                </a14:m>
                <a:endParaRPr lang="ru-RU" altLang="zh-CN" dirty="0"/>
              </a:p>
              <a:p>
                <a:r>
                  <a:rPr lang="ru-RU" dirty="0"/>
                  <a:t>Действительная часть — это обычный логарифм модуля. С ним всё понятно. А вот мнимая часть — это аргумент (угол). </a:t>
                </a:r>
              </a:p>
              <a:p>
                <a:r>
                  <a:rPr lang="en-US" altLang="zh-CN" dirty="0" err="1"/>
                  <a:t>Точка</a:t>
                </a:r>
                <a:r>
                  <a:rPr lang="en-US" altLang="zh-CN" dirty="0"/>
                  <a:t> z = 0 </a:t>
                </a:r>
                <a:r>
                  <a:rPr lang="en-US" altLang="zh-CN" dirty="0" err="1"/>
                  <a:t>является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точкой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ветвления</a:t>
                </a:r>
                <a:r>
                  <a:rPr lang="en-US" altLang="zh-CN" dirty="0"/>
                  <a:t>, в </a:t>
                </a:r>
                <a:r>
                  <a:rPr lang="en-US" altLang="zh-CN" dirty="0" err="1"/>
                  <a:t>которой</a:t>
                </a:r>
                <a:r>
                  <a:rPr lang="ru-RU" altLang="zh-CN" dirty="0"/>
                  <a:t> собираются все ветви</a:t>
                </a:r>
                <a:endParaRPr lang="ru-BY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605F2E1-BAFD-8ACB-5337-67409BB34E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46181" cy="4351338"/>
              </a:xfrm>
              <a:blipFill>
                <a:blip r:embed="rId2"/>
                <a:stretch>
                  <a:fillRect l="-1758" r="-273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7AC0DD2-CAE8-F471-3A6A-273EADD33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381" y="1690688"/>
            <a:ext cx="4474345" cy="420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5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D91885EF-F8D2-1C9A-FAA4-62833E1C19C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/>
                  <a:t>Точки ветвления корня </a:t>
                </a:r>
                <a14:m>
                  <m:oMath xmlns:m="http://schemas.openxmlformats.org/officeDocument/2006/math">
                    <m:r>
                      <a:rPr lang="ru-RU" i="1"/>
                      <m:t>𝑤</m:t>
                    </m:r>
                    <m:r>
                      <a:rPr lang="ru-RU" i="1"/>
                      <m:t>=</m:t>
                    </m:r>
                    <m:rad>
                      <m:radPr>
                        <m:degHide m:val="on"/>
                        <m:ctrlPr>
                          <a:rPr lang="ru-BY" i="1"/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ru-BY" i="1"/>
                            </m:ctrlPr>
                          </m:sSupPr>
                          <m:e>
                            <m:r>
                              <a:rPr lang="ru-RU" i="1"/>
                              <m:t>𝑧</m:t>
                            </m:r>
                          </m:e>
                          <m:sup>
                            <m:r>
                              <a:rPr lang="ru-RU" i="1"/>
                              <m:t>2</m:t>
                            </m:r>
                          </m:sup>
                        </m:sSup>
                        <m:r>
                          <a:rPr lang="ru-RU" i="1"/>
                          <m:t>−1</m:t>
                        </m:r>
                      </m:e>
                    </m:rad>
                  </m:oMath>
                </a14:m>
                <a:r>
                  <a:rPr lang="ru-RU" dirty="0"/>
                  <a:t>.</a:t>
                </a:r>
                <a:endParaRPr lang="ru-BY" dirty="0"/>
              </a:p>
            </p:txBody>
          </p:sp>
        </mc:Choice>
        <mc:Fallback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D91885EF-F8D2-1C9A-FAA4-62833E1C19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b="-184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Объект 2">
            <a:extLst>
              <a:ext uri="{FF2B5EF4-FFF2-40B4-BE49-F238E27FC236}">
                <a16:creationId xmlns:a16="http://schemas.microsoft.com/office/drawing/2014/main" id="{40A28C97-4619-0E82-CAF4-3035A81D3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79850" cy="4351338"/>
          </a:xfrm>
        </p:spPr>
        <p:txBody>
          <a:bodyPr/>
          <a:lstStyle/>
          <a:p>
            <a:r>
              <a:rPr lang="en-US" altLang="zh-CN" dirty="0"/>
              <a:t>В </a:t>
            </a:r>
            <a:r>
              <a:rPr lang="en-US" altLang="zh-CN" dirty="0" err="1"/>
              <a:t>точках</a:t>
            </a:r>
            <a:r>
              <a:rPr lang="en-US" altLang="zh-CN" dirty="0"/>
              <a:t> </a:t>
            </a:r>
            <a:r>
              <a:rPr lang="ru-RU" altLang="zh-CN" dirty="0"/>
              <a:t>+1 и -1 </a:t>
            </a:r>
            <a:r>
              <a:rPr lang="en-US" altLang="zh-CN" dirty="0" err="1"/>
              <a:t>обе</a:t>
            </a:r>
            <a:r>
              <a:rPr lang="en-US" altLang="zh-CN" dirty="0"/>
              <a:t> </a:t>
            </a:r>
            <a:r>
              <a:rPr lang="en-US" altLang="zh-CN" dirty="0" err="1"/>
              <a:t>ветви</a:t>
            </a:r>
            <a:r>
              <a:rPr lang="en-US" altLang="zh-CN" dirty="0"/>
              <a:t> </a:t>
            </a:r>
            <a:r>
              <a:rPr lang="en-US" altLang="zh-CN" dirty="0" err="1"/>
              <a:t>функции</a:t>
            </a:r>
            <a:r>
              <a:rPr lang="en-US" altLang="zh-CN" dirty="0"/>
              <a:t> </a:t>
            </a:r>
            <a:r>
              <a:rPr lang="en-US" altLang="zh-CN" dirty="0" err="1"/>
              <a:t>сливаются</a:t>
            </a:r>
            <a:endParaRPr lang="ru-RU" altLang="zh-CN" dirty="0"/>
          </a:p>
          <a:p>
            <a:r>
              <a:rPr lang="en-US" altLang="zh-CN" dirty="0" err="1"/>
              <a:t>При</a:t>
            </a:r>
            <a:r>
              <a:rPr lang="en-US" altLang="zh-CN" dirty="0"/>
              <a:t> </a:t>
            </a:r>
            <a:r>
              <a:rPr lang="en-US" altLang="zh-CN" dirty="0" err="1"/>
              <a:t>обходе</a:t>
            </a:r>
            <a:r>
              <a:rPr lang="en-US" altLang="zh-CN" dirty="0"/>
              <a:t> </a:t>
            </a:r>
            <a:r>
              <a:rPr lang="en-US" altLang="zh-CN" dirty="0" err="1"/>
              <a:t>замкнутого</a:t>
            </a:r>
            <a:r>
              <a:rPr lang="en-US" altLang="zh-CN" dirty="0"/>
              <a:t> </a:t>
            </a:r>
            <a:r>
              <a:rPr lang="en-US" altLang="zh-CN" dirty="0" err="1"/>
              <a:t>контура</a:t>
            </a:r>
            <a:r>
              <a:rPr lang="en-US" altLang="zh-CN" dirty="0"/>
              <a:t> </a:t>
            </a:r>
            <a:r>
              <a:rPr lang="en-US" altLang="zh-CN" dirty="0" err="1"/>
              <a:t>вокруг</a:t>
            </a:r>
            <a:r>
              <a:rPr lang="en-US" altLang="zh-CN" dirty="0"/>
              <a:t> </a:t>
            </a:r>
            <a:r>
              <a:rPr lang="en-US" altLang="zh-CN" dirty="0" err="1"/>
              <a:t>одной</a:t>
            </a:r>
            <a:r>
              <a:rPr lang="en-US" altLang="zh-CN" dirty="0"/>
              <a:t> </a:t>
            </a:r>
            <a:r>
              <a:rPr lang="en-US" altLang="zh-CN" dirty="0" err="1"/>
              <a:t>из</a:t>
            </a:r>
            <a:r>
              <a:rPr lang="en-US" altLang="zh-CN" dirty="0"/>
              <a:t> </a:t>
            </a:r>
            <a:r>
              <a:rPr lang="en-US" altLang="zh-CN" dirty="0" err="1"/>
              <a:t>точек</a:t>
            </a:r>
            <a:r>
              <a:rPr lang="en-US" altLang="zh-CN" dirty="0"/>
              <a:t> </a:t>
            </a:r>
            <a:r>
              <a:rPr lang="en-US" altLang="zh-CN" dirty="0" err="1"/>
              <a:t>ветвления</a:t>
            </a:r>
            <a:r>
              <a:rPr lang="en-US" altLang="zh-CN" dirty="0"/>
              <a:t> </a:t>
            </a:r>
            <a:r>
              <a:rPr lang="en-US" altLang="zh-CN" dirty="0" err="1"/>
              <a:t>происходит</a:t>
            </a:r>
            <a:r>
              <a:rPr lang="en-US" altLang="zh-CN" dirty="0"/>
              <a:t> </a:t>
            </a:r>
            <a:r>
              <a:rPr lang="en-US" altLang="zh-CN" dirty="0" err="1"/>
              <a:t>переход</a:t>
            </a:r>
            <a:r>
              <a:rPr lang="en-US" altLang="zh-CN" dirty="0"/>
              <a:t> с </a:t>
            </a:r>
            <a:r>
              <a:rPr lang="en-US" altLang="zh-CN" dirty="0" err="1"/>
              <a:t>одной</a:t>
            </a:r>
            <a:r>
              <a:rPr lang="en-US" altLang="zh-CN" dirty="0"/>
              <a:t> </a:t>
            </a:r>
            <a:r>
              <a:rPr lang="en-US" altLang="zh-CN" dirty="0" err="1"/>
              <a:t>ветви</a:t>
            </a:r>
            <a:r>
              <a:rPr lang="en-US" altLang="zh-CN" dirty="0"/>
              <a:t> </a:t>
            </a:r>
            <a:r>
              <a:rPr lang="en-US" altLang="zh-CN" dirty="0" err="1"/>
              <a:t>на</a:t>
            </a:r>
            <a:r>
              <a:rPr lang="en-US" altLang="zh-CN" dirty="0"/>
              <a:t> </a:t>
            </a:r>
            <a:r>
              <a:rPr lang="en-US" altLang="zh-CN" dirty="0" err="1"/>
              <a:t>другую</a:t>
            </a:r>
            <a:endParaRPr lang="ru-RU" altLang="zh-CN" dirty="0"/>
          </a:p>
          <a:p>
            <a:r>
              <a:rPr lang="ru-RU" altLang="zh-CN" dirty="0"/>
              <a:t>Р</a:t>
            </a:r>
            <a:r>
              <a:rPr lang="en-US" altLang="zh-CN" dirty="0" err="1"/>
              <a:t>азрез</a:t>
            </a:r>
            <a:r>
              <a:rPr lang="en-US" altLang="zh-CN" dirty="0"/>
              <a:t> </a:t>
            </a:r>
            <a:r>
              <a:rPr lang="en-US" altLang="zh-CN" dirty="0" err="1"/>
              <a:t>проводится</a:t>
            </a:r>
            <a:r>
              <a:rPr lang="en-US" altLang="zh-CN" dirty="0"/>
              <a:t> </a:t>
            </a:r>
            <a:r>
              <a:rPr lang="en-US" altLang="zh-CN" dirty="0" err="1"/>
              <a:t>по</a:t>
            </a:r>
            <a:r>
              <a:rPr lang="en-US" altLang="zh-CN" dirty="0"/>
              <a:t> </a:t>
            </a:r>
            <a:r>
              <a:rPr lang="en-US" altLang="zh-CN" dirty="0" err="1"/>
              <a:t>отрезку</a:t>
            </a:r>
            <a:r>
              <a:rPr lang="en-US" altLang="zh-CN" dirty="0"/>
              <a:t> [−1, 1] </a:t>
            </a:r>
            <a:r>
              <a:rPr lang="en-US" altLang="zh-CN" dirty="0" err="1"/>
              <a:t>действительной</a:t>
            </a:r>
            <a:r>
              <a:rPr lang="en-US" altLang="zh-CN" dirty="0"/>
              <a:t> </a:t>
            </a:r>
            <a:r>
              <a:rPr lang="en-US" altLang="zh-CN" dirty="0" err="1"/>
              <a:t>оси</a:t>
            </a:r>
            <a:r>
              <a:rPr lang="en-US" altLang="zh-CN" dirty="0"/>
              <a:t>, </a:t>
            </a:r>
            <a:r>
              <a:rPr lang="en-US" altLang="zh-CN" dirty="0" err="1"/>
              <a:t>превращая</a:t>
            </a:r>
            <a:r>
              <a:rPr lang="en-US" altLang="zh-CN" dirty="0"/>
              <a:t> </a:t>
            </a:r>
            <a:r>
              <a:rPr lang="en-US" altLang="zh-CN" dirty="0" err="1"/>
              <a:t>поверхность</a:t>
            </a:r>
            <a:r>
              <a:rPr lang="en-US" altLang="zh-CN" dirty="0"/>
              <a:t> в </a:t>
            </a:r>
            <a:r>
              <a:rPr lang="en-US" altLang="zh-CN" dirty="0" err="1"/>
              <a:t>односвязную</a:t>
            </a:r>
            <a:r>
              <a:rPr lang="en-US" altLang="zh-CN" dirty="0"/>
              <a:t> </a:t>
            </a:r>
            <a:r>
              <a:rPr lang="en-US" altLang="zh-CN" dirty="0" err="1"/>
              <a:t>область</a:t>
            </a:r>
            <a:endParaRPr lang="ru-BY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7D0D328-57B8-921E-AB4C-FC159B92E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050" y="1825625"/>
            <a:ext cx="4942477" cy="410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115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8BD61A-3288-4B7D-283B-2DCF899E8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Степенная квадратичная функция – обычная парабола на действительной оси</a:t>
            </a:r>
            <a:endParaRPr lang="ru-BY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BC76B1-6353-7EAF-DBA3-D4C1B5637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 в комплексных числах – параболоид</a:t>
            </a:r>
          </a:p>
          <a:p>
            <a:r>
              <a:rPr lang="ru-RU" dirty="0"/>
              <a:t>Функция растет КВАДРАТИЧНО</a:t>
            </a:r>
            <a:br>
              <a:rPr lang="ru-RU" dirty="0"/>
            </a:br>
            <a:r>
              <a:rPr lang="ru-RU" dirty="0"/>
              <a:t>И отображение f(z) = </a:t>
            </a:r>
            <a:r>
              <a:rPr lang="ru-RU" dirty="0" err="1"/>
              <a:t>z²</a:t>
            </a:r>
            <a:r>
              <a:rPr lang="ru-RU" dirty="0"/>
              <a:t> сохраняет углы между кривыми - конформность</a:t>
            </a:r>
            <a:endParaRPr lang="ru-BY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B2769B-B59A-B5D5-A01E-F89E36F51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670" y="3223133"/>
            <a:ext cx="3929380" cy="358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55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46D6A3-F7A8-8D57-304F-8C8AD23CB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B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E7D11A4-7D8B-7E34-2576-5204342F1F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69900"/>
                <a:ext cx="10515600" cy="5707063"/>
              </a:xfrm>
            </p:spPr>
            <p:txBody>
              <a:bodyPr>
                <a:noAutofit/>
              </a:bodyPr>
              <a:lstStyle/>
              <a:p>
                <a:r>
                  <a:rPr lang="ru-RU" sz="4000" dirty="0"/>
                  <a:t>Конформное отображение – это такое отображение </a:t>
                </a:r>
                <a14:m>
                  <m:oMath xmlns:m="http://schemas.openxmlformats.org/officeDocument/2006/math">
                    <m:r>
                      <a:rPr lang="en-US" sz="4000" i="1"/>
                      <m:t>𝑤</m:t>
                    </m:r>
                    <m:r>
                      <a:rPr lang="ru-RU" sz="4000" i="1"/>
                      <m:t>=</m:t>
                    </m:r>
                    <m:r>
                      <a:rPr lang="en-US" sz="4000" i="1"/>
                      <m:t>𝑓</m:t>
                    </m:r>
                    <m:r>
                      <a:rPr lang="ru-RU" sz="4000" i="1"/>
                      <m:t>(</m:t>
                    </m:r>
                    <m:r>
                      <a:rPr lang="en-US" sz="4000" i="1"/>
                      <m:t>𝑧</m:t>
                    </m:r>
                    <m:r>
                      <a:rPr lang="ru-RU" sz="4000" i="1"/>
                      <m:t>)</m:t>
                    </m:r>
                  </m:oMath>
                </a14:m>
                <a:r>
                  <a:rPr lang="ru-RU" sz="4000" dirty="0"/>
                  <a:t>, которое в каждой точке области определения сохраняет величины углов между кривыми и ориентацию этих углов. Центральное свойство конформности заключается в том, что отображение локально ведет себя как композиция поворота, растяжения и сдвига, не искажая форму бесконечно малых фигур.</a:t>
                </a:r>
                <a:endParaRPr lang="ru-BY" sz="4000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E7D11A4-7D8B-7E34-2576-5204342F1F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69900"/>
                <a:ext cx="10515600" cy="5707063"/>
              </a:xfrm>
              <a:blipFill>
                <a:blip r:embed="rId2"/>
                <a:stretch>
                  <a:fillRect l="-1855" t="-299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3303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DCA586-603E-E616-39F5-5CD81D80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B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623FAA8-9BCC-E7EC-3843-E290E1F646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0500" y="234950"/>
                <a:ext cx="11163300" cy="5942013"/>
              </a:xfrm>
            </p:spPr>
            <p:txBody>
              <a:bodyPr/>
              <a:lstStyle/>
              <a:p>
                <a:r>
                  <a:rPr lang="ru-RU" sz="4000" dirty="0"/>
                  <a:t>Основное условие конформности: если функция </a:t>
                </a:r>
                <a14:m>
                  <m:oMath xmlns:m="http://schemas.openxmlformats.org/officeDocument/2006/math">
                    <m:r>
                      <a:rPr lang="ru-RU" sz="4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4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40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ru-RU" sz="4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4000" dirty="0"/>
                  <a:t> </a:t>
                </a:r>
                <a:r>
                  <a:rPr lang="ru-RU" sz="4000" dirty="0" err="1"/>
                  <a:t>аналитична</a:t>
                </a:r>
                <a:r>
                  <a:rPr lang="ru-RU" sz="4000" dirty="0"/>
                  <a:t> в 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BY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4000" dirty="0"/>
                  <a:t> и </a:t>
                </a:r>
                <a14:m>
                  <m:oMath xmlns:m="http://schemas.openxmlformats.org/officeDocument/2006/math">
                    <m:r>
                      <a:rPr lang="ru-RU" sz="4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4000" i="1">
                        <a:latin typeface="Cambria Math" panose="02040503050406030204" pitchFamily="18" charset="0"/>
                      </a:rPr>
                      <m:t>′(</m:t>
                    </m:r>
                    <m:sSub>
                      <m:sSubPr>
                        <m:ctrlPr>
                          <a:rPr lang="ru-BY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4000" i="1">
                        <a:latin typeface="Cambria Math" panose="02040503050406030204" pitchFamily="18" charset="0"/>
                      </a:rPr>
                      <m:t>)≠0</m:t>
                    </m:r>
                  </m:oMath>
                </a14:m>
                <a:r>
                  <a:rPr lang="ru-RU" sz="4000" dirty="0"/>
                  <a:t>, то отображение</a:t>
                </a:r>
                <a14:m>
                  <m:oMath xmlns:m="http://schemas.openxmlformats.org/officeDocument/2006/math">
                    <m:r>
                      <a:rPr lang="en-US" sz="4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4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ru-RU" sz="4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4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4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40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ru-RU" sz="4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4000" dirty="0"/>
                  <a:t> конформно в окрестности точки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BY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4000" dirty="0"/>
                  <a:t>. Производная </a:t>
                </a:r>
                <a14:m>
                  <m:oMath xmlns:m="http://schemas.openxmlformats.org/officeDocument/2006/math">
                    <m:r>
                      <a:rPr lang="ru-RU" sz="4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4000" i="1">
                        <a:latin typeface="Cambria Math" panose="02040503050406030204" pitchFamily="18" charset="0"/>
                      </a:rPr>
                      <m:t>′(</m:t>
                    </m:r>
                    <m:sSub>
                      <m:sSubPr>
                        <m:ctrlPr>
                          <a:rPr lang="ru-BY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4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4000" dirty="0"/>
                  <a:t> определяет коэффициент растяжения </a:t>
                </a:r>
                <a14:m>
                  <m:oMath xmlns:m="http://schemas.openxmlformats.org/officeDocument/2006/math">
                    <m:r>
                      <a:rPr lang="ru-RU" sz="40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ru-RU" sz="4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4000" i="1">
                        <a:latin typeface="Cambria Math" panose="02040503050406030204" pitchFamily="18" charset="0"/>
                      </a:rPr>
                      <m:t>′(</m:t>
                    </m:r>
                    <m:sSub>
                      <m:sSubPr>
                        <m:ctrlPr>
                          <a:rPr lang="ru-BY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4000" i="1">
                        <a:latin typeface="Cambria Math" panose="02040503050406030204" pitchFamily="18" charset="0"/>
                      </a:rPr>
                      <m:t>)|</m:t>
                    </m:r>
                  </m:oMath>
                </a14:m>
                <a:r>
                  <a:rPr lang="ru-RU" sz="4000" dirty="0"/>
                  <a:t> и угол поворота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BY" sz="4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𝑎𝑟𝑔</m:t>
                        </m:r>
                      </m:fName>
                      <m:e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func>
                    <m:r>
                      <a:rPr lang="ru-RU" sz="4000" i="1">
                        <a:latin typeface="Cambria Math" panose="02040503050406030204" pitchFamily="18" charset="0"/>
                      </a:rPr>
                      <m:t>′(</m:t>
                    </m:r>
                    <m:sSub>
                      <m:sSubPr>
                        <m:ctrlPr>
                          <a:rPr lang="ru-BY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4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4000" dirty="0"/>
                  <a:t>. Это означает, что если две гладкие кривые пересекаются в 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BY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4000" dirty="0"/>
                  <a:t> под углом </a:t>
                </a:r>
                <a14:m>
                  <m:oMath xmlns:m="http://schemas.openxmlformats.org/officeDocument/2006/math">
                    <m:r>
                      <a:rPr lang="ru-RU" sz="4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4000" dirty="0"/>
                  <a:t>, то их образы в плоскости </a:t>
                </a:r>
                <a14:m>
                  <m:oMath xmlns:m="http://schemas.openxmlformats.org/officeDocument/2006/math">
                    <m:r>
                      <a:rPr lang="ru-RU" sz="40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ru-RU" sz="4000" dirty="0"/>
                  <a:t> также пересекаются под углом </a:t>
                </a:r>
                <a14:m>
                  <m:oMath xmlns:m="http://schemas.openxmlformats.org/officeDocument/2006/math">
                    <m:r>
                      <a:rPr lang="ru-RU" sz="4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4000" dirty="0"/>
                  <a:t> в 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BY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4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4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ru-BY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BY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ru-RU" sz="4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BY" sz="4000" dirty="0"/>
              </a:p>
              <a:p>
                <a:endParaRPr lang="ru-BY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623FAA8-9BCC-E7EC-3843-E290E1F646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" y="234950"/>
                <a:ext cx="11163300" cy="5942013"/>
              </a:xfrm>
              <a:blipFill>
                <a:blip r:embed="rId2"/>
                <a:stretch>
                  <a:fillRect l="-1747" t="-2875" r="-136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490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38845F-19E2-13F9-0787-DE2C74E81B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Элементарные конформные отображения</a:t>
            </a:r>
            <a:endParaRPr lang="ru-BY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1A221D-7056-B2BB-A2D3-AB99BFDA5D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636145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FE61AB41-A548-A49A-6493-52003F59B33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/>
                  <a:t>Линейное </a:t>
                </a:r>
                <a14:m>
                  <m:oMath xmlns:m="http://schemas.openxmlformats.org/officeDocument/2006/math">
                    <m:r>
                      <a:rPr lang="ru-RU" i="1"/>
                      <m:t>𝑤</m:t>
                    </m:r>
                    <m:r>
                      <a:rPr lang="ru-RU" i="1"/>
                      <m:t>=</m:t>
                    </m:r>
                    <m:r>
                      <a:rPr lang="ru-RU" i="1"/>
                      <m:t>𝑎𝑧</m:t>
                    </m:r>
                    <m:r>
                      <a:rPr lang="ru-RU" i="1"/>
                      <m:t>+</m:t>
                    </m:r>
                    <m:r>
                      <a:rPr lang="ru-RU" i="1"/>
                      <m:t>𝑏</m:t>
                    </m:r>
                  </m:oMath>
                </a14:m>
                <a:endParaRPr lang="ru-BY" dirty="0"/>
              </a:p>
            </p:txBody>
          </p:sp>
        </mc:Choice>
        <mc:Fallback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FE61AB41-A548-A49A-6493-52003F59B3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964F2B8-C381-CFCF-0302-E626ACC8A2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sz="4400" dirty="0"/>
                  <a:t> Растяжение в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4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4400" i="1"/>
                          <m:t>𝑎</m:t>
                        </m:r>
                      </m:e>
                    </m:d>
                  </m:oMath>
                </a14:m>
                <a:r>
                  <a:rPr lang="ru-RU" sz="4400" dirty="0"/>
                  <a:t> раз</a:t>
                </a:r>
                <a:br>
                  <a:rPr lang="ru-RU" sz="4400" dirty="0"/>
                </a:br>
                <a:r>
                  <a:rPr lang="ru-RU" sz="4400" dirty="0"/>
                  <a:t> Поворот на угол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BY" sz="4400" i="1"/>
                        </m:ctrlPr>
                      </m:funcPr>
                      <m:fName>
                        <m:r>
                          <a:rPr lang="ru-RU" sz="4400" i="1"/>
                          <m:t>𝑎𝑟𝑔</m:t>
                        </m:r>
                      </m:fName>
                      <m:e>
                        <m:r>
                          <a:rPr lang="ru-RU" sz="4400" i="1"/>
                          <m:t>𝑎</m:t>
                        </m:r>
                      </m:e>
                    </m:func>
                  </m:oMath>
                </a14:m>
                <a:endParaRPr lang="ru-RU" sz="4400" dirty="0"/>
              </a:p>
              <a:p>
                <a:pPr marL="0" indent="0">
                  <a:buNone/>
                </a:pPr>
                <a:r>
                  <a:rPr lang="ru-RU" sz="4400" dirty="0"/>
                  <a:t> Параллельный перенос на вектор </a:t>
                </a:r>
                <a14:m>
                  <m:oMath xmlns:m="http://schemas.openxmlformats.org/officeDocument/2006/math">
                    <m:r>
                      <a:rPr lang="ru-RU" sz="4400" i="1"/>
                      <m:t>𝑏</m:t>
                    </m:r>
                  </m:oMath>
                </a14:m>
                <a:endParaRPr lang="ru-RU" sz="4400" dirty="0"/>
              </a:p>
              <a:p>
                <a:pPr marL="0" indent="0">
                  <a:buNone/>
                </a:pPr>
                <a:endParaRPr lang="ru-RU" sz="4400" dirty="0"/>
              </a:p>
              <a:p>
                <a:pPr marL="0" indent="0">
                  <a:buNone/>
                </a:pPr>
                <a:r>
                  <a:rPr lang="ru-RU" sz="4400" dirty="0"/>
                  <a:t>Сохраняет расстояния и пропорции, создавая подобные фигуры</a:t>
                </a:r>
              </a:p>
              <a:p>
                <a:endParaRPr lang="ru-BY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964F2B8-C381-CFCF-0302-E626ACC8A2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377" t="-4342" b="-70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02587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A22FCD-90CF-CDF3-5BE0-A5E40A4F1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zh-CN" dirty="0"/>
              <a:t>ПРИМЕР</a:t>
            </a:r>
            <a:br>
              <a:rPr lang="ru-RU" altLang="zh-CN" dirty="0"/>
            </a:br>
            <a:r>
              <a:rPr lang="en-US" altLang="zh-CN" dirty="0"/>
              <a:t>w = </a:t>
            </a:r>
            <a:r>
              <a:rPr lang="en-US" altLang="zh-CN" dirty="0" err="1"/>
              <a:t>2z</a:t>
            </a:r>
            <a:r>
              <a:rPr lang="en-US" altLang="zh-CN" dirty="0"/>
              <a:t> + 3 – I</a:t>
            </a:r>
            <a:br>
              <a:rPr lang="ru-RU" altLang="zh-CN" dirty="0"/>
            </a:br>
            <a:endParaRPr lang="ru-BY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22B58A-AEF5-E999-FDB4-26635E074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2550"/>
            <a:ext cx="10947400" cy="501015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a = 2 </a:t>
            </a:r>
            <a:r>
              <a:rPr lang="en-US" altLang="zh-CN" dirty="0" err="1"/>
              <a:t>означает</a:t>
            </a:r>
            <a:r>
              <a:rPr lang="en-US" altLang="zh-CN" dirty="0"/>
              <a:t> </a:t>
            </a:r>
            <a:r>
              <a:rPr lang="en-US" altLang="zh-CN" dirty="0" err="1"/>
              <a:t>растяжение</a:t>
            </a:r>
            <a:r>
              <a:rPr lang="en-US" altLang="zh-CN" dirty="0"/>
              <a:t> в 2 </a:t>
            </a:r>
            <a:r>
              <a:rPr lang="en-US" altLang="zh-CN" dirty="0" err="1"/>
              <a:t>раза</a:t>
            </a:r>
            <a:r>
              <a:rPr lang="en-US" altLang="zh-CN" dirty="0"/>
              <a:t> </a:t>
            </a:r>
            <a:r>
              <a:rPr lang="en-US" altLang="zh-CN" dirty="0" err="1"/>
              <a:t>без</a:t>
            </a:r>
            <a:r>
              <a:rPr lang="en-US" altLang="zh-CN" dirty="0"/>
              <a:t> </a:t>
            </a:r>
            <a:r>
              <a:rPr lang="en-US" altLang="zh-CN" dirty="0" err="1"/>
              <a:t>поворота</a:t>
            </a:r>
            <a:r>
              <a:rPr lang="en-US" altLang="zh-CN" dirty="0"/>
              <a:t>,</a:t>
            </a:r>
            <a:endParaRPr lang="ru-RU" altLang="zh-CN" dirty="0"/>
          </a:p>
          <a:p>
            <a:r>
              <a:rPr lang="en-US" altLang="zh-CN" dirty="0"/>
              <a:t>b = 3 −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ru-RU" dirty="0"/>
              <a:t>–</a:t>
            </a:r>
            <a:r>
              <a:rPr lang="zh-CN" altLang="en-US" dirty="0"/>
              <a:t> </a:t>
            </a:r>
            <a:r>
              <a:rPr lang="en-US" altLang="zh-CN" dirty="0" err="1"/>
              <a:t>сдвиг</a:t>
            </a:r>
            <a:r>
              <a:rPr lang="en-US" altLang="zh-CN" dirty="0"/>
              <a:t> </a:t>
            </a:r>
            <a:r>
              <a:rPr lang="en-US" altLang="zh-CN" dirty="0" err="1"/>
              <a:t>на</a:t>
            </a:r>
            <a:r>
              <a:rPr lang="en-US" altLang="zh-CN" dirty="0"/>
              <a:t> </a:t>
            </a:r>
            <a:r>
              <a:rPr lang="en-US" altLang="zh-CN" dirty="0" err="1"/>
              <a:t>вектор</a:t>
            </a:r>
            <a:r>
              <a:rPr lang="en-US" altLang="zh-CN" dirty="0"/>
              <a:t> (3, −1).</a:t>
            </a:r>
            <a:endParaRPr lang="ru-RU" altLang="zh-CN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ЛИНЕЙНОЕ ОТОБРАЖЕНИЕ СОХРАНЯЕТ КЛАСС ФИГУРЫ</a:t>
            </a:r>
            <a:endParaRPr lang="ru-BY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A28D708-71B8-F8FC-08D3-1B400053D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0" y="2825302"/>
            <a:ext cx="2654300" cy="254676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A8AD1C-26A6-B9A9-4000-C9C94FFA6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1720" y="2678113"/>
            <a:ext cx="2913380" cy="262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1999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7241BE-D65E-7B6D-C5DB-316ABD90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Квадратичное </a:t>
            </a:r>
            <a:r>
              <a:rPr lang="en-US" altLang="zh-CN" dirty="0"/>
              <a:t>w = </a:t>
            </a:r>
            <a:r>
              <a:rPr lang="en-US" altLang="zh-CN" dirty="0" err="1"/>
              <a:t>z²</a:t>
            </a:r>
            <a:r>
              <a:rPr lang="en-US" altLang="zh-CN" dirty="0"/>
              <a:t> </a:t>
            </a:r>
            <a:endParaRPr lang="ru-BY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1EE6CA-B8BD-917B-1C62-DB814D4AA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Угол</a:t>
            </a:r>
            <a:r>
              <a:rPr lang="en-US" altLang="zh-CN" dirty="0"/>
              <a:t> </a:t>
            </a:r>
            <a:r>
              <a:rPr lang="en-US" altLang="zh-CN" dirty="0" err="1"/>
              <a:t>поворота</a:t>
            </a:r>
            <a:r>
              <a:rPr lang="en-US" altLang="zh-CN" dirty="0"/>
              <a:t> </a:t>
            </a:r>
            <a:r>
              <a:rPr lang="en-US" altLang="zh-CN" dirty="0" err="1"/>
              <a:t>arg</a:t>
            </a:r>
            <a:r>
              <a:rPr lang="en-US" altLang="zh-CN" dirty="0"/>
              <a:t>(f'(z)) = </a:t>
            </a:r>
            <a:r>
              <a:rPr lang="en-US" altLang="zh-CN" dirty="0" err="1"/>
              <a:t>arg</a:t>
            </a:r>
            <a:r>
              <a:rPr lang="en-US" altLang="zh-CN" dirty="0"/>
              <a:t>(</a:t>
            </a:r>
            <a:r>
              <a:rPr lang="en-US" altLang="zh-CN" dirty="0" err="1"/>
              <a:t>2z</a:t>
            </a:r>
            <a:r>
              <a:rPr lang="en-US" altLang="zh-CN" dirty="0"/>
              <a:t>) = </a:t>
            </a:r>
            <a:r>
              <a:rPr lang="en-US" altLang="zh-CN" dirty="0" err="1"/>
              <a:t>arg</a:t>
            </a:r>
            <a:r>
              <a:rPr lang="en-US" altLang="zh-CN" dirty="0"/>
              <a:t>(z)</a:t>
            </a:r>
            <a:endParaRPr lang="ru-RU" altLang="zh-CN" dirty="0"/>
          </a:p>
          <a:p>
            <a:r>
              <a:rPr lang="ru-RU" altLang="zh-CN" dirty="0"/>
              <a:t>Прямые стороны – в параболы</a:t>
            </a:r>
            <a:r>
              <a:rPr lang="en-US" altLang="zh-CN" dirty="0"/>
              <a:t> </a:t>
            </a:r>
            <a:endParaRPr lang="ru-BY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F26AB40-196F-E257-7AA6-94345E519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2369400"/>
            <a:ext cx="6477000" cy="433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3952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54A8D3-F701-5994-B469-25EE3BA7C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Элементарные функции комплексного переменного решают реальные задачи</a:t>
            </a:r>
            <a:endParaRPr lang="ru-BY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290F3A-726E-F249-F652-C68235141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3200" dirty="0"/>
              <a:t>Электростатика - конформные отображения используются для расчёта электрических полей</a:t>
            </a:r>
          </a:p>
          <a:p>
            <a:r>
              <a:rPr lang="ru-RU" sz="3200" dirty="0"/>
              <a:t>Гидродинамика - комплексный потенциал полностью описывает двумерное течение идеальной жидкости</a:t>
            </a:r>
          </a:p>
          <a:p>
            <a:r>
              <a:rPr lang="ru-RU" sz="3200" dirty="0"/>
              <a:t>Аэродинамика - функция Жуковского w = z + 1/z отображает окружность в профиль крыла самолёта.</a:t>
            </a:r>
          </a:p>
          <a:p>
            <a:r>
              <a:rPr lang="ru-RU" sz="3200" dirty="0"/>
              <a:t>Физика и инженерия -  аналитические функции применяются в квантовой механике, теории относительности</a:t>
            </a:r>
            <a:endParaRPr lang="ru-BY" sz="3200" dirty="0"/>
          </a:p>
        </p:txBody>
      </p:sp>
    </p:spTree>
    <p:extLst>
      <p:ext uri="{BB962C8B-B14F-4D97-AF65-F5344CB8AC3E}">
        <p14:creationId xmlns:p14="http://schemas.microsoft.com/office/powerpoint/2010/main" val="36685661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AE8F57-2385-E53A-2604-F6DDF80CE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955" y="-1401531"/>
            <a:ext cx="10898080" cy="5811838"/>
          </a:xfrm>
        </p:spPr>
        <p:txBody>
          <a:bodyPr>
            <a:normAutofit/>
          </a:bodyPr>
          <a:lstStyle/>
          <a:p>
            <a:r>
              <a:rPr lang="ru-RU" dirty="0"/>
              <a:t>В начале </a:t>
            </a:r>
            <a:r>
              <a:rPr lang="en-US" dirty="0"/>
              <a:t>XX </a:t>
            </a:r>
            <a:r>
              <a:rPr lang="ru-RU" dirty="0"/>
              <a:t>Николай Егорович Жуковский изложил принцип образования подъёмной силы и разработал теоретические профили крыла.</a:t>
            </a:r>
            <a:endParaRPr lang="ru-BY" dirty="0"/>
          </a:p>
        </p:txBody>
      </p:sp>
      <p:pic>
        <p:nvPicPr>
          <p:cNvPr id="1026" name="Picture 2" descr="Отец русской авиации, не любивший летать: Н. Е. Жуковский – имперский  основоположник аэродинамики">
            <a:extLst>
              <a:ext uri="{FF2B5EF4-FFF2-40B4-BE49-F238E27FC236}">
                <a16:creationId xmlns:a16="http://schemas.microsoft.com/office/drawing/2014/main" id="{1E3BF4C5-3BB0-C5CE-607E-9C517A1B44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262" y="2374321"/>
            <a:ext cx="6434831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533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D7941CE1-E5C3-F9AA-7361-4C42D62269E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77553" y="365125"/>
                <a:ext cx="11176247" cy="2449096"/>
              </a:xfrm>
            </p:spPr>
            <p:txBody>
              <a:bodyPr>
                <a:normAutofit fontScale="90000"/>
              </a:bodyPr>
              <a:lstStyle/>
              <a:p>
                <a:r>
                  <a:rPr lang="ru-RU" dirty="0"/>
                  <a:t>Исследуем преобразование Жуковского</a:t>
                </a:r>
                <a:r>
                  <a:rPr lang="ru-RU" b="1" dirty="0"/>
                  <a:t>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ru-RU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1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ru-RU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ru-BY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𝒛</m:t>
                        </m:r>
                      </m:den>
                    </m:f>
                  </m:oMath>
                </a14:m>
                <a:br>
                  <a:rPr lang="ru-RU" b="1" dirty="0"/>
                </a:br>
                <a:r>
                  <a:rPr lang="ru-RU" dirty="0"/>
                  <a:t>Оно отображает цилиндр в аэродинамический профиль – крылья самолета</a:t>
                </a:r>
                <a:endParaRPr lang="ru-BY" dirty="0"/>
              </a:p>
            </p:txBody>
          </p:sp>
        </mc:Choice>
        <mc:Fallback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D7941CE1-E5C3-F9AA-7361-4C42D62269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77553" y="365125"/>
                <a:ext cx="11176247" cy="2449096"/>
              </a:xfrm>
              <a:blipFill>
                <a:blip r:embed="rId2"/>
                <a:stretch>
                  <a:fillRect l="-1908" b="-99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Объект 2">
            <a:extLst>
              <a:ext uri="{FF2B5EF4-FFF2-40B4-BE49-F238E27FC236}">
                <a16:creationId xmlns:a16="http://schemas.microsoft.com/office/drawing/2014/main" id="{9AF65BFB-CCDE-BE19-7147-DBC9C35EF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2672"/>
            <a:ext cx="10515600" cy="4774291"/>
          </a:xfrm>
        </p:spPr>
        <p:txBody>
          <a:bodyPr/>
          <a:lstStyle/>
          <a:p>
            <a:pPr marL="3657600" lvl="8" indent="0">
              <a:buNone/>
            </a:pPr>
            <a:endParaRPr lang="ru-RU" sz="5000" dirty="0"/>
          </a:p>
          <a:p>
            <a:endParaRPr lang="ru-BY" dirty="0"/>
          </a:p>
        </p:txBody>
      </p:sp>
      <p:pic>
        <p:nvPicPr>
          <p:cNvPr id="5" name="Изображение 9">
            <a:extLst>
              <a:ext uri="{FF2B5EF4-FFF2-40B4-BE49-F238E27FC236}">
                <a16:creationId xmlns:a16="http://schemas.microsoft.com/office/drawing/2014/main" id="{2A9E410B-9C4A-6DC9-A344-874A231AF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1252" y="2814221"/>
            <a:ext cx="3864377" cy="3663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Изображение 10">
            <a:extLst>
              <a:ext uri="{FF2B5EF4-FFF2-40B4-BE49-F238E27FC236}">
                <a16:creationId xmlns:a16="http://schemas.microsoft.com/office/drawing/2014/main" id="{BDFF58AB-E583-4306-D323-62BC9017B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373" y="2939875"/>
            <a:ext cx="4194375" cy="36637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88798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F62F34-E797-7F57-1A6D-D4996CC2F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20623"/>
          </a:xfrm>
        </p:spPr>
        <p:txBody>
          <a:bodyPr>
            <a:normAutofit fontScale="90000"/>
          </a:bodyPr>
          <a:lstStyle/>
          <a:p>
            <a:r>
              <a:rPr lang="ru-RU" dirty="0"/>
              <a:t>Отображение Жуковского конформно</a:t>
            </a:r>
            <a:br>
              <a:rPr lang="en-US" dirty="0"/>
            </a:br>
            <a:r>
              <a:rPr lang="ru-RU" dirty="0"/>
              <a:t>Строим радиальные окружности и лучи из них и видим, что структура углов сохраняется</a:t>
            </a:r>
            <a:endParaRPr lang="ru-BY" dirty="0"/>
          </a:p>
        </p:txBody>
      </p:sp>
      <p:pic>
        <p:nvPicPr>
          <p:cNvPr id="4" name="Изображение 15">
            <a:extLst>
              <a:ext uri="{FF2B5EF4-FFF2-40B4-BE49-F238E27FC236}">
                <a16:creationId xmlns:a16="http://schemas.microsoft.com/office/drawing/2014/main" id="{91B931A9-7924-FADC-95CC-54D65636D6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2163" y="2579711"/>
            <a:ext cx="3896269" cy="3791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Изображение 14">
            <a:extLst>
              <a:ext uri="{FF2B5EF4-FFF2-40B4-BE49-F238E27FC236}">
                <a16:creationId xmlns:a16="http://schemas.microsoft.com/office/drawing/2014/main" id="{7971F8DA-ED65-2EF4-9855-F6BC04655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461" y="2373928"/>
            <a:ext cx="4174376" cy="39972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79553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E58915-DA5C-93A6-1767-D2ABBE20C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262" y="2264947"/>
            <a:ext cx="5189738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Производная показывает растяжение и сжатие.</a:t>
            </a:r>
            <a:br>
              <a:rPr lang="en-US" dirty="0"/>
            </a:br>
            <a:r>
              <a:rPr lang="ru-RU" dirty="0"/>
              <a:t>Сжатие происходит у кромок, где якобиан принимает малые значения. Так и получаются острые крылья самолета</a:t>
            </a:r>
            <a:endParaRPr lang="ru-BY" dirty="0"/>
          </a:p>
        </p:txBody>
      </p:sp>
      <p:pic>
        <p:nvPicPr>
          <p:cNvPr id="4" name="Изображение 16">
            <a:extLst>
              <a:ext uri="{FF2B5EF4-FFF2-40B4-BE49-F238E27FC236}">
                <a16:creationId xmlns:a16="http://schemas.microsoft.com/office/drawing/2014/main" id="{9E6006F4-C916-6614-F204-E755EE83A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64462" y="657846"/>
            <a:ext cx="5877600" cy="52014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95725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555D36-C896-DE5B-1B6D-8010AEB9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524" y="2766218"/>
            <a:ext cx="5021062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Вихревое поле дает картину обтекания </a:t>
            </a:r>
            <a:r>
              <a:rPr lang="ru-RU" dirty="0" err="1"/>
              <a:t>профиля.Там</a:t>
            </a:r>
            <a:r>
              <a:rPr lang="ru-RU" dirty="0"/>
              <a:t>, где линии редкие – скорость низкая – давление </a:t>
            </a:r>
            <a:r>
              <a:rPr lang="ru-RU" dirty="0" err="1"/>
              <a:t>высокое.Где</a:t>
            </a:r>
            <a:r>
              <a:rPr lang="ru-RU" dirty="0"/>
              <a:t> линии густые – скорость высокая – давление низкое</a:t>
            </a:r>
            <a:br>
              <a:rPr lang="ru-RU" dirty="0"/>
            </a:br>
            <a:r>
              <a:rPr lang="ru-RU" dirty="0"/>
              <a:t>Разность давлений толкает крыло вверх –это подъемная сила</a:t>
            </a:r>
            <a:endParaRPr lang="ru-BY" dirty="0"/>
          </a:p>
        </p:txBody>
      </p:sp>
      <p:pic>
        <p:nvPicPr>
          <p:cNvPr id="4" name="Изображение 11">
            <a:extLst>
              <a:ext uri="{FF2B5EF4-FFF2-40B4-BE49-F238E27FC236}">
                <a16:creationId xmlns:a16="http://schemas.microsoft.com/office/drawing/2014/main" id="{84009F97-7A9D-2E91-B30E-66A83419E2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0586" y="212014"/>
            <a:ext cx="6501414" cy="56294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99579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BB543C-21D6-2F57-A4EA-48DF8B601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3680"/>
            <a:ext cx="5447190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Сдвигаем центр цилиндра вверх-вниз и получаем разные профили</a:t>
            </a:r>
            <a:br>
              <a:rPr lang="ru-RU" dirty="0"/>
            </a:br>
            <a:r>
              <a:rPr lang="ru-RU" dirty="0"/>
              <a:t>Изогнутые профили создают подъемную силу, что важно для самолетов</a:t>
            </a:r>
            <a:endParaRPr lang="ru-BY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644E5B3-7100-C260-F155-B960C3882F8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7253056" y="6176962"/>
            <a:ext cx="4100744" cy="1191503"/>
          </a:xfrm>
        </p:spPr>
        <p:txBody>
          <a:bodyPr/>
          <a:lstStyle/>
          <a:p>
            <a:endParaRPr lang="ru-BY" dirty="0"/>
          </a:p>
        </p:txBody>
      </p:sp>
      <p:pic>
        <p:nvPicPr>
          <p:cNvPr id="7" name="Изображение 13">
            <a:extLst>
              <a:ext uri="{FF2B5EF4-FFF2-40B4-BE49-F238E27FC236}">
                <a16:creationId xmlns:a16="http://schemas.microsoft.com/office/drawing/2014/main" id="{B2041421-2F21-2645-B740-43717910A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735" y="1115910"/>
            <a:ext cx="4792934" cy="42411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01520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D08160-218B-E8B8-7B50-0AD26F4D9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Таким образом</a:t>
            </a:r>
            <a:endParaRPr lang="ru-BY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CD808C-9288-5CAB-CFC0-43778387A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4400" dirty="0"/>
              <a:t>Эксперимент демонстрирует, как методы комплексного анализа и конформных отображений напрямую используются в классической теории крыла и позволяют связывать простые математические объекты с реальными инженерными задачами аэродинамики.</a:t>
            </a:r>
            <a:endParaRPr lang="ru-BY" sz="4400" b="1" dirty="0"/>
          </a:p>
          <a:p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5826962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B214D-A4FB-D660-5404-2FF6B58FD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6000" dirty="0"/>
              <a:t>Итоги</a:t>
            </a:r>
            <a:endParaRPr lang="ru-BY" sz="6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8C5F07-0D6A-9F5C-E0D9-FA93A7EEE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Я изучил и исследовал</a:t>
            </a:r>
            <a:r>
              <a:rPr lang="en-US" dirty="0"/>
              <a:t>:</a:t>
            </a:r>
            <a:endParaRPr lang="ru-RU" dirty="0"/>
          </a:p>
          <a:p>
            <a:r>
              <a:rPr lang="ru-RU" dirty="0"/>
              <a:t>Элементарные функции</a:t>
            </a:r>
          </a:p>
          <a:p>
            <a:r>
              <a:rPr lang="ru-RU" dirty="0"/>
              <a:t>Аналитичность – локальное свойство областей</a:t>
            </a:r>
          </a:p>
          <a:p>
            <a:r>
              <a:rPr lang="ru-RU" dirty="0"/>
              <a:t>Особые точки и их влияние на графики</a:t>
            </a:r>
          </a:p>
          <a:p>
            <a:r>
              <a:rPr lang="ru-RU" dirty="0"/>
              <a:t>Ряд Лорана описывает поведение функции в окрестности особой точки</a:t>
            </a:r>
          </a:p>
          <a:p>
            <a:r>
              <a:rPr lang="ru-RU" dirty="0"/>
              <a:t>Многозначные функции требуют анализа точек ветвления</a:t>
            </a:r>
          </a:p>
          <a:p>
            <a:r>
              <a:rPr lang="ru-RU" dirty="0"/>
              <a:t>Конформные отображения позволяют сохранять физику  при трансформации геометрии задачи</a:t>
            </a:r>
          </a:p>
          <a:p>
            <a:r>
              <a:rPr lang="ru-RU" dirty="0"/>
              <a:t>Преобразование Жуковского практически демонстрирует  применение конформных отображений в аэродинамике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3828105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1206</Words>
  <Application>Microsoft Office PowerPoint</Application>
  <PresentationFormat>Широкоэкранный</PresentationFormat>
  <Paragraphs>81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Тема Office</vt:lpstr>
      <vt:lpstr>ЭЛЕМЕНТАРНЫЕ ФУНКЦИИ КОМПЛЕКСНОГО ПЕРЕМЕННОГО И ИХ СВОЙСТВА</vt:lpstr>
      <vt:lpstr>Презентация PowerPoint</vt:lpstr>
      <vt:lpstr>Элементарные функции комплексного переменного</vt:lpstr>
      <vt:lpstr>Рассмотрим на практике основные свойства элементарных функций комплексного переменного</vt:lpstr>
      <vt:lpstr>Презентация PowerPoint</vt:lpstr>
      <vt:lpstr>Условия Коши-Римана</vt:lpstr>
      <vt:lpstr>      Пример неаналитичной функции f(z)=¯z=x-iy    </vt:lpstr>
      <vt:lpstr>Презентация PowerPoint</vt:lpstr>
      <vt:lpstr>Ряд Лорана -  представление функции в виде степенного ряда, в котором присутствуют слагаемые с отрицательными степенями </vt:lpstr>
      <vt:lpstr>Рассмотрим различные разложения в ряд Лорана функции f(z) = (2z + 1)/(z² + z − 2), приняв z₀ = 0.</vt:lpstr>
      <vt:lpstr>Круг |z| &lt; 1. Обе особые точки (-2 и +1) находятся вне области, поэтому раскладываем по неотрицательным степеням z – ряд Тейлора</vt:lpstr>
      <vt:lpstr>Кольцо 1 &lt;= |z| &lt; 2 Для z = -2 раскладываем по степеням z Для z = 1 раскладываем по степеням 1/z Получаем полный ряд Лорана</vt:lpstr>
      <vt:lpstr>Во внешней области 2 &lt; |z| &lt; ∞ получается ряд Лорана, состоящий только из отрицательных степеней z</vt:lpstr>
      <vt:lpstr>Экспоненциальная функция</vt:lpstr>
      <vt:lpstr>Особые точки</vt:lpstr>
      <vt:lpstr>Логарифмическая функция многозначна</vt:lpstr>
      <vt:lpstr>Точки ветвления корня w=√(z^2-1).</vt:lpstr>
      <vt:lpstr>Степенная квадратичная функция – обычная парабола на действительной оси</vt:lpstr>
      <vt:lpstr>Презентация PowerPoint</vt:lpstr>
      <vt:lpstr>Презентация PowerPoint</vt:lpstr>
      <vt:lpstr>Элементарные конформные отображения</vt:lpstr>
      <vt:lpstr>Линейное w=az+b</vt:lpstr>
      <vt:lpstr>ПРИМЕР w = 2z + 3 – I </vt:lpstr>
      <vt:lpstr>Квадратичное w = z² </vt:lpstr>
      <vt:lpstr>Элементарные функции комплексного переменного решают реальные задачи</vt:lpstr>
      <vt:lpstr>В начале XX Николай Егорович Жуковский изложил принцип образования подъёмной силы и разработал теоретические профили крыла.</vt:lpstr>
      <vt:lpstr>Исследуем преобразование Жуковского w=z+1/z Оно отображает цилиндр в аэродинамический профиль – крылья самолета</vt:lpstr>
      <vt:lpstr>Отображение Жуковского конформно Строим радиальные окружности и лучи из них и видим, что структура углов сохраняется</vt:lpstr>
      <vt:lpstr>Производная показывает растяжение и сжатие. Сжатие происходит у кромок, где якобиан принимает малые значения. Так и получаются острые крылья самолета</vt:lpstr>
      <vt:lpstr>Вихревое поле дает картину обтекания профиля.Там, где линии редкие – скорость низкая – давление высокое.Где линии густые – скорость высокая – давление низкое Разность давлений толкает крыло вверх –это подъемная сила</vt:lpstr>
      <vt:lpstr>Сдвигаем центр цилиндра вверх-вниз и получаем разные профили Изогнутые профили создают подъемную силу, что важно для самолетов</vt:lpstr>
      <vt:lpstr>Таким образом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khalamov2000@gmail.com</dc:creator>
  <cp:lastModifiedBy>khalamov2000@gmail.com</cp:lastModifiedBy>
  <cp:revision>6</cp:revision>
  <dcterms:created xsi:type="dcterms:W3CDTF">2025-12-25T16:16:47Z</dcterms:created>
  <dcterms:modified xsi:type="dcterms:W3CDTF">2025-12-25T22:22:34Z</dcterms:modified>
</cp:coreProperties>
</file>