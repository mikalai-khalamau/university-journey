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embeddedFontLst>
    <p:embeddedFont>
      <p:font typeface="Century Gothic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Gothic-italic.fntdata"/><Relationship Id="rId20" Type="http://schemas.openxmlformats.org/officeDocument/2006/relationships/slide" Target="slides/slide15.xml"/><Relationship Id="rId41" Type="http://schemas.openxmlformats.org/officeDocument/2006/relationships/font" Target="fonts/CenturyGothic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CenturyGothic-bold.fntdata"/><Relationship Id="rId16" Type="http://schemas.openxmlformats.org/officeDocument/2006/relationships/slide" Target="slides/slide11.xml"/><Relationship Id="rId38" Type="http://schemas.openxmlformats.org/officeDocument/2006/relationships/font" Target="fonts/CenturyGothic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ad8fa66ad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fad8fa66ad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c9ebf8f76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c9ebf8f76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c9f0438e4c_1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c9f0438e4c_1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c9f0438e4c_1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c9f0438e4c_1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fad8fa66ad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fad8fa66ad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fad8fa66a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fad8fa66a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c9ebf8f76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c9ebf8f76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ad8fa66a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fad8fa66a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fad8fa66ad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fad8fa66ad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fad8fa66a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fad8fa66a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fad8fa66a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fad8fa66a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ad8fa66a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fad8fa66a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fad8fa66ad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fad8fa66ad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fad8fa66a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fad8fa66a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fad8fa66a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fad8fa66a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fad8fa66ad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2fad8fa66ad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fad8fa66ad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2fad8fa66ad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fb0385958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fb0385958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fb0385958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fb0385958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fb0385958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fb0385958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fb0385958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fb0385958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1400">
                <a:solidFill>
                  <a:srgbClr val="17171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Суммирование двух 16-разрядных чисел с использованием команд ABA и ADCA, </a:t>
            </a:r>
            <a:br>
              <a:rPr b="1" lang="ru" sz="1400">
                <a:solidFill>
                  <a:srgbClr val="171717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1" lang="ru" sz="1400">
                <a:solidFill>
                  <a:srgbClr val="171717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с учетом возможного переноса. (test slide - will be removed/improved)</a:t>
            </a:r>
            <a:endParaRPr b="1" sz="1400">
              <a:solidFill>
                <a:srgbClr val="171717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">
              <a:solidFill>
                <a:srgbClr val="171717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 8000      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Указывает начальный адрес программы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LDX #$1eec    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Загружает значение $1eec в регистр X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LDY #$fffa    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Загружает значение $fffa в регистр Y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STX $1        	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Сохраняет значение регистра X по адресу $1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STY $3        	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Сохраняет значение регистра Y по адресу $3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LDAA $2       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Загружает значение из адреса $2 в регистр A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LDAB $4       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Загружает значение из адреса $4 в регистр B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ABA          	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Складывает содержимое регистров A и B, результат в регистре A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STAA $22     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	; Сохраняет значение регистра A по адресу $22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LDAA #0       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Загружает значение 0 в регистр A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ADCA #0      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Складывает содержимое регистра A с 0, с учетом флага переноса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STAA $21     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Сохраняет значение регистра A по адресу $21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LDAA $1      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	; Загружает значение из адреса $1 в регистр A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LDAB $3      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	; Загружает значение из адреса $3 в регистр B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ABA           	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Складывает содержимое регистров A и B, результат в регистре A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PSHA          	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Помещает содержимое регистра A в стек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LDAA #0       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Загружает значение 0 в регистр A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ADCA #0       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Складывает содержимое регистра A с 0, с учетом флага переноса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STAA $20      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Сохраняет значение регистра A по адресу $20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PULA          	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Извлекает значение из стека в регистр A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LDAB $21     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Загружает значение из адреса $21 в регистр B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ABA           	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Складывает содержимое регистров A и B, результат в регистре A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2609999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8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STAA $21      	</a:t>
            </a:r>
            <a:r>
              <a:rPr b="1" lang="ru" sz="8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 Сохраняет значение регистра A по адресу $21</a:t>
            </a:r>
            <a:endParaRPr b="1" sz="8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fad8fa66ad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fad8fa66ad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fad8fa66ad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2fad8fa66a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fad8fa66a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fad8fa66a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fad8fa66a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fad8fa66a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fad8fa66ad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fad8fa66ad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fad8fa66ad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fad8fa66ad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fad8fa66ad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fad8fa66ad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fad8fa66ad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fad8fa66ad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fad8fa66ad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fad8fa66ad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fad8fa66ad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fad8fa66ad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256050" y="266300"/>
            <a:ext cx="72294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50"/>
              <a:buNone/>
              <a:defRPr b="1" sz="265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866216" y="3583035"/>
            <a:ext cx="6619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800"/>
              </a:spcBef>
              <a:spcAft>
                <a:spcPts val="0"/>
              </a:spcAft>
              <a:buSzPts val="1200"/>
              <a:buNone/>
              <a:defRPr cap="none">
                <a:solidFill>
                  <a:schemeClr val="dk2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100"/>
              <a:buNone/>
              <a:defRPr>
                <a:solidFill>
                  <a:srgbClr val="898989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SzPts val="1000"/>
              <a:buNone/>
              <a:defRPr>
                <a:solidFill>
                  <a:srgbClr val="898989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8pPr>
            <a:lvl9pPr lvl="8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98989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484575" y="339547"/>
            <a:ext cx="7053600" cy="7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50"/>
              <a:buNone/>
              <a:defRPr b="1" sz="265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27484" y="1539689"/>
            <a:ext cx="67098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66217" y="2146300"/>
            <a:ext cx="6619200" cy="143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Gothic"/>
              <a:buNone/>
              <a:defRPr b="0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66216" y="3583036"/>
            <a:ext cx="6619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98989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98989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27484" y="1545431"/>
            <a:ext cx="32973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1pPr>
            <a:lvl2pPr indent="-292100" lvl="1" marL="9144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2pPr>
            <a:lvl3pPr indent="-279400" lvl="2" marL="13716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3pPr>
            <a:lvl4pPr indent="-273050" lvl="3" marL="1828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4pPr>
            <a:lvl5pPr indent="-273050" lvl="4" marL="22860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5pPr>
            <a:lvl6pPr indent="-273050" lvl="5" marL="27432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6pPr>
            <a:lvl7pPr indent="-273050" lvl="6" marL="32004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7pPr>
            <a:lvl8pPr indent="-273050" lvl="7" marL="36576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8pPr>
            <a:lvl9pPr indent="-273050" lvl="8" marL="4114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4240870" y="1542069"/>
            <a:ext cx="3297300" cy="31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1pPr>
            <a:lvl2pPr indent="-292100" lvl="1" marL="9144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2pPr>
            <a:lvl3pPr indent="-279400" lvl="2" marL="13716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3pPr>
            <a:lvl4pPr indent="-273050" lvl="3" marL="1828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4pPr>
            <a:lvl5pPr indent="-273050" lvl="4" marL="22860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5pPr>
            <a:lvl6pPr indent="-273050" lvl="5" marL="27432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6pPr>
            <a:lvl7pPr indent="-273050" lvl="6" marL="32004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7pPr>
            <a:lvl8pPr indent="-273050" lvl="7" marL="36576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8pPr>
            <a:lvl9pPr indent="-273050" lvl="8" marL="4114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827485" y="1428750"/>
            <a:ext cx="32973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827484" y="1885950"/>
            <a:ext cx="32973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1pPr>
            <a:lvl2pPr indent="-292100" lvl="1" marL="9144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2pPr>
            <a:lvl3pPr indent="-279400" lvl="2" marL="13716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3pPr>
            <a:lvl4pPr indent="-273050" lvl="3" marL="1828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4pPr>
            <a:lvl5pPr indent="-273050" lvl="4" marL="22860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5pPr>
            <a:lvl6pPr indent="-273050" lvl="5" marL="27432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6pPr>
            <a:lvl7pPr indent="-273050" lvl="6" marL="32004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7pPr>
            <a:lvl8pPr indent="-273050" lvl="7" marL="36576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8pPr>
            <a:lvl9pPr indent="-273050" lvl="8" marL="4114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9pPr>
          </a:lstStyle>
          <a:p/>
        </p:txBody>
      </p:sp>
      <p:sp>
        <p:nvSpPr>
          <p:cNvPr id="50" name="Google Shape;50;p7"/>
          <p:cNvSpPr txBox="1"/>
          <p:nvPr>
            <p:ph idx="3" type="body"/>
          </p:nvPr>
        </p:nvSpPr>
        <p:spPr>
          <a:xfrm>
            <a:off x="4240871" y="1428750"/>
            <a:ext cx="32973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4240871" y="1885950"/>
            <a:ext cx="3297300" cy="28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1pPr>
            <a:lvl2pPr indent="-292100" lvl="1" marL="9144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2pPr>
            <a:lvl3pPr indent="-279400" lvl="2" marL="13716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3pPr>
            <a:lvl4pPr indent="-273050" lvl="3" marL="1828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4pPr>
            <a:lvl5pPr indent="-273050" lvl="4" marL="22860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5pPr>
            <a:lvl6pPr indent="-273050" lvl="5" marL="27432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6pPr>
            <a:lvl7pPr indent="-273050" lvl="6" marL="32004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7pPr>
            <a:lvl8pPr indent="-273050" lvl="7" marL="36576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8pPr>
            <a:lvl9pPr indent="-273050" lvl="8" marL="4114800" algn="l">
              <a:spcBef>
                <a:spcPts val="800"/>
              </a:spcBef>
              <a:spcAft>
                <a:spcPts val="0"/>
              </a:spcAft>
              <a:buSzPts val="700"/>
              <a:buChar char="►"/>
              <a:defRPr sz="900"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66215" y="1085850"/>
            <a:ext cx="2550900" cy="10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3588462" y="1085850"/>
            <a:ext cx="3897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304800" lvl="0" marL="457200" algn="l">
              <a:spcBef>
                <a:spcPts val="800"/>
              </a:spcBef>
              <a:spcAft>
                <a:spcPts val="0"/>
              </a:spcAft>
              <a:buSzPts val="1200"/>
              <a:buChar char="►"/>
              <a:defRPr sz="1500"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 sz="1400"/>
            </a:lvl2pPr>
            <a:lvl3pPr indent="-292100" lvl="2" marL="1371600" algn="l">
              <a:spcBef>
                <a:spcPts val="800"/>
              </a:spcBef>
              <a:spcAft>
                <a:spcPts val="0"/>
              </a:spcAft>
              <a:buSzPts val="1000"/>
              <a:buChar char="►"/>
              <a:defRPr sz="1200"/>
            </a:lvl3pPr>
            <a:lvl4pPr indent="-279400" lvl="3" marL="18288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4pPr>
            <a:lvl5pPr indent="-279400" lvl="4" marL="22860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5pPr>
            <a:lvl6pPr indent="-279400" lvl="5" marL="27432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6pPr>
            <a:lvl7pPr indent="-279400" lvl="6" marL="32004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7pPr>
            <a:lvl8pPr indent="-279400" lvl="7" marL="36576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8pPr>
            <a:lvl9pPr indent="-279400" lvl="8" marL="4114800" algn="l">
              <a:spcBef>
                <a:spcPts val="800"/>
              </a:spcBef>
              <a:spcAft>
                <a:spcPts val="0"/>
              </a:spcAft>
              <a:buSzPts val="800"/>
              <a:buChar char="►"/>
              <a:defRPr sz="11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66215" y="2346960"/>
            <a:ext cx="2550900" cy="2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65430" y="1390644"/>
            <a:ext cx="38196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700"/>
              <a:buFont typeface="Century Gothic"/>
              <a:buNone/>
              <a:defRPr b="0" sz="27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212160" y="857250"/>
            <a:ext cx="2400300" cy="3429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66215" y="2743200"/>
            <a:ext cx="3813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анорамная фотография с подписью">
  <p:cSld name="Панорамная фотография с подписью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866217" y="3600440"/>
            <a:ext cx="66192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None/>
              <a:defRPr b="0" sz="1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1"/>
          <p:cNvSpPr/>
          <p:nvPr>
            <p:ph idx="2" type="pic"/>
          </p:nvPr>
        </p:nvSpPr>
        <p:spPr>
          <a:xfrm>
            <a:off x="866216" y="514350"/>
            <a:ext cx="6619200" cy="27306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866217" y="4025494"/>
            <a:ext cx="6619200" cy="3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78" name="Google Shape;78;p11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подпись">
  <p:cSld name="Заголовок и подпись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866215" y="1085850"/>
            <a:ext cx="6619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>
            <a:off x="866215" y="2743200"/>
            <a:ext cx="6619200" cy="17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84" name="Google Shape;84;p12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 с подписью">
  <p:cSld name="Цитата с подписью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181101" y="1085850"/>
            <a:ext cx="5999400" cy="17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" type="body"/>
          </p:nvPr>
        </p:nvSpPr>
        <p:spPr>
          <a:xfrm>
            <a:off x="1447800" y="2828381"/>
            <a:ext cx="5459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b="0" i="0" sz="1100" cap="small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90" name="Google Shape;90;p13"/>
          <p:cNvSpPr txBox="1"/>
          <p:nvPr>
            <p:ph idx="2" type="body"/>
          </p:nvPr>
        </p:nvSpPr>
        <p:spPr>
          <a:xfrm>
            <a:off x="866215" y="3262993"/>
            <a:ext cx="6619200" cy="125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91" name="Google Shape;91;p13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3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73721" y="728440"/>
            <a:ext cx="6015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95" name="Google Shape;95;p13"/>
          <p:cNvSpPr txBox="1"/>
          <p:nvPr/>
        </p:nvSpPr>
        <p:spPr>
          <a:xfrm>
            <a:off x="6997868" y="1960340"/>
            <a:ext cx="6015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" sz="9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Карточка имени">
  <p:cSld name="Карточка имени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866215" y="2343151"/>
            <a:ext cx="66192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Century Gothic"/>
              <a:buNone/>
              <a:defRPr b="0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" type="body"/>
          </p:nvPr>
        </p:nvSpPr>
        <p:spPr>
          <a:xfrm>
            <a:off x="866215" y="3583036"/>
            <a:ext cx="66192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98989"/>
                </a:solidFill>
              </a:defRPr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98989"/>
                </a:solidFill>
              </a:defRPr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98989"/>
                </a:solidFill>
              </a:defRPr>
            </a:lvl9pPr>
          </a:lstStyle>
          <a:p/>
        </p:txBody>
      </p:sp>
      <p:sp>
        <p:nvSpPr>
          <p:cNvPr id="99" name="Google Shape;99;p14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4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ри колонки">
  <p:cSld name="Три колонки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74710" y="1485900"/>
            <a:ext cx="2210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5" name="Google Shape;105;p15"/>
          <p:cNvSpPr txBox="1"/>
          <p:nvPr>
            <p:ph idx="2" type="body"/>
          </p:nvPr>
        </p:nvSpPr>
        <p:spPr>
          <a:xfrm>
            <a:off x="489347" y="2000250"/>
            <a:ext cx="21954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06" name="Google Shape;106;p15"/>
          <p:cNvSpPr txBox="1"/>
          <p:nvPr>
            <p:ph idx="3" type="body"/>
          </p:nvPr>
        </p:nvSpPr>
        <p:spPr>
          <a:xfrm>
            <a:off x="2912744" y="1485900"/>
            <a:ext cx="22023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7" name="Google Shape;107;p15"/>
          <p:cNvSpPr txBox="1"/>
          <p:nvPr>
            <p:ph idx="4" type="body"/>
          </p:nvPr>
        </p:nvSpPr>
        <p:spPr>
          <a:xfrm>
            <a:off x="2904830" y="2000250"/>
            <a:ext cx="22101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08" name="Google Shape;108;p15"/>
          <p:cNvSpPr txBox="1"/>
          <p:nvPr>
            <p:ph idx="5" type="body"/>
          </p:nvPr>
        </p:nvSpPr>
        <p:spPr>
          <a:xfrm>
            <a:off x="5343525" y="1485900"/>
            <a:ext cx="2199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09" name="Google Shape;109;p15"/>
          <p:cNvSpPr txBox="1"/>
          <p:nvPr>
            <p:ph idx="6" type="body"/>
          </p:nvPr>
        </p:nvSpPr>
        <p:spPr>
          <a:xfrm>
            <a:off x="5343525" y="2000250"/>
            <a:ext cx="2199000" cy="2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cxnSp>
        <p:nvCxnSpPr>
          <p:cNvPr id="110" name="Google Shape;110;p15"/>
          <p:cNvCxnSpPr/>
          <p:nvPr/>
        </p:nvCxnSpPr>
        <p:spPr>
          <a:xfrm>
            <a:off x="2794607" y="1600200"/>
            <a:ext cx="0" cy="2971800"/>
          </a:xfrm>
          <a:prstGeom prst="straightConnector1">
            <a:avLst/>
          </a:prstGeom>
          <a:noFill/>
          <a:ln cap="flat" cmpd="sng" w="12700">
            <a:solidFill>
              <a:schemeClr val="dk2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5"/>
          <p:cNvCxnSpPr/>
          <p:nvPr/>
        </p:nvCxnSpPr>
        <p:spPr>
          <a:xfrm>
            <a:off x="5221670" y="1600200"/>
            <a:ext cx="0" cy="2975100"/>
          </a:xfrm>
          <a:prstGeom prst="straightConnector1">
            <a:avLst/>
          </a:prstGeom>
          <a:noFill/>
          <a:ln cap="flat" cmpd="sng" w="12700">
            <a:solidFill>
              <a:schemeClr val="dk2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15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толбец с тремя рисунками">
  <p:cSld name="Столбец с тремя рисунками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Century Gothic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16"/>
          <p:cNvSpPr txBox="1"/>
          <p:nvPr>
            <p:ph idx="1" type="body"/>
          </p:nvPr>
        </p:nvSpPr>
        <p:spPr>
          <a:xfrm>
            <a:off x="489347" y="3188212"/>
            <a:ext cx="2205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18" name="Google Shape;118;p16"/>
          <p:cNvSpPr/>
          <p:nvPr>
            <p:ph idx="2" type="pic"/>
          </p:nvPr>
        </p:nvSpPr>
        <p:spPr>
          <a:xfrm>
            <a:off x="489347" y="1657350"/>
            <a:ext cx="2205000" cy="1143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19" name="Google Shape;119;p16"/>
          <p:cNvSpPr txBox="1"/>
          <p:nvPr>
            <p:ph idx="3" type="body"/>
          </p:nvPr>
        </p:nvSpPr>
        <p:spPr>
          <a:xfrm>
            <a:off x="489347" y="3620408"/>
            <a:ext cx="22050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20" name="Google Shape;120;p16"/>
          <p:cNvSpPr txBox="1"/>
          <p:nvPr>
            <p:ph idx="4" type="body"/>
          </p:nvPr>
        </p:nvSpPr>
        <p:spPr>
          <a:xfrm>
            <a:off x="2917031" y="3188212"/>
            <a:ext cx="21978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21" name="Google Shape;121;p16"/>
          <p:cNvSpPr/>
          <p:nvPr>
            <p:ph idx="5" type="pic"/>
          </p:nvPr>
        </p:nvSpPr>
        <p:spPr>
          <a:xfrm>
            <a:off x="2917031" y="1657350"/>
            <a:ext cx="2197800" cy="1143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2" name="Google Shape;122;p16"/>
          <p:cNvSpPr txBox="1"/>
          <p:nvPr>
            <p:ph idx="6" type="body"/>
          </p:nvPr>
        </p:nvSpPr>
        <p:spPr>
          <a:xfrm>
            <a:off x="2916017" y="3620407"/>
            <a:ext cx="22008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sp>
        <p:nvSpPr>
          <p:cNvPr id="123" name="Google Shape;123;p16"/>
          <p:cNvSpPr txBox="1"/>
          <p:nvPr>
            <p:ph idx="7" type="body"/>
          </p:nvPr>
        </p:nvSpPr>
        <p:spPr>
          <a:xfrm>
            <a:off x="5343525" y="3188212"/>
            <a:ext cx="21990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1400"/>
              <a:buNone/>
              <a:defRPr b="0" sz="1800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1200"/>
              <a:buNone/>
              <a:defRPr b="1" sz="15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124" name="Google Shape;124;p16"/>
          <p:cNvSpPr/>
          <p:nvPr>
            <p:ph idx="8" type="pic"/>
          </p:nvPr>
        </p:nvSpPr>
        <p:spPr>
          <a:xfrm>
            <a:off x="5343524" y="1657350"/>
            <a:ext cx="2199000" cy="1143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745"/>
              </a:srgbClr>
            </a:outerShdw>
          </a:effectLst>
        </p:spPr>
      </p:sp>
      <p:sp>
        <p:nvSpPr>
          <p:cNvPr id="125" name="Google Shape;125;p16"/>
          <p:cNvSpPr txBox="1"/>
          <p:nvPr>
            <p:ph idx="9" type="body"/>
          </p:nvPr>
        </p:nvSpPr>
        <p:spPr>
          <a:xfrm>
            <a:off x="5343431" y="3620406"/>
            <a:ext cx="22020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indent="-228600" lvl="1" marL="9144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indent="-228600" lvl="2" marL="1371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indent="-228600" lvl="4" marL="22860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indent="-228600" lvl="5" marL="27432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indent="-228600" lvl="6" marL="32004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indent="-228600" lvl="7" marL="3657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indent="-228600" lvl="8" marL="41148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/>
        </p:txBody>
      </p:sp>
      <p:cxnSp>
        <p:nvCxnSpPr>
          <p:cNvPr id="126" name="Google Shape;126;p16"/>
          <p:cNvCxnSpPr/>
          <p:nvPr/>
        </p:nvCxnSpPr>
        <p:spPr>
          <a:xfrm>
            <a:off x="2794607" y="1600200"/>
            <a:ext cx="0" cy="2971800"/>
          </a:xfrm>
          <a:prstGeom prst="straightConnector1">
            <a:avLst/>
          </a:prstGeom>
          <a:noFill/>
          <a:ln cap="flat" cmpd="sng" w="12700">
            <a:solidFill>
              <a:schemeClr val="dk2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16"/>
          <p:cNvCxnSpPr/>
          <p:nvPr/>
        </p:nvCxnSpPr>
        <p:spPr>
          <a:xfrm>
            <a:off x="5221670" y="1600200"/>
            <a:ext cx="0" cy="2975100"/>
          </a:xfrm>
          <a:prstGeom prst="straightConnector1">
            <a:avLst/>
          </a:prstGeom>
          <a:noFill/>
          <a:ln cap="flat" cmpd="sng" w="12700">
            <a:solidFill>
              <a:schemeClr val="dk2">
                <a:alpha val="400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16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16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16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1" type="body"/>
          </p:nvPr>
        </p:nvSpPr>
        <p:spPr>
          <a:xfrm rot="5400000">
            <a:off x="2609140" y="-241861"/>
            <a:ext cx="3146700" cy="67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17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 rot="5400000">
            <a:off x="4700560" y="1850110"/>
            <a:ext cx="43695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 rot="5400000">
            <a:off x="1259709" y="-104840"/>
            <a:ext cx="4026600" cy="5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indent="-298450" lvl="1" marL="914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8450" lvl="2" marL="1371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indent="-298450" lvl="3" marL="1828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indent="-298450" lvl="4" marL="22860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indent="-298450" lvl="5" marL="27432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indent="-298450" lvl="6" marL="32004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indent="-298450" lvl="7" marL="36576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indent="-298450" lvl="8" marL="411480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5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rtl="0">
              <a:spcBef>
                <a:spcPts val="800"/>
              </a:spcBef>
              <a:spcAft>
                <a:spcPts val="0"/>
              </a:spcAft>
              <a:buSzPts val="1200"/>
              <a:buChar char="►"/>
              <a:defRPr/>
            </a:lvl1pPr>
            <a:lvl2pPr indent="-298450" lvl="1" marL="914400" rtl="0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indent="-292100" lvl="2" marL="1371600" rtl="0">
              <a:spcBef>
                <a:spcPts val="800"/>
              </a:spcBef>
              <a:spcAft>
                <a:spcPts val="0"/>
              </a:spcAft>
              <a:buSzPts val="1000"/>
              <a:buChar char="►"/>
              <a:defRPr/>
            </a:lvl3pPr>
            <a:lvl4pPr indent="-279400" lvl="3" marL="18288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4pPr>
            <a:lvl5pPr indent="-279400" lvl="4" marL="22860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5pPr>
            <a:lvl6pPr indent="-279400" lvl="5" marL="27432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6pPr>
            <a:lvl7pPr indent="-279400" lvl="6" marL="32004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7pPr>
            <a:lvl8pPr indent="-279400" lvl="7" marL="36576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8pPr>
            <a:lvl9pPr indent="-279400" lvl="8" marL="4114800" rtl="0">
              <a:spcBef>
                <a:spcPts val="800"/>
              </a:spcBef>
              <a:spcAft>
                <a:spcPts val="0"/>
              </a:spcAft>
              <a:buSzPts val="800"/>
              <a:buChar char="►"/>
              <a:defRPr/>
            </a:lvl9pPr>
          </a:lstStyle>
          <a:p/>
        </p:txBody>
      </p:sp>
      <p:sp>
        <p:nvSpPr>
          <p:cNvPr id="146" name="Google Shape;146;p19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7.xml"/><Relationship Id="rId22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6.xml"/><Relationship Id="rId21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9.xml"/><Relationship Id="rId12" Type="http://schemas.openxmlformats.org/officeDocument/2006/relationships/slideLayout" Target="../slideLayouts/slideLayout8.xml"/><Relationship Id="rId23" Type="http://schemas.openxmlformats.org/officeDocument/2006/relationships/theme" Target="../theme/theme1.xml"/><Relationship Id="rId1" Type="http://schemas.openxmlformats.org/officeDocument/2006/relationships/image" Target="../media/image3.png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0.xml"/><Relationship Id="rId17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.xml"/><Relationship Id="rId19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.xml"/><Relationship Id="rId1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3.xml"/><Relationship Id="rId8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3613" r="0" t="0"/>
          <a:stretch/>
        </p:blipFill>
        <p:spPr>
          <a:xfrm>
            <a:off x="0" y="2002264"/>
            <a:ext cx="3027758" cy="3141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35640" r="0" t="0"/>
          <a:stretch/>
        </p:blipFill>
        <p:spPr>
          <a:xfrm>
            <a:off x="0" y="2169260"/>
            <a:ext cx="1141809" cy="17740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8;p1"/>
          <p:cNvSpPr/>
          <p:nvPr/>
        </p:nvSpPr>
        <p:spPr>
          <a:xfrm>
            <a:off x="6456759" y="1257300"/>
            <a:ext cx="2114700" cy="2114700"/>
          </a:xfrm>
          <a:prstGeom prst="ellipse">
            <a:avLst/>
          </a:prstGeom>
          <a:gradFill>
            <a:gsLst>
              <a:gs pos="0">
                <a:srgbClr val="FFFFFF">
                  <a:alpha val="6666"/>
                </a:srgbClr>
              </a:gs>
              <a:gs pos="36000">
                <a:srgbClr val="FFFFFF">
                  <a:alpha val="5882"/>
                </a:srgbClr>
              </a:gs>
              <a:gs pos="69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3">
            <a:alphaModFix/>
          </a:blip>
          <a:srcRect b="0" l="0" r="0" t="28812"/>
          <a:stretch/>
        </p:blipFill>
        <p:spPr>
          <a:xfrm>
            <a:off x="5999559" y="0"/>
            <a:ext cx="1202541" cy="856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4">
            <a:alphaModFix/>
          </a:blip>
          <a:srcRect b="23320" l="0" r="0" t="0"/>
          <a:stretch/>
        </p:blipFill>
        <p:spPr>
          <a:xfrm>
            <a:off x="6454408" y="4572000"/>
            <a:ext cx="7453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/>
          <p:nvPr/>
        </p:nvSpPr>
        <p:spPr>
          <a:xfrm>
            <a:off x="7828359" y="0"/>
            <a:ext cx="514500" cy="857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705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650"/>
              <a:buFont typeface="Century Gothic"/>
              <a:buNone/>
              <a:defRPr b="1" i="0" sz="265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827484" y="1539689"/>
            <a:ext cx="6709800" cy="31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04800" lvl="0" marL="4572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oto Sans Symbols"/>
              <a:buChar char="►"/>
              <a:defRPr b="0" i="0" sz="15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98450" lvl="1" marL="9144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2100" lvl="2" marL="13716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oto Sans Symbols"/>
              <a:buChar char="►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79400" lvl="3" marL="18288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79400" lvl="4" marL="22860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79400" lvl="5" marL="27432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79400" lvl="6" marL="32004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79400" lvl="7" marL="36576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79400" lvl="8" marL="4114800" marR="0" rtl="0" algn="l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oto Sans Symbols"/>
              <a:buChar char="►"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 rot="5400000">
            <a:off x="7616804" y="1342951"/>
            <a:ext cx="742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 rot="5400000">
            <a:off x="6713753" y="2418900"/>
            <a:ext cx="289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7764405" y="221797"/>
            <a:ext cx="6285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2100" u="none" cap="none" strike="noStrike">
                <a:solidFill>
                  <a:srgbClr val="898989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5"/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  <p:sldLayoutId id="2147483661" r:id="rId18"/>
    <p:sldLayoutId id="2147483662" r:id="rId19"/>
    <p:sldLayoutId id="2147483663" r:id="rId20"/>
    <p:sldLayoutId id="2147483664" r:id="rId21"/>
    <p:sldLayoutId id="2147483665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ctrTitle"/>
          </p:nvPr>
        </p:nvSpPr>
        <p:spPr>
          <a:xfrm>
            <a:off x="256050" y="266300"/>
            <a:ext cx="7229400" cy="1028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3250"/>
              <a:t>Арифметические команды</a:t>
            </a:r>
            <a:br>
              <a:rPr lang="ru" sz="3250"/>
            </a:br>
            <a:r>
              <a:rPr lang="ru" sz="3250"/>
              <a:t>MC68HC11</a:t>
            </a:r>
            <a:endParaRPr sz="3250"/>
          </a:p>
        </p:txBody>
      </p:sp>
      <p:sp>
        <p:nvSpPr>
          <p:cNvPr id="152" name="Google Shape;152;p20"/>
          <p:cNvSpPr txBox="1"/>
          <p:nvPr>
            <p:ph idx="12" type="sldNum"/>
          </p:nvPr>
        </p:nvSpPr>
        <p:spPr>
          <a:xfrm>
            <a:off x="7764400" y="151300"/>
            <a:ext cx="628500" cy="4962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3" name="Google Shape;153;p20"/>
          <p:cNvSpPr txBox="1"/>
          <p:nvPr>
            <p:ph idx="1" type="subTitle"/>
          </p:nvPr>
        </p:nvSpPr>
        <p:spPr>
          <a:xfrm>
            <a:off x="866216" y="3583035"/>
            <a:ext cx="6619200" cy="646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Язык ассемблера. Особенности, макросы, формат операторов, псевдокоманды.  Часть 1." id="154" name="Google Shape;15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8775" y="1505575"/>
            <a:ext cx="3512975" cy="2946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 txBox="1"/>
          <p:nvPr>
            <p:ph type="title"/>
          </p:nvPr>
        </p:nvSpPr>
        <p:spPr>
          <a:xfrm>
            <a:off x="311700" y="445025"/>
            <a:ext cx="8520600" cy="118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MC68HC11 - Reference Manual</a:t>
            </a:r>
            <a:br>
              <a:rPr lang="ru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500"/>
              <a:t>Arithmetic Operations - стр. 216</a:t>
            </a:r>
            <a:endParaRPr b="0" sz="1500"/>
          </a:p>
        </p:txBody>
      </p:sp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7225" y="1628150"/>
            <a:ext cx="3333075" cy="30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/>
          <p:nvPr>
            <p:ph idx="12" type="sldNum"/>
          </p:nvPr>
        </p:nvSpPr>
        <p:spPr>
          <a:xfrm>
            <a:off x="7764400" y="0"/>
            <a:ext cx="628500" cy="6753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67" name="Google Shape;16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250" y="1615975"/>
            <a:ext cx="8733851" cy="21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2"/>
          <p:cNvSpPr txBox="1"/>
          <p:nvPr/>
        </p:nvSpPr>
        <p:spPr>
          <a:xfrm>
            <a:off x="351550" y="388525"/>
            <a:ext cx="53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Арифметические кома</a:t>
            </a:r>
            <a:r>
              <a:rPr b="1" lang="ru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н</a:t>
            </a:r>
            <a:r>
              <a:rPr b="1" lang="ru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ды</a:t>
            </a:r>
            <a:endParaRPr b="1"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инкремента и декремента</a:t>
            </a:r>
            <a:endParaRPr b="1" sz="2650"/>
          </a:p>
        </p:txBody>
      </p:sp>
      <p:sp>
        <p:nvSpPr>
          <p:cNvPr id="174" name="Google Shape;174;p23"/>
          <p:cNvSpPr txBox="1"/>
          <p:nvPr>
            <p:ph idx="1" type="body"/>
          </p:nvPr>
        </p:nvSpPr>
        <p:spPr>
          <a:xfrm>
            <a:off x="311700" y="1400175"/>
            <a:ext cx="8520600" cy="801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INC</a:t>
            </a:r>
            <a:r>
              <a:rPr lang="ru"/>
              <a:t>,</a:t>
            </a:r>
            <a:r>
              <a:rPr b="1" lang="ru"/>
              <a:t> DEC</a:t>
            </a:r>
            <a:r>
              <a:rPr lang="ru"/>
              <a:t> я</a:t>
            </a:r>
            <a:r>
              <a:rPr lang="ru"/>
              <a:t>вляются простейшими арифметическими операциями и служат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соответственно для увеличения и уменьшения на единицу значения регистра ЭВМ или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ячейки памяти.</a:t>
            </a:r>
            <a:endParaRPr/>
          </a:p>
        </p:txBody>
      </p:sp>
      <p:sp>
        <p:nvSpPr>
          <p:cNvPr id="175" name="Google Shape;175;p23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6" name="Google Shape;176;p23"/>
          <p:cNvSpPr txBox="1"/>
          <p:nvPr/>
        </p:nvSpPr>
        <p:spPr>
          <a:xfrm>
            <a:off x="379275" y="2469975"/>
            <a:ext cx="5217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org $8000</a:t>
            </a:r>
            <a:endParaRPr b="1" sz="1500">
              <a:solidFill>
                <a:srgbClr val="00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LDAA #5		</a:t>
            </a:r>
            <a:r>
              <a:rPr b="1" lang="ru" sz="15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	загрузить значение в регистр A</a:t>
            </a:r>
            <a:endParaRPr b="1" sz="15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INCA</a:t>
            </a:r>
            <a:r>
              <a:rPr b="1" lang="ru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</a:t>
            </a:r>
            <a:r>
              <a:rPr b="1" lang="ru" sz="15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	инкремент A</a:t>
            </a:r>
            <a:endParaRPr b="1" sz="1500">
              <a:solidFill>
                <a:srgbClr val="18803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DECA</a:t>
            </a:r>
            <a:r>
              <a:rPr b="1" lang="ru" sz="15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	</a:t>
            </a:r>
            <a:r>
              <a:rPr b="1" lang="ru" sz="1500">
                <a:solidFill>
                  <a:srgbClr val="188038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;	декремент A</a:t>
            </a:r>
            <a:endParaRPr b="1" sz="15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6222925" y="2469975"/>
            <a:ext cx="2745300" cy="2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 main() {</a:t>
            </a:r>
            <a:endParaRPr b="1" sz="1500">
              <a:solidFill>
                <a:srgbClr val="00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int A = 5;</a:t>
            </a:r>
            <a:endParaRPr b="1" sz="1500">
              <a:solidFill>
                <a:srgbClr val="00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A++;</a:t>
            </a:r>
            <a:endParaRPr b="1" sz="1500">
              <a:solidFill>
                <a:srgbClr val="00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   A--;</a:t>
            </a:r>
            <a:endParaRPr b="1" sz="1500">
              <a:solidFill>
                <a:srgbClr val="00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0000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}</a:t>
            </a:r>
            <a:endParaRPr b="1" sz="1500">
              <a:solidFill>
                <a:srgbClr val="00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000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p23"/>
          <p:cNvSpPr/>
          <p:nvPr/>
        </p:nvSpPr>
        <p:spPr>
          <a:xfrm flipH="1">
            <a:off x="5745700" y="2201775"/>
            <a:ext cx="54600" cy="2784600"/>
          </a:xfrm>
          <a:prstGeom prst="rect">
            <a:avLst/>
          </a:prstGeom>
          <a:solidFill>
            <a:srgbClr val="171717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71717"/>
              </a:solidFill>
              <a:highlight>
                <a:srgbClr val="B7CDD7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4"/>
          <p:cNvSpPr txBox="1"/>
          <p:nvPr>
            <p:ph idx="1" type="body"/>
          </p:nvPr>
        </p:nvSpPr>
        <p:spPr>
          <a:xfrm>
            <a:off x="311700" y="962100"/>
            <a:ext cx="8520600" cy="360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 sz="1375"/>
              <a:t>В зависимости от типа операнда значение регистра статуса (</a:t>
            </a:r>
            <a:r>
              <a:rPr b="1" lang="ru" sz="1375"/>
              <a:t>CCR</a:t>
            </a:r>
            <a:r>
              <a:rPr lang="ru" sz="1375"/>
              <a:t>) после выполнения </a:t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 sz="1375"/>
              <a:t>команд может принимать различные значения. При работе с 8- разрядным </a:t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 sz="1375"/>
              <a:t>операндом команды инкремента и декремента влияют на флаги отрицательного</a:t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 sz="1375"/>
              <a:t>результата (</a:t>
            </a:r>
            <a:r>
              <a:rPr b="1" lang="ru" sz="1375"/>
              <a:t>N</a:t>
            </a:r>
            <a:r>
              <a:rPr lang="ru" sz="1375"/>
              <a:t>), нуля (</a:t>
            </a:r>
            <a:r>
              <a:rPr b="1" lang="ru" sz="1375"/>
              <a:t>Z</a:t>
            </a:r>
            <a:r>
              <a:rPr lang="ru" sz="1375"/>
              <a:t>) и переполнения (</a:t>
            </a:r>
            <a:r>
              <a:rPr b="1" lang="ru" sz="1375"/>
              <a:t>V</a:t>
            </a:r>
            <a:r>
              <a:rPr lang="ru" sz="1375"/>
              <a:t>).</a:t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>
                <a:solidFill>
                  <a:srgbClr val="0000FF"/>
                </a:solidFill>
              </a:rPr>
              <a:t> LDAA #127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>
                <a:solidFill>
                  <a:srgbClr val="0000FF"/>
                </a:solidFill>
              </a:rPr>
              <a:t> INCA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375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 sz="1375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 sz="1375"/>
              <a:t>Флаг отрицательного результата </a:t>
            </a:r>
            <a:r>
              <a:rPr b="1" lang="ru" sz="1375"/>
              <a:t>N</a:t>
            </a:r>
            <a:r>
              <a:rPr lang="ru" sz="1375"/>
              <a:t> будет установлен в 1</a:t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 sz="1375"/>
              <a:t>Флаг переполнения </a:t>
            </a:r>
            <a:r>
              <a:rPr b="1" lang="ru" sz="1375"/>
              <a:t>V </a:t>
            </a:r>
            <a:r>
              <a:rPr lang="ru" sz="1375"/>
              <a:t>будет установлен в 1</a:t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375"/>
          </a:p>
        </p:txBody>
      </p:sp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/>
          <p:nvPr>
            <p:ph idx="1" type="body"/>
          </p:nvPr>
        </p:nvSpPr>
        <p:spPr>
          <a:xfrm>
            <a:off x="311700" y="934350"/>
            <a:ext cx="8520600" cy="3987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375"/>
              <a:t>В случае если операндом является указатель стека, значение регистра статуса остается </a:t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375"/>
              <a:t>неизменным.</a:t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306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INS 		</a:t>
            </a:r>
            <a:r>
              <a:rPr b="1" lang="ru">
                <a:solidFill>
                  <a:srgbClr val="188038"/>
                </a:solidFill>
              </a:rPr>
              <a:t>;	инкремент SP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375"/>
              <a:t>При операциях с индексными регистрами команды инкремента и декремента влияют только </a:t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 sz="1375"/>
              <a:t>на флаг нуля (</a:t>
            </a:r>
            <a:r>
              <a:rPr b="1" lang="ru" sz="1375"/>
              <a:t>Z</a:t>
            </a:r>
            <a:r>
              <a:rPr lang="ru" sz="1375"/>
              <a:t>).</a:t>
            </a:r>
            <a:endParaRPr sz="1375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306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LDX #1</a:t>
            </a:r>
            <a:endParaRPr b="1">
              <a:solidFill>
                <a:srgbClr val="0000FF"/>
              </a:solidFill>
            </a:endParaRPr>
          </a:p>
          <a:p>
            <a:pPr indent="0" lvl="0" marL="306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DEX 		</a:t>
            </a:r>
            <a:r>
              <a:rPr b="1" lang="ru">
                <a:solidFill>
                  <a:srgbClr val="188038"/>
                </a:solidFill>
              </a:rPr>
              <a:t>;	декремент X</a:t>
            </a:r>
            <a:endParaRPr b="1">
              <a:solidFill>
                <a:srgbClr val="188038"/>
              </a:solidFill>
            </a:endParaRPr>
          </a:p>
          <a:p>
            <a:pPr indent="0" lvl="0" marL="306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5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NEGA, NEGB, N</a:t>
            </a:r>
            <a:r>
              <a:rPr lang="ru"/>
              <a:t>E</a:t>
            </a:r>
            <a:r>
              <a:rPr lang="ru"/>
              <a:t>G(opr)</a:t>
            </a:r>
            <a:endParaRPr b="1" sz="2650"/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311700" y="1668450"/>
            <a:ext cx="8520600" cy="2522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N</a:t>
            </a:r>
            <a:r>
              <a:rPr b="1" lang="ru"/>
              <a:t>EG</a:t>
            </a:r>
            <a:r>
              <a:rPr b="1" lang="ru"/>
              <a:t>A </a:t>
            </a:r>
            <a:r>
              <a:rPr lang="ru"/>
              <a:t>- </a:t>
            </a:r>
            <a:r>
              <a:rPr lang="ru"/>
              <a:t>Negative</a:t>
            </a:r>
            <a:r>
              <a:rPr lang="ru"/>
              <a:t> Accumulator </a:t>
            </a:r>
            <a:r>
              <a:rPr b="1" lang="ru"/>
              <a:t>A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NEGB </a:t>
            </a:r>
            <a:r>
              <a:rPr lang="ru"/>
              <a:t>- Negative Accumulator </a:t>
            </a:r>
            <a:r>
              <a:rPr b="1" lang="ru"/>
              <a:t>B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Команда </a:t>
            </a:r>
            <a:r>
              <a:rPr b="1" lang="ru"/>
              <a:t>NEG</a:t>
            </a:r>
            <a:r>
              <a:rPr lang="ru"/>
              <a:t> замещает операнд его двоичным дополнением. Инвертирует все биты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 в аккумуляторе и прибавляет 1 (двойное дополнение). Другими словами можно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сказать, что результатом операции является изменение знака числа, представленного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 дополнительном коде.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97" name="Google Shape;197;p26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org $8000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LDAA #8		</a:t>
            </a:r>
            <a:r>
              <a:rPr b="1" lang="ru">
                <a:solidFill>
                  <a:srgbClr val="188038"/>
                </a:solidFill>
              </a:rPr>
              <a:t>;	загрузить 8 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NEGA </a:t>
            </a:r>
            <a:r>
              <a:rPr b="1" lang="ru"/>
              <a:t>		</a:t>
            </a:r>
            <a:r>
              <a:rPr b="1" lang="ru">
                <a:solidFill>
                  <a:srgbClr val="188038"/>
                </a:solidFill>
              </a:rPr>
              <a:t>;	A = -A, результат -8</a:t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Загружаем в регистр </a:t>
            </a:r>
            <a:r>
              <a:rPr b="1" lang="ru"/>
              <a:t>A</a:t>
            </a:r>
            <a:r>
              <a:rPr lang="ru"/>
              <a:t> значение </a:t>
            </a:r>
            <a:r>
              <a:rPr b="1" lang="ru"/>
              <a:t>00001000 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команды </a:t>
            </a:r>
            <a:r>
              <a:rPr b="1" lang="ru"/>
              <a:t>NEGA</a:t>
            </a:r>
            <a:r>
              <a:rPr lang="ru"/>
              <a:t> значение в </a:t>
            </a:r>
            <a:r>
              <a:rPr b="1" lang="ru"/>
              <a:t>A</a:t>
            </a:r>
            <a:r>
              <a:rPr lang="ru"/>
              <a:t> станет </a:t>
            </a:r>
            <a:r>
              <a:rPr b="1" lang="ru"/>
              <a:t>11111000</a:t>
            </a:r>
            <a:endParaRPr b="1"/>
          </a:p>
        </p:txBody>
      </p:sp>
      <p:sp>
        <p:nvSpPr>
          <p:cNvPr id="203" name="Google Shape;203;p27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сравнения CMPA(opr), CMPB(opr)</a:t>
            </a:r>
            <a:endParaRPr b="1" sz="2650"/>
          </a:p>
        </p:txBody>
      </p:sp>
      <p:sp>
        <p:nvSpPr>
          <p:cNvPr id="209" name="Google Shape;209;p28"/>
          <p:cNvSpPr txBox="1"/>
          <p:nvPr>
            <p:ph idx="1" type="body"/>
          </p:nvPr>
        </p:nvSpPr>
        <p:spPr>
          <a:xfrm>
            <a:off x="311700" y="1668450"/>
            <a:ext cx="8520600" cy="3474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CMPA </a:t>
            </a:r>
            <a:r>
              <a:rPr lang="ru"/>
              <a:t>- Compare Accumulator </a:t>
            </a:r>
            <a:r>
              <a:rPr b="1" lang="ru"/>
              <a:t>A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CMPB </a:t>
            </a:r>
            <a:r>
              <a:rPr lang="ru"/>
              <a:t>- Compare Accumulator </a:t>
            </a:r>
            <a:r>
              <a:rPr b="1" lang="ru"/>
              <a:t>B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Команды сравнения используются при сравнении значения регистра со значением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ячейки памяти или регистра.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Фактически происходит операция вычитания ячейки памяти, указанной в качестве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операнда.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Команды не оказывают влияния на операнды, изменяется лишь регистр статуса. В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дальнейшем результат обычно используется командами перехода.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10" name="Google Shape;210;p28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LDAA #8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CMPA #9	</a:t>
            </a:r>
            <a:r>
              <a:rPr b="1" lang="ru">
                <a:solidFill>
                  <a:srgbClr val="188038"/>
                </a:solidFill>
              </a:rPr>
              <a:t>; 	сравнить A с 9</a:t>
            </a:r>
            <a:br>
              <a:rPr b="1" lang="ru">
                <a:solidFill>
                  <a:srgbClr val="188038"/>
                </a:solidFill>
              </a:rPr>
            </a:b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команды </a:t>
            </a:r>
            <a:r>
              <a:rPr b="1" lang="ru"/>
              <a:t>CMPA</a:t>
            </a:r>
            <a:r>
              <a:rPr lang="ru"/>
              <a:t> регистр </a:t>
            </a:r>
            <a:r>
              <a:rPr b="1" lang="ru"/>
              <a:t>A</a:t>
            </a:r>
            <a:r>
              <a:rPr lang="ru"/>
              <a:t> не изменится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Флаг отрицательного результата </a:t>
            </a:r>
            <a:r>
              <a:rPr b="1" lang="ru"/>
              <a:t>N</a:t>
            </a:r>
            <a:r>
              <a:rPr lang="ru"/>
              <a:t> будет установлен в </a:t>
            </a:r>
            <a:r>
              <a:rPr b="1" lang="ru"/>
              <a:t>1</a:t>
            </a:r>
            <a:endParaRPr b="1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935"/>
              <a:buFont typeface="Arial"/>
              <a:buNone/>
            </a:pPr>
            <a:r>
              <a:rPr lang="ru"/>
              <a:t>Carry flag </a:t>
            </a:r>
            <a:r>
              <a:rPr b="1" lang="ru"/>
              <a:t>C </a:t>
            </a:r>
            <a:r>
              <a:rPr lang="ru"/>
              <a:t>будет установлен в </a:t>
            </a:r>
            <a:r>
              <a:rPr b="1" lang="ru"/>
              <a:t>1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9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LDAA #8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CMPA #8	</a:t>
            </a:r>
            <a:r>
              <a:rPr b="1" lang="ru">
                <a:solidFill>
                  <a:srgbClr val="188038"/>
                </a:solidFill>
              </a:rPr>
              <a:t>; 	сравнить A с 8</a:t>
            </a:r>
            <a:br>
              <a:rPr b="1" lang="ru">
                <a:solidFill>
                  <a:srgbClr val="188038"/>
                </a:solidFill>
              </a:rPr>
            </a:b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После выполнения команды </a:t>
            </a:r>
            <a:r>
              <a:rPr b="1" lang="ru"/>
              <a:t>CMPA</a:t>
            </a:r>
            <a:r>
              <a:rPr lang="ru"/>
              <a:t> регистр </a:t>
            </a:r>
            <a:r>
              <a:rPr b="1" lang="ru"/>
              <a:t>A</a:t>
            </a:r>
            <a:r>
              <a:rPr lang="ru"/>
              <a:t> не изменится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Zero flag </a:t>
            </a:r>
            <a:r>
              <a:rPr b="1" lang="ru"/>
              <a:t>Z </a:t>
            </a:r>
            <a:r>
              <a:rPr lang="ru"/>
              <a:t>будет установлен в </a:t>
            </a:r>
            <a:r>
              <a:rPr b="1" lang="ru"/>
              <a:t>1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0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сравнения CBA, CPX, CPY</a:t>
            </a:r>
            <a:endParaRPr b="1" sz="2650"/>
          </a:p>
        </p:txBody>
      </p:sp>
      <p:sp>
        <p:nvSpPr>
          <p:cNvPr id="228" name="Google Shape;228;p31"/>
          <p:cNvSpPr txBox="1"/>
          <p:nvPr>
            <p:ph idx="1" type="body"/>
          </p:nvPr>
        </p:nvSpPr>
        <p:spPr>
          <a:xfrm>
            <a:off x="311700" y="1415400"/>
            <a:ext cx="8520600" cy="372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CBA</a:t>
            </a:r>
            <a:r>
              <a:rPr b="1" lang="ru"/>
              <a:t> </a:t>
            </a:r>
            <a:r>
              <a:rPr lang="ru"/>
              <a:t>(Compare A to B) - сравнивает аккумуляторы </a:t>
            </a:r>
            <a:r>
              <a:rPr b="1" lang="ru"/>
              <a:t>A</a:t>
            </a:r>
            <a:r>
              <a:rPr lang="ru"/>
              <a:t> и </a:t>
            </a:r>
            <a:r>
              <a:rPr b="1" lang="ru"/>
              <a:t>B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CPX</a:t>
            </a:r>
            <a:r>
              <a:rPr lang="ru"/>
              <a:t>  (Compare Index Register X) - сравнивает регистр </a:t>
            </a:r>
            <a:r>
              <a:rPr b="1" lang="ru"/>
              <a:t>X</a:t>
            </a:r>
            <a:r>
              <a:rPr lang="ru"/>
              <a:t> с заданным значением.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CPY</a:t>
            </a:r>
            <a:r>
              <a:rPr lang="ru"/>
              <a:t>  (Compare Index Register Y) - сравнивает регистр </a:t>
            </a:r>
            <a:r>
              <a:rPr b="1" lang="ru"/>
              <a:t>Y</a:t>
            </a:r>
            <a:r>
              <a:rPr lang="ru"/>
              <a:t> с заданным значением.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org $8000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LDAA #10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LDAB #10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CBA		</a:t>
            </a:r>
            <a:r>
              <a:rPr b="1" lang="ru">
                <a:solidFill>
                  <a:srgbClr val="188038"/>
                </a:solidFill>
              </a:rPr>
              <a:t>;</a:t>
            </a: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188038"/>
                </a:solidFill>
              </a:rPr>
              <a:t>сравнить A и B</a:t>
            </a:r>
            <a:br>
              <a:rPr b="1" lang="ru">
                <a:solidFill>
                  <a:srgbClr val="188038"/>
                </a:solidFill>
              </a:rPr>
            </a:b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Zero flag </a:t>
            </a:r>
            <a:r>
              <a:rPr b="1" lang="ru"/>
              <a:t>Z </a:t>
            </a:r>
            <a:r>
              <a:rPr lang="ru"/>
              <a:t>будет установлен в </a:t>
            </a:r>
            <a:r>
              <a:rPr b="1" lang="ru"/>
              <a:t>1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29" name="Google Shape;229;p31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сложения ADDA, ADDB</a:t>
            </a:r>
            <a:endParaRPr b="1" sz="2650"/>
          </a:p>
        </p:txBody>
      </p:sp>
      <p:sp>
        <p:nvSpPr>
          <p:cNvPr id="235" name="Google Shape;235;p32"/>
          <p:cNvSpPr txBox="1"/>
          <p:nvPr>
            <p:ph idx="1" type="body"/>
          </p:nvPr>
        </p:nvSpPr>
        <p:spPr>
          <a:xfrm>
            <a:off x="311700" y="1415400"/>
            <a:ext cx="8520600" cy="372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ADDA</a:t>
            </a:r>
            <a:r>
              <a:rPr b="1" lang="ru"/>
              <a:t> </a:t>
            </a:r>
            <a:r>
              <a:rPr lang="ru"/>
              <a:t>(</a:t>
            </a:r>
            <a:r>
              <a:rPr lang="ru"/>
              <a:t>Add to Accumulator A</a:t>
            </a:r>
            <a:r>
              <a:rPr lang="ru"/>
              <a:t>) - с</a:t>
            </a:r>
            <a:r>
              <a:rPr lang="ru"/>
              <a:t>кладывает операнд с аккумулятором </a:t>
            </a:r>
            <a:r>
              <a:rPr b="1" lang="ru"/>
              <a:t>A</a:t>
            </a:r>
            <a:r>
              <a:rPr lang="ru"/>
              <a:t> и сохраняет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результат в </a:t>
            </a:r>
            <a:r>
              <a:rPr b="1" lang="ru"/>
              <a:t>A</a:t>
            </a:r>
            <a:r>
              <a:rPr lang="ru"/>
              <a:t>.</a:t>
            </a:r>
            <a:br>
              <a:rPr lang="ru"/>
            </a:b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ADDB</a:t>
            </a:r>
            <a:r>
              <a:rPr lang="ru"/>
              <a:t>  (</a:t>
            </a:r>
            <a:r>
              <a:rPr lang="ru"/>
              <a:t>Add to Accumulator B</a:t>
            </a:r>
            <a:r>
              <a:rPr lang="ru"/>
              <a:t>) - с</a:t>
            </a:r>
            <a:r>
              <a:rPr lang="ru"/>
              <a:t>кладывает операнд с аккумулятором </a:t>
            </a:r>
            <a:r>
              <a:rPr b="1" lang="ru"/>
              <a:t>B</a:t>
            </a:r>
            <a:r>
              <a:rPr lang="ru"/>
              <a:t> и сохраняет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результат в </a:t>
            </a:r>
            <a:r>
              <a:rPr b="1" lang="ru"/>
              <a:t>B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LDAA #10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ADDA #1 	</a:t>
            </a:r>
            <a:r>
              <a:rPr b="1" lang="ru">
                <a:solidFill>
                  <a:srgbClr val="188038"/>
                </a:solidFill>
              </a:rPr>
              <a:t>;</a:t>
            </a: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188038"/>
                </a:solidFill>
              </a:rPr>
              <a:t>прибавить к </a:t>
            </a:r>
            <a:r>
              <a:rPr b="1" lang="ru">
                <a:solidFill>
                  <a:srgbClr val="188038"/>
                </a:solidFill>
              </a:rPr>
              <a:t>A 1, значение в A = 11</a:t>
            </a:r>
            <a:br>
              <a:rPr b="1" lang="ru">
                <a:solidFill>
                  <a:srgbClr val="188038"/>
                </a:solidFill>
              </a:rPr>
            </a:b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36" name="Google Shape;236;p32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3"/>
          <p:cNvSpPr txBox="1"/>
          <p:nvPr>
            <p:ph idx="1" type="body"/>
          </p:nvPr>
        </p:nvSpPr>
        <p:spPr>
          <a:xfrm>
            <a:off x="311700" y="1415400"/>
            <a:ext cx="8520600" cy="372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0000FF"/>
                </a:solidFill>
              </a:rPr>
              <a:t>LDAA #127</a:t>
            </a:r>
            <a:endParaRPr b="1">
              <a:solidFill>
                <a:srgbClr val="0000FF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0000FF"/>
                </a:solidFill>
              </a:rPr>
              <a:t>ADDA #1</a:t>
            </a:r>
            <a:r>
              <a:rPr b="1" lang="ru">
                <a:solidFill>
                  <a:srgbClr val="0000FF"/>
                </a:solidFill>
              </a:rPr>
              <a:t> 	</a:t>
            </a:r>
            <a:r>
              <a:rPr b="1" lang="ru">
                <a:solidFill>
                  <a:srgbClr val="188038"/>
                </a:solidFill>
              </a:rPr>
              <a:t>;</a:t>
            </a: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188038"/>
                </a:solidFill>
              </a:rPr>
              <a:t>прибавить к A 1, </a:t>
            </a:r>
            <a:endParaRPr b="1">
              <a:solidFill>
                <a:srgbClr val="188038"/>
              </a:solidFill>
            </a:endParaRPr>
          </a:p>
          <a:p>
            <a:pPr indent="417600" lvl="0" marL="41544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188038"/>
                </a:solidFill>
              </a:rPr>
              <a:t>; значение в A = -128 (signed decimal)</a:t>
            </a:r>
            <a:endParaRPr b="1">
              <a:solidFill>
                <a:srgbClr val="188038"/>
              </a:solidFill>
            </a:endParaRPr>
          </a:p>
          <a:p>
            <a:pPr indent="0" lvl="0" marL="324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Half carry flag (</a:t>
            </a:r>
            <a:r>
              <a:rPr b="1" lang="ru"/>
              <a:t>H</a:t>
            </a:r>
            <a:r>
              <a:rPr lang="ru"/>
              <a:t>) будет установлен в 1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Negative flag (</a:t>
            </a:r>
            <a:r>
              <a:rPr b="1" lang="ru"/>
              <a:t>N</a:t>
            </a:r>
            <a:r>
              <a:rPr lang="ru"/>
              <a:t>) будет установлен в 1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Overflow flag (</a:t>
            </a:r>
            <a:r>
              <a:rPr b="1" lang="ru"/>
              <a:t>V</a:t>
            </a:r>
            <a:r>
              <a:rPr lang="ru"/>
              <a:t>) будет установлен в 1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42" name="Google Shape;242;p33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сложения </a:t>
            </a:r>
            <a:r>
              <a:rPr lang="ru"/>
              <a:t>ADDD, ABA</a:t>
            </a:r>
            <a:endParaRPr b="1" sz="2650"/>
          </a:p>
        </p:txBody>
      </p:sp>
      <p:sp>
        <p:nvSpPr>
          <p:cNvPr id="248" name="Google Shape;248;p34"/>
          <p:cNvSpPr txBox="1"/>
          <p:nvPr>
            <p:ph idx="1" type="body"/>
          </p:nvPr>
        </p:nvSpPr>
        <p:spPr>
          <a:xfrm>
            <a:off x="311700" y="1415400"/>
            <a:ext cx="8520600" cy="372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ADDA </a:t>
            </a:r>
            <a:r>
              <a:rPr lang="ru"/>
              <a:t>(</a:t>
            </a:r>
            <a:r>
              <a:rPr lang="ru"/>
              <a:t>Add Double</a:t>
            </a:r>
            <a:r>
              <a:rPr lang="ru"/>
              <a:t>) - </a:t>
            </a:r>
            <a:r>
              <a:rPr lang="ru"/>
              <a:t>Складывает 16-битное значение с регистром </a:t>
            </a:r>
            <a:r>
              <a:rPr b="1" lang="ru"/>
              <a:t>D</a:t>
            </a:r>
            <a:r>
              <a:rPr lang="ru"/>
              <a:t> и сохраняет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результат в</a:t>
            </a:r>
            <a:r>
              <a:rPr b="1" lang="ru"/>
              <a:t> D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ABA</a:t>
            </a:r>
            <a:r>
              <a:rPr lang="ru"/>
              <a:t>  (</a:t>
            </a:r>
            <a:r>
              <a:rPr lang="ru"/>
              <a:t>Add B to A</a:t>
            </a:r>
            <a:r>
              <a:rPr lang="ru"/>
              <a:t>) - </a:t>
            </a:r>
            <a:r>
              <a:rPr lang="ru"/>
              <a:t>Складывает содержимое аккумулятора </a:t>
            </a:r>
            <a:r>
              <a:rPr b="1" lang="ru"/>
              <a:t>B</a:t>
            </a:r>
            <a:r>
              <a:rPr lang="ru"/>
              <a:t> с аккумулятором </a:t>
            </a:r>
            <a:r>
              <a:rPr b="1" lang="ru"/>
              <a:t>A</a:t>
            </a:r>
            <a:r>
              <a:rPr lang="ru"/>
              <a:t> и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сохраняет результат в </a:t>
            </a:r>
            <a:r>
              <a:rPr b="1" lang="ru"/>
              <a:t>A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306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org $8000</a:t>
            </a:r>
            <a:endParaRPr b="1">
              <a:solidFill>
                <a:srgbClr val="0000FF"/>
              </a:solidFill>
            </a:endParaRPr>
          </a:p>
          <a:p>
            <a:pPr indent="0" lvl="0" marL="306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LDAA #1</a:t>
            </a:r>
            <a:endParaRPr b="1">
              <a:solidFill>
                <a:srgbClr val="0000FF"/>
              </a:solidFill>
            </a:endParaRPr>
          </a:p>
          <a:p>
            <a:pPr indent="0" lvl="0" marL="306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LDAB #2</a:t>
            </a:r>
            <a:endParaRPr b="1">
              <a:solidFill>
                <a:srgbClr val="0000FF"/>
              </a:solidFill>
            </a:endParaRPr>
          </a:p>
          <a:p>
            <a:pPr indent="0" lvl="0" marL="306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ABA 	</a:t>
            </a:r>
            <a:r>
              <a:rPr b="1" lang="ru">
                <a:solidFill>
                  <a:srgbClr val="188038"/>
                </a:solidFill>
              </a:rPr>
              <a:t>;</a:t>
            </a: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188038"/>
                </a:solidFill>
              </a:rPr>
              <a:t>сложить A и B, результат - </a:t>
            </a:r>
            <a:r>
              <a:rPr b="1" lang="ru">
                <a:solidFill>
                  <a:srgbClr val="188038"/>
                </a:solidFill>
              </a:rPr>
              <a:t>значение в A = 3</a:t>
            </a:r>
            <a:br>
              <a:rPr b="1" lang="ru">
                <a:solidFill>
                  <a:srgbClr val="188038"/>
                </a:solidFill>
              </a:rPr>
            </a:b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49" name="Google Shape;249;p34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сложения ABX, ABY</a:t>
            </a:r>
            <a:endParaRPr b="1" sz="2650"/>
          </a:p>
        </p:txBody>
      </p:sp>
      <p:sp>
        <p:nvSpPr>
          <p:cNvPr id="255" name="Google Shape;255;p35"/>
          <p:cNvSpPr txBox="1"/>
          <p:nvPr>
            <p:ph idx="1" type="body"/>
          </p:nvPr>
        </p:nvSpPr>
        <p:spPr>
          <a:xfrm>
            <a:off x="311700" y="1415400"/>
            <a:ext cx="8520600" cy="372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ABX</a:t>
            </a:r>
            <a:r>
              <a:rPr b="1" lang="ru"/>
              <a:t> </a:t>
            </a:r>
            <a:r>
              <a:rPr lang="ru"/>
              <a:t>(</a:t>
            </a:r>
            <a:r>
              <a:rPr lang="ru"/>
              <a:t>Add B to X</a:t>
            </a:r>
            <a:r>
              <a:rPr lang="ru"/>
              <a:t>) - </a:t>
            </a:r>
            <a:r>
              <a:rPr lang="ru"/>
              <a:t>Добавляет содержимое аккумулятора </a:t>
            </a:r>
            <a:r>
              <a:rPr b="1" lang="ru"/>
              <a:t>B</a:t>
            </a:r>
            <a:r>
              <a:rPr lang="ru"/>
              <a:t> к регистру </a:t>
            </a:r>
            <a:r>
              <a:rPr b="1" lang="ru"/>
              <a:t>X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ABY</a:t>
            </a:r>
            <a:r>
              <a:rPr lang="ru"/>
              <a:t>  (</a:t>
            </a:r>
            <a:r>
              <a:rPr lang="ru"/>
              <a:t>Add B to Y</a:t>
            </a:r>
            <a:r>
              <a:rPr lang="ru"/>
              <a:t>) - </a:t>
            </a:r>
            <a:r>
              <a:rPr lang="ru"/>
              <a:t>Добавляет содержимое аккумулятора </a:t>
            </a:r>
            <a:r>
              <a:rPr b="1" lang="ru"/>
              <a:t>B</a:t>
            </a:r>
            <a:r>
              <a:rPr lang="ru"/>
              <a:t> к регистру </a:t>
            </a:r>
            <a:r>
              <a:rPr b="1" lang="ru"/>
              <a:t>Y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5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0000FF"/>
                </a:solidFill>
              </a:rPr>
              <a:t>org $8000</a:t>
            </a:r>
            <a:endParaRPr b="1">
              <a:solidFill>
                <a:srgbClr val="0000FF"/>
              </a:solidFill>
            </a:endParaRPr>
          </a:p>
          <a:p>
            <a:pPr indent="0" lvl="0" marL="25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LDX #32767</a:t>
            </a:r>
            <a:endParaRPr b="1">
              <a:solidFill>
                <a:srgbClr val="0000FF"/>
              </a:solidFill>
            </a:endParaRPr>
          </a:p>
          <a:p>
            <a:pPr indent="0" lvl="0" marL="25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LDAB #1</a:t>
            </a:r>
            <a:endParaRPr b="1">
              <a:solidFill>
                <a:srgbClr val="0000FF"/>
              </a:solidFill>
            </a:endParaRPr>
          </a:p>
          <a:p>
            <a:pPr indent="0" lvl="0" marL="25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ABX </a:t>
            </a:r>
            <a:r>
              <a:rPr b="1" lang="ru">
                <a:solidFill>
                  <a:srgbClr val="0000FF"/>
                </a:solidFill>
              </a:rPr>
              <a:t> 	</a:t>
            </a:r>
            <a:r>
              <a:rPr b="1" lang="ru">
                <a:solidFill>
                  <a:srgbClr val="188038"/>
                </a:solidFill>
              </a:rPr>
              <a:t>;</a:t>
            </a: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188038"/>
                </a:solidFill>
              </a:rPr>
              <a:t>прибавить к X значение B, результат - X = -32768 </a:t>
            </a:r>
            <a:br>
              <a:rPr b="1" lang="ru">
                <a:solidFill>
                  <a:srgbClr val="188038"/>
                </a:solidFill>
              </a:rPr>
            </a:b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56" name="Google Shape;256;p35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сложения ADCA, ADCB</a:t>
            </a:r>
            <a:endParaRPr b="1" sz="2650"/>
          </a:p>
        </p:txBody>
      </p:sp>
      <p:sp>
        <p:nvSpPr>
          <p:cNvPr id="262" name="Google Shape;262;p36"/>
          <p:cNvSpPr txBox="1"/>
          <p:nvPr>
            <p:ph idx="1" type="body"/>
          </p:nvPr>
        </p:nvSpPr>
        <p:spPr>
          <a:xfrm>
            <a:off x="311700" y="1415400"/>
            <a:ext cx="8520600" cy="372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ADCA</a:t>
            </a:r>
            <a:r>
              <a:rPr b="1" lang="ru"/>
              <a:t> </a:t>
            </a:r>
            <a:r>
              <a:rPr lang="ru"/>
              <a:t>(Add with Carry to Accumulator A) - </a:t>
            </a:r>
            <a:r>
              <a:rPr lang="ru"/>
              <a:t>выполняет сложение содержимого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аккумулятора </a:t>
            </a:r>
            <a:r>
              <a:rPr b="1" lang="ru"/>
              <a:t>A</a:t>
            </a:r>
            <a:r>
              <a:rPr lang="ru"/>
              <a:t> с указанным значением и флагом переноса (</a:t>
            </a:r>
            <a:r>
              <a:rPr b="1" lang="ru"/>
              <a:t>C</a:t>
            </a:r>
            <a:r>
              <a:rPr lang="ru"/>
              <a:t>).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Полезна для многобайтовых сложений.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ADCB</a:t>
            </a:r>
            <a:r>
              <a:rPr lang="ru"/>
              <a:t> (</a:t>
            </a:r>
            <a:r>
              <a:rPr lang="ru"/>
              <a:t>Add with Carry to Accumulator B</a:t>
            </a:r>
            <a:r>
              <a:rPr lang="ru"/>
              <a:t>) - </a:t>
            </a:r>
            <a:r>
              <a:rPr lang="ru"/>
              <a:t>аналогично </a:t>
            </a:r>
            <a:r>
              <a:rPr b="1" lang="ru"/>
              <a:t>ADCA</a:t>
            </a:r>
            <a:r>
              <a:rPr lang="ru"/>
              <a:t>, но применяется к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аккумулятору </a:t>
            </a:r>
            <a:r>
              <a:rPr b="1" lang="ru"/>
              <a:t>B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5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188038"/>
                </a:solidFill>
              </a:rPr>
              <a:t> </a:t>
            </a:r>
            <a:br>
              <a:rPr b="1" lang="ru">
                <a:solidFill>
                  <a:srgbClr val="188038"/>
                </a:solidFill>
              </a:rPr>
            </a:b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63" name="Google Shape;263;p36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ADCA</a:t>
            </a:r>
            <a:r>
              <a:rPr lang="ru"/>
              <a:t>:</a:t>
            </a:r>
            <a:endParaRPr/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org $8000</a:t>
            </a:r>
            <a:endParaRPr b="1">
              <a:solidFill>
                <a:srgbClr val="0000FF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LDAA #10 		</a:t>
            </a:r>
            <a:r>
              <a:rPr b="1" lang="ru">
                <a:solidFill>
                  <a:srgbClr val="188038"/>
                </a:solidFill>
              </a:rPr>
              <a:t>;</a:t>
            </a: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188038"/>
                </a:solidFill>
              </a:rPr>
              <a:t>Загрузить 10 в аккумулятор A</a:t>
            </a:r>
            <a:endParaRPr b="1">
              <a:solidFill>
                <a:srgbClr val="188038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ADCA #1		</a:t>
            </a:r>
            <a:r>
              <a:rPr b="1" lang="ru">
                <a:solidFill>
                  <a:srgbClr val="188038"/>
                </a:solidFill>
              </a:rPr>
              <a:t>; Добавить 1 к аккумулятору A с учетом флага C</a:t>
            </a:r>
            <a:br>
              <a:rPr b="1" lang="ru">
                <a:solidFill>
                  <a:srgbClr val="188038"/>
                </a:solidFill>
              </a:rPr>
            </a:b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Если флаг переноса </a:t>
            </a:r>
            <a:r>
              <a:rPr b="1" lang="ru"/>
              <a:t>C</a:t>
            </a:r>
            <a:r>
              <a:rPr lang="ru"/>
              <a:t> установлен в </a:t>
            </a:r>
            <a:r>
              <a:rPr b="1" lang="ru"/>
              <a:t>1</a:t>
            </a:r>
            <a:r>
              <a:rPr lang="ru"/>
              <a:t>, то результат - </a:t>
            </a:r>
            <a:r>
              <a:rPr b="1" lang="ru"/>
              <a:t>A</a:t>
            </a:r>
            <a:r>
              <a:rPr lang="ru"/>
              <a:t> = </a:t>
            </a:r>
            <a:r>
              <a:rPr b="1" lang="ru"/>
              <a:t>12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Если не установлен, то результат - </a:t>
            </a:r>
            <a:r>
              <a:rPr b="1" lang="ru"/>
              <a:t>A</a:t>
            </a:r>
            <a:r>
              <a:rPr lang="ru"/>
              <a:t> = </a:t>
            </a:r>
            <a:r>
              <a:rPr b="1" lang="ru"/>
              <a:t>11</a:t>
            </a:r>
            <a:endParaRPr/>
          </a:p>
        </p:txBody>
      </p:sp>
      <p:sp>
        <p:nvSpPr>
          <p:cNvPr id="269" name="Google Shape;269;p37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Многобайтовые вычисления </a:t>
            </a:r>
            <a:endParaRPr b="1" sz="2650"/>
          </a:p>
        </p:txBody>
      </p:sp>
      <p:sp>
        <p:nvSpPr>
          <p:cNvPr id="275" name="Google Shape;275;p38"/>
          <p:cNvSpPr txBox="1"/>
          <p:nvPr>
            <p:ph idx="1" type="body"/>
          </p:nvPr>
        </p:nvSpPr>
        <p:spPr>
          <a:xfrm>
            <a:off x="311700" y="1119350"/>
            <a:ext cx="8520600" cy="402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Арифметические</a:t>
            </a:r>
            <a:r>
              <a:rPr lang="ru"/>
              <a:t> операции с переносом (</a:t>
            </a:r>
            <a:r>
              <a:rPr b="1" lang="ru"/>
              <a:t>ADCA, ADCB, SBCA, SBCB</a:t>
            </a:r>
            <a:r>
              <a:rPr lang="ru"/>
              <a:t>) позволяют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выполнять сложение и вычитание многобайтных целых чисел, длина которых больше, 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чем разрядность регистров процессора. 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Принцип программирования таких операций очень прост — длинные числа 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складываются (вычитаются) по частям. 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Младшие разряды складываются(вычитаются) с помощью обычных команд </a:t>
            </a:r>
            <a:r>
              <a:rPr b="1" lang="ru"/>
              <a:t>ADDA</a:t>
            </a:r>
            <a:r>
              <a:rPr lang="ru"/>
              <a:t>/</a:t>
            </a:r>
            <a:r>
              <a:rPr b="1" lang="ru"/>
              <a:t>ABA</a:t>
            </a:r>
            <a:r>
              <a:rPr lang="ru"/>
              <a:t> 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и </a:t>
            </a:r>
            <a:r>
              <a:rPr b="1" lang="ru"/>
              <a:t>SUBA</a:t>
            </a:r>
            <a:r>
              <a:rPr lang="ru"/>
              <a:t>/</a:t>
            </a:r>
            <a:r>
              <a:rPr b="1" lang="ru"/>
              <a:t>SBA</a:t>
            </a:r>
            <a:r>
              <a:rPr lang="ru"/>
              <a:t>, а затем последовательно складываются(вычитаются) более старшие 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части с помощью команд </a:t>
            </a:r>
            <a:r>
              <a:rPr b="1" lang="ru"/>
              <a:t>ADCA</a:t>
            </a:r>
            <a:r>
              <a:rPr lang="ru"/>
              <a:t> и </a:t>
            </a:r>
            <a:r>
              <a:rPr b="1" lang="ru"/>
              <a:t>SBCA</a:t>
            </a:r>
            <a:r>
              <a:rPr lang="ru"/>
              <a:t>. Так как эти команды учитывают перенос из 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старшего разряда, то мы можем быть уверены, что ни один бит не потеряется.</a:t>
            </a:r>
            <a:endParaRPr/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Этот способ похож на сложение(вычитание) десятичных чисел в столбик.</a:t>
            </a:r>
            <a:endParaRPr/>
          </a:p>
        </p:txBody>
      </p:sp>
      <p:sp>
        <p:nvSpPr>
          <p:cNvPr id="276" name="Google Shape;276;p38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Многобайтовые вычисления </a:t>
            </a:r>
            <a:r>
              <a:rPr lang="ru">
                <a:solidFill>
                  <a:schemeClr val="lt1"/>
                </a:solidFill>
              </a:rPr>
              <a:t>(test slide)</a:t>
            </a:r>
            <a:endParaRPr b="1" sz="2650"/>
          </a:p>
        </p:txBody>
      </p:sp>
      <p:sp>
        <p:nvSpPr>
          <p:cNvPr id="282" name="Google Shape;282;p39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83" name="Google Shape;283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300" y="1470650"/>
            <a:ext cx="8031400" cy="30067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4" name="Google Shape;284;p39"/>
          <p:cNvSpPr/>
          <p:nvPr/>
        </p:nvSpPr>
        <p:spPr>
          <a:xfrm>
            <a:off x="869575" y="2507000"/>
            <a:ext cx="721500" cy="572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000">
                <a:latin typeface="Century Gothic"/>
                <a:ea typeface="Century Gothic"/>
                <a:cs typeface="Century Gothic"/>
                <a:sym typeface="Century Gothic"/>
              </a:rPr>
              <a:t>+</a:t>
            </a:r>
            <a:endParaRPr b="1" sz="2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5" name="Google Shape;285;p39"/>
          <p:cNvSpPr txBox="1"/>
          <p:nvPr/>
        </p:nvSpPr>
        <p:spPr>
          <a:xfrm>
            <a:off x="804825" y="3681875"/>
            <a:ext cx="333000" cy="34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sz="1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Многобайтовые вычисления </a:t>
            </a:r>
            <a:endParaRPr b="1" sz="2650"/>
          </a:p>
        </p:txBody>
      </p:sp>
      <p:sp>
        <p:nvSpPr>
          <p:cNvPr id="291" name="Google Shape;291;p40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2" name="Google Shape;29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500" y="915850"/>
            <a:ext cx="3580100" cy="40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0"/>
          <p:cNvSpPr/>
          <p:nvPr/>
        </p:nvSpPr>
        <p:spPr>
          <a:xfrm>
            <a:off x="3015775" y="1526400"/>
            <a:ext cx="548700" cy="434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Century Gothic"/>
                <a:ea typeface="Century Gothic"/>
                <a:cs typeface="Century Gothic"/>
                <a:sym typeface="Century Gothic"/>
              </a:rPr>
              <a:t>ABA</a:t>
            </a:r>
            <a:endParaRPr b="1" sz="1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4" name="Google Shape;294;p40"/>
          <p:cNvSpPr/>
          <p:nvPr/>
        </p:nvSpPr>
        <p:spPr>
          <a:xfrm>
            <a:off x="3015775" y="3510475"/>
            <a:ext cx="693900" cy="4347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latin typeface="Century Gothic"/>
                <a:ea typeface="Century Gothic"/>
                <a:cs typeface="Century Gothic"/>
                <a:sym typeface="Century Gothic"/>
              </a:rPr>
              <a:t>ADCA</a:t>
            </a:r>
            <a:endParaRPr b="1" sz="13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5" name="Google Shape;295;p40"/>
          <p:cNvSpPr txBox="1"/>
          <p:nvPr/>
        </p:nvSpPr>
        <p:spPr>
          <a:xfrm>
            <a:off x="3015775" y="4412700"/>
            <a:ext cx="333000" cy="34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6" name="Google Shape;296;p40"/>
          <p:cNvSpPr txBox="1"/>
          <p:nvPr/>
        </p:nvSpPr>
        <p:spPr>
          <a:xfrm>
            <a:off x="5295875" y="3945175"/>
            <a:ext cx="333000" cy="34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7" name="Google Shape;297;p40"/>
          <p:cNvSpPr txBox="1"/>
          <p:nvPr/>
        </p:nvSpPr>
        <p:spPr>
          <a:xfrm>
            <a:off x="3015775" y="2229450"/>
            <a:ext cx="333000" cy="34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endParaRPr b="1" sz="11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Многобайтовые вычисления </a:t>
            </a:r>
            <a:endParaRPr b="1" sz="2650"/>
          </a:p>
        </p:txBody>
      </p:sp>
      <p:sp>
        <p:nvSpPr>
          <p:cNvPr id="303" name="Google Shape;303;p41"/>
          <p:cNvSpPr txBox="1"/>
          <p:nvPr>
            <p:ph idx="1" type="body"/>
          </p:nvPr>
        </p:nvSpPr>
        <p:spPr>
          <a:xfrm>
            <a:off x="311700" y="1119350"/>
            <a:ext cx="8520600" cy="402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889">
                <a:solidFill>
                  <a:srgbClr val="0000FF"/>
                </a:solidFill>
              </a:rPr>
              <a:t> </a:t>
            </a:r>
            <a:r>
              <a:rPr b="1" lang="ru" sz="2889">
                <a:solidFill>
                  <a:srgbClr val="0000FF"/>
                </a:solidFill>
              </a:rPr>
              <a:t>ORG 8000      	</a:t>
            </a:r>
            <a:r>
              <a:rPr b="1" lang="ru" sz="2889">
                <a:solidFill>
                  <a:srgbClr val="188038"/>
                </a:solidFill>
              </a:rPr>
              <a:t>; Указывает начальный адрес программы</a:t>
            </a:r>
            <a:endParaRPr b="1" sz="2889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889">
                <a:solidFill>
                  <a:srgbClr val="0000FF"/>
                </a:solidFill>
              </a:rPr>
              <a:t> LDX #$1eec    	</a:t>
            </a:r>
            <a:r>
              <a:rPr b="1" lang="ru" sz="2889">
                <a:solidFill>
                  <a:srgbClr val="188038"/>
                </a:solidFill>
              </a:rPr>
              <a:t>; Загружает значение $1eec в регистр X</a:t>
            </a:r>
            <a:endParaRPr b="1" sz="2889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889">
                <a:solidFill>
                  <a:srgbClr val="0000FF"/>
                </a:solidFill>
              </a:rPr>
              <a:t> LDY #$fffa    	</a:t>
            </a:r>
            <a:r>
              <a:rPr b="1" lang="ru" sz="2889">
                <a:solidFill>
                  <a:srgbClr val="188038"/>
                </a:solidFill>
              </a:rPr>
              <a:t>; Загружает значение $fffa в регистр Y</a:t>
            </a:r>
            <a:endParaRPr b="1" sz="2889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889">
                <a:solidFill>
                  <a:srgbClr val="0000FF"/>
                </a:solidFill>
              </a:rPr>
              <a:t> STX $1        	</a:t>
            </a:r>
            <a:r>
              <a:rPr b="1" lang="ru" sz="2889">
                <a:solidFill>
                  <a:srgbClr val="188038"/>
                </a:solidFill>
              </a:rPr>
              <a:t>; Сохраняет значение регистра X по адресу $1</a:t>
            </a:r>
            <a:endParaRPr b="1" sz="2889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889">
                <a:solidFill>
                  <a:srgbClr val="0000FF"/>
                </a:solidFill>
              </a:rPr>
              <a:t> STY $3        	</a:t>
            </a:r>
            <a:r>
              <a:rPr b="1" lang="ru" sz="2889">
                <a:solidFill>
                  <a:srgbClr val="188038"/>
                </a:solidFill>
              </a:rPr>
              <a:t>; Сохраняет значение регистра Y по адресу $3</a:t>
            </a:r>
            <a:endParaRPr b="1" sz="2889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889">
                <a:solidFill>
                  <a:srgbClr val="0000FF"/>
                </a:solidFill>
              </a:rPr>
              <a:t> LDAA $2       	</a:t>
            </a:r>
            <a:r>
              <a:rPr b="1" lang="ru" sz="2889">
                <a:solidFill>
                  <a:srgbClr val="188038"/>
                </a:solidFill>
              </a:rPr>
              <a:t>; Загружает значение из адреса $2 в регистр A</a:t>
            </a:r>
            <a:endParaRPr b="1" sz="2889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889">
                <a:solidFill>
                  <a:srgbClr val="0000FF"/>
                </a:solidFill>
              </a:rPr>
              <a:t> LDAB $4       	</a:t>
            </a:r>
            <a:r>
              <a:rPr b="1" lang="ru" sz="2889">
                <a:solidFill>
                  <a:srgbClr val="188038"/>
                </a:solidFill>
              </a:rPr>
              <a:t>; Загружает значение из адреса $4 в регистр B</a:t>
            </a:r>
            <a:endParaRPr b="1" sz="2889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889">
                <a:solidFill>
                  <a:srgbClr val="0000FF"/>
                </a:solidFill>
              </a:rPr>
              <a:t> ABA          		</a:t>
            </a:r>
            <a:r>
              <a:rPr b="1" lang="ru" sz="2889">
                <a:solidFill>
                  <a:srgbClr val="188038"/>
                </a:solidFill>
              </a:rPr>
              <a:t>; Складывает содержимое регистров A и B,    результат в регистре A</a:t>
            </a:r>
            <a:endParaRPr b="1" sz="2889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889">
                <a:solidFill>
                  <a:srgbClr val="0000FF"/>
                </a:solidFill>
              </a:rPr>
              <a:t> STAA $22     </a:t>
            </a:r>
            <a:r>
              <a:rPr b="1" lang="ru" sz="2889">
                <a:solidFill>
                  <a:srgbClr val="188038"/>
                </a:solidFill>
              </a:rPr>
              <a:t> 	; Сохраняет значение регистра A по адресу $22</a:t>
            </a:r>
            <a:endParaRPr b="1" sz="2889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889">
                <a:solidFill>
                  <a:srgbClr val="0000FF"/>
                </a:solidFill>
              </a:rPr>
              <a:t> LDAA #0       	</a:t>
            </a:r>
            <a:r>
              <a:rPr b="1" lang="ru" sz="2889">
                <a:solidFill>
                  <a:srgbClr val="188038"/>
                </a:solidFill>
              </a:rPr>
              <a:t>; Загружает значение 0 в регистр A</a:t>
            </a:r>
            <a:endParaRPr b="1" sz="2889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889">
                <a:solidFill>
                  <a:srgbClr val="0000FF"/>
                </a:solidFill>
              </a:rPr>
              <a:t> ADCA #0      	</a:t>
            </a:r>
            <a:r>
              <a:rPr b="1" lang="ru" sz="2889">
                <a:solidFill>
                  <a:srgbClr val="188038"/>
                </a:solidFill>
              </a:rPr>
              <a:t>; Складывает содержимое регистра A с 0, с учетом флага переноса</a:t>
            </a:r>
            <a:endParaRPr b="1" sz="2889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 sz="2889">
                <a:solidFill>
                  <a:srgbClr val="0000FF"/>
                </a:solidFill>
              </a:rPr>
              <a:t> STAA $21     	</a:t>
            </a:r>
            <a:r>
              <a:rPr b="1" lang="ru" sz="2889">
                <a:solidFill>
                  <a:srgbClr val="188038"/>
                </a:solidFill>
              </a:rPr>
              <a:t>; Сохраняет значение регистра A по адресу $21</a:t>
            </a:r>
            <a:endParaRPr b="1" sz="2889">
              <a:solidFill>
                <a:srgbClr val="188038"/>
              </a:solidFill>
            </a:endParaRPr>
          </a:p>
          <a:p>
            <a:pPr indent="0" lvl="0" marL="0" rtl="0" algn="just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41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DAA</a:t>
            </a:r>
            <a:endParaRPr b="1" sz="2650"/>
          </a:p>
        </p:txBody>
      </p:sp>
      <p:sp>
        <p:nvSpPr>
          <p:cNvPr id="310" name="Google Shape;310;p42"/>
          <p:cNvSpPr txBox="1"/>
          <p:nvPr>
            <p:ph idx="1" type="body"/>
          </p:nvPr>
        </p:nvSpPr>
        <p:spPr>
          <a:xfrm>
            <a:off x="311700" y="1415400"/>
            <a:ext cx="8520600" cy="372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DAA</a:t>
            </a:r>
            <a:r>
              <a:rPr b="1" lang="ru"/>
              <a:t> </a:t>
            </a:r>
            <a:r>
              <a:rPr lang="ru"/>
              <a:t>(</a:t>
            </a:r>
            <a:r>
              <a:rPr lang="ru"/>
              <a:t>Decimal Adjust for Addition</a:t>
            </a:r>
            <a:r>
              <a:rPr lang="ru"/>
              <a:t>) - </a:t>
            </a:r>
            <a:r>
              <a:rPr lang="ru"/>
              <a:t>корректирует результат сложения в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аккумуляторе </a:t>
            </a:r>
            <a:r>
              <a:rPr b="1" lang="ru"/>
              <a:t>A</a:t>
            </a:r>
            <a:r>
              <a:rPr lang="ru"/>
              <a:t> для представления в формате двоично-десятичного кода (</a:t>
            </a:r>
            <a:r>
              <a:rPr b="1" lang="ru"/>
              <a:t>BCD</a:t>
            </a:r>
            <a:r>
              <a:rPr lang="ru"/>
              <a:t> -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binary-coded decimal). Используется после сложения чисел в формате </a:t>
            </a:r>
            <a:r>
              <a:rPr b="1" lang="ru"/>
              <a:t>BCD</a:t>
            </a:r>
            <a:r>
              <a:rPr lang="ru"/>
              <a:t>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LDAA #15   		</a:t>
            </a:r>
            <a:r>
              <a:rPr b="1" lang="ru">
                <a:solidFill>
                  <a:srgbClr val="188038"/>
                </a:solidFill>
              </a:rPr>
              <a:t>; Загрузить 15 в аккумулятор A</a:t>
            </a:r>
            <a:endParaRPr b="1">
              <a:solidFill>
                <a:srgbClr val="188038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ADDA #27   		</a:t>
            </a:r>
            <a:r>
              <a:rPr b="1" lang="ru">
                <a:solidFill>
                  <a:srgbClr val="188038"/>
                </a:solidFill>
              </a:rPr>
              <a:t>; Добавить 27 к аккумулятору A</a:t>
            </a:r>
            <a:endParaRPr b="1">
              <a:solidFill>
                <a:srgbClr val="188038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DAA        		</a:t>
            </a:r>
            <a:r>
              <a:rPr b="1" lang="ru">
                <a:solidFill>
                  <a:srgbClr val="188038"/>
                </a:solidFill>
              </a:rPr>
              <a:t>; Корректировка для BCD</a:t>
            </a:r>
            <a:endParaRPr b="1">
              <a:solidFill>
                <a:srgbClr val="188038"/>
              </a:solidFill>
            </a:endParaRPr>
          </a:p>
          <a:p>
            <a:pPr indent="457200" lvl="0" marL="2743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188038"/>
                </a:solidFill>
              </a:rPr>
              <a:t>; Результат в A: 48</a:t>
            </a:r>
            <a:endParaRPr b="1">
              <a:solidFill>
                <a:srgbClr val="188038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25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188038"/>
                </a:solidFill>
              </a:rPr>
              <a:t> </a:t>
            </a:r>
            <a:br>
              <a:rPr b="1" lang="ru">
                <a:solidFill>
                  <a:srgbClr val="188038"/>
                </a:solidFill>
              </a:rPr>
            </a:b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11" name="Google Shape;311;p42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3"/>
          <p:cNvSpPr txBox="1"/>
          <p:nvPr>
            <p:ph idx="1" type="body"/>
          </p:nvPr>
        </p:nvSpPr>
        <p:spPr>
          <a:xfrm>
            <a:off x="311700" y="1063850"/>
            <a:ext cx="8520600" cy="4079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Фактически команда </a:t>
            </a:r>
            <a:r>
              <a:rPr b="1" lang="ru"/>
              <a:t>DAA</a:t>
            </a:r>
            <a:r>
              <a:rPr lang="ru"/>
              <a:t> после команд сложения действует следующим образом: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1) если содержимое младшей тетрады аккумулятора больше </a:t>
            </a:r>
            <a:r>
              <a:rPr b="1" lang="ru"/>
              <a:t>9</a:t>
            </a:r>
            <a:r>
              <a:rPr lang="ru"/>
              <a:t> или флаг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полупереноса </a:t>
            </a:r>
            <a:r>
              <a:rPr b="1" lang="ru"/>
              <a:t>Н</a:t>
            </a:r>
            <a:r>
              <a:rPr lang="ru"/>
              <a:t> установлен в </a:t>
            </a:r>
            <a:r>
              <a:rPr b="1" lang="ru"/>
              <a:t>«1»</a:t>
            </a:r>
            <a:r>
              <a:rPr lang="ru"/>
              <a:t>, то к аккумулятору добавляется число </a:t>
            </a:r>
            <a:r>
              <a:rPr b="1" lang="ru"/>
              <a:t>6</a:t>
            </a:r>
            <a:r>
              <a:rPr lang="ru"/>
              <a:t>;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2) если содержимое старшей тетрады аккумулятора стало после этого более </a:t>
            </a:r>
            <a:r>
              <a:rPr b="1" lang="ru"/>
              <a:t>9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или установлен флаг переноса, то число </a:t>
            </a:r>
            <a:r>
              <a:rPr b="1" lang="ru"/>
              <a:t>6</a:t>
            </a:r>
            <a:r>
              <a:rPr lang="ru"/>
              <a:t> добавляется и к старшей тетраде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аккумулятора.</a:t>
            </a:r>
            <a:endParaRPr b="1"/>
          </a:p>
        </p:txBody>
      </p:sp>
      <p:sp>
        <p:nvSpPr>
          <p:cNvPr id="317" name="Google Shape;317;p43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вычитания SUBA, SUBB, SUBD</a:t>
            </a:r>
            <a:endParaRPr b="1" sz="2650"/>
          </a:p>
        </p:txBody>
      </p:sp>
      <p:sp>
        <p:nvSpPr>
          <p:cNvPr id="323" name="Google Shape;323;p44"/>
          <p:cNvSpPr txBox="1"/>
          <p:nvPr>
            <p:ph idx="1" type="body"/>
          </p:nvPr>
        </p:nvSpPr>
        <p:spPr>
          <a:xfrm>
            <a:off x="166525" y="1415400"/>
            <a:ext cx="8797500" cy="372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8"/>
              <a:buNone/>
            </a:pPr>
            <a:r>
              <a:rPr b="1" lang="ru" sz="1487"/>
              <a:t>SUBA</a:t>
            </a:r>
            <a:r>
              <a:rPr b="1" lang="ru" sz="1487"/>
              <a:t> </a:t>
            </a:r>
            <a:r>
              <a:rPr lang="ru" sz="1487"/>
              <a:t>(Subtract From Accumulator A) - </a:t>
            </a:r>
            <a:r>
              <a:rPr lang="ru" sz="1487"/>
              <a:t>Вычитает содержимое регистра или памяти из регистра </a:t>
            </a:r>
            <a:r>
              <a:rPr b="1" lang="ru" sz="1487"/>
              <a:t>A</a:t>
            </a:r>
            <a:r>
              <a:rPr lang="ru" sz="1487"/>
              <a:t>.</a:t>
            </a:r>
            <a:endParaRPr sz="1487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87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8"/>
              <a:buNone/>
            </a:pPr>
            <a:r>
              <a:rPr b="1" lang="ru" sz="1487"/>
              <a:t>SUBB</a:t>
            </a:r>
            <a:r>
              <a:rPr lang="ru" sz="1487"/>
              <a:t>  (</a:t>
            </a:r>
            <a:r>
              <a:rPr lang="ru" sz="1487"/>
              <a:t>Subtract From Accumulator B</a:t>
            </a:r>
            <a:r>
              <a:rPr lang="ru" sz="1487"/>
              <a:t>) - </a:t>
            </a:r>
            <a:r>
              <a:rPr lang="ru" sz="1487"/>
              <a:t>Вычитает содержимое регистра или памяти из регистра </a:t>
            </a:r>
            <a:r>
              <a:rPr b="1" lang="ru" sz="1487"/>
              <a:t>B</a:t>
            </a:r>
            <a:r>
              <a:rPr lang="ru" sz="1487"/>
              <a:t>.</a:t>
            </a:r>
            <a:endParaRPr sz="1487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87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8"/>
              <a:buNone/>
            </a:pPr>
            <a:r>
              <a:rPr b="1" lang="ru" sz="1487"/>
              <a:t>SUBD</a:t>
            </a:r>
            <a:r>
              <a:rPr lang="ru" sz="1487"/>
              <a:t>  (Subtract From Accumulator D) - Вычитает 16-битное значение из регистра </a:t>
            </a:r>
            <a:r>
              <a:rPr b="1" lang="ru" sz="1487"/>
              <a:t>D</a:t>
            </a:r>
            <a:r>
              <a:rPr lang="ru" sz="1487"/>
              <a:t>.</a:t>
            </a:r>
            <a:endParaRPr sz="1487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87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87"/>
          </a:p>
          <a:p>
            <a:pPr indent="0" lvl="0" marL="3240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8"/>
              <a:buNone/>
            </a:pPr>
            <a:r>
              <a:rPr b="1" lang="ru" sz="1487">
                <a:solidFill>
                  <a:srgbClr val="0000FF"/>
                </a:solidFill>
              </a:rPr>
              <a:t> </a:t>
            </a:r>
            <a:r>
              <a:rPr b="1" lang="ru" sz="1487">
                <a:solidFill>
                  <a:srgbClr val="0000FF"/>
                </a:solidFill>
              </a:rPr>
              <a:t>org $8000</a:t>
            </a:r>
            <a:endParaRPr b="1" sz="1487">
              <a:solidFill>
                <a:srgbClr val="0000FF"/>
              </a:solidFill>
            </a:endParaRPr>
          </a:p>
          <a:p>
            <a:pPr indent="0" lvl="0" marL="3240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8"/>
              <a:buNone/>
            </a:pPr>
            <a:r>
              <a:rPr b="1" lang="ru" sz="1487">
                <a:solidFill>
                  <a:srgbClr val="0000FF"/>
                </a:solidFill>
              </a:rPr>
              <a:t> LDD #$1234  </a:t>
            </a:r>
            <a:endParaRPr b="1" sz="1487">
              <a:solidFill>
                <a:srgbClr val="0000FF"/>
              </a:solidFill>
            </a:endParaRPr>
          </a:p>
          <a:p>
            <a:pPr indent="0" lvl="0" marL="3240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8"/>
              <a:buNone/>
            </a:pPr>
            <a:r>
              <a:rPr b="1" lang="ru" sz="1487">
                <a:solidFill>
                  <a:srgbClr val="0000FF"/>
                </a:solidFill>
              </a:rPr>
              <a:t> SUBD #$0100</a:t>
            </a:r>
            <a:endParaRPr b="1" sz="1487">
              <a:solidFill>
                <a:srgbClr val="0000FF"/>
              </a:solidFill>
            </a:endParaRPr>
          </a:p>
          <a:p>
            <a:pPr indent="0" lvl="0" marL="25200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8"/>
              <a:buNone/>
            </a:pPr>
            <a:r>
              <a:rPr b="1" lang="ru" sz="1487">
                <a:solidFill>
                  <a:srgbClr val="188038"/>
                </a:solidFill>
              </a:rPr>
              <a:t> </a:t>
            </a:r>
            <a:br>
              <a:rPr b="1" lang="ru" sz="1487">
                <a:solidFill>
                  <a:srgbClr val="188038"/>
                </a:solidFill>
              </a:rPr>
            </a:br>
            <a:endParaRPr sz="1487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b="1" sz="1487"/>
          </a:p>
        </p:txBody>
      </p:sp>
      <p:sp>
        <p:nvSpPr>
          <p:cNvPr id="324" name="Google Shape;324;p44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Команды вычитания </a:t>
            </a:r>
            <a:r>
              <a:rPr lang="ru"/>
              <a:t>SBCA</a:t>
            </a:r>
            <a:r>
              <a:rPr lang="ru"/>
              <a:t>, </a:t>
            </a:r>
            <a:r>
              <a:rPr lang="ru"/>
              <a:t>SBCB</a:t>
            </a:r>
            <a:r>
              <a:rPr lang="ru"/>
              <a:t>, </a:t>
            </a:r>
            <a:r>
              <a:rPr lang="ru"/>
              <a:t>SBA</a:t>
            </a:r>
            <a:endParaRPr b="1" sz="2650"/>
          </a:p>
        </p:txBody>
      </p:sp>
      <p:sp>
        <p:nvSpPr>
          <p:cNvPr id="330" name="Google Shape;330;p45"/>
          <p:cNvSpPr txBox="1"/>
          <p:nvPr>
            <p:ph idx="1" type="body"/>
          </p:nvPr>
        </p:nvSpPr>
        <p:spPr>
          <a:xfrm>
            <a:off x="166525" y="1415400"/>
            <a:ext cx="8797500" cy="372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/>
              <a:t>SBCA</a:t>
            </a:r>
            <a:r>
              <a:rPr b="1" lang="ru"/>
              <a:t> </a:t>
            </a:r>
            <a:r>
              <a:rPr lang="ru"/>
              <a:t>(</a:t>
            </a:r>
            <a:r>
              <a:rPr lang="ru"/>
              <a:t>Subtract with Borrow from Accumulator A</a:t>
            </a:r>
            <a:r>
              <a:rPr lang="ru"/>
              <a:t>) - </a:t>
            </a:r>
            <a:r>
              <a:rPr lang="ru"/>
              <a:t>выполняет вычитание с учетом флага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/>
              <a:t>переноса, что полезно для многобайтовых вычитаний. Корректирует результат в случае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/>
              <a:t>предыдущего заимствования.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/>
              <a:t>SBCB</a:t>
            </a:r>
            <a:r>
              <a:rPr lang="ru"/>
              <a:t>  (</a:t>
            </a:r>
            <a:r>
              <a:rPr lang="ru"/>
              <a:t>Subtract with Borrow from Accumulator B</a:t>
            </a:r>
            <a:r>
              <a:rPr lang="ru"/>
              <a:t>) - аналогично SBCA, но применяется к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/>
              <a:t>аккумулятору </a:t>
            </a:r>
            <a:r>
              <a:rPr b="1" lang="ru"/>
              <a:t>B</a:t>
            </a:r>
            <a:r>
              <a:rPr lang="ru"/>
              <a:t>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/>
              <a:t>SBA</a:t>
            </a:r>
            <a:r>
              <a:rPr lang="ru"/>
              <a:t>  (</a:t>
            </a:r>
            <a:r>
              <a:rPr lang="ru"/>
              <a:t>Subtract B from A</a:t>
            </a:r>
            <a:r>
              <a:rPr lang="ru"/>
              <a:t>) - </a:t>
            </a:r>
            <a:r>
              <a:rPr lang="ru"/>
              <a:t>вычитает содержимое регистра </a:t>
            </a:r>
            <a:r>
              <a:rPr b="1" lang="ru"/>
              <a:t>B</a:t>
            </a:r>
            <a:r>
              <a:rPr lang="ru"/>
              <a:t> из регистра </a:t>
            </a:r>
            <a:r>
              <a:rPr b="1" lang="ru"/>
              <a:t>A</a:t>
            </a:r>
            <a:r>
              <a:rPr lang="ru"/>
              <a:t>, напрямую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/>
              <a:t>обновляя аккумулятор </a:t>
            </a:r>
            <a:r>
              <a:rPr b="1" lang="ru"/>
              <a:t>A</a:t>
            </a:r>
            <a:r>
              <a:rPr lang="ru"/>
              <a:t>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324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>
                <a:solidFill>
                  <a:srgbClr val="0000FF"/>
                </a:solidFill>
              </a:rPr>
              <a:t> </a:t>
            </a:r>
            <a:endParaRPr b="1">
              <a:solidFill>
                <a:srgbClr val="0000FF"/>
              </a:solidFill>
            </a:endParaRPr>
          </a:p>
          <a:p>
            <a:pPr indent="0" lvl="0" marL="252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>
                <a:solidFill>
                  <a:srgbClr val="188038"/>
                </a:solidFill>
              </a:rPr>
              <a:t> </a:t>
            </a:r>
            <a:br>
              <a:rPr b="1" lang="ru">
                <a:solidFill>
                  <a:srgbClr val="188038"/>
                </a:solidFill>
              </a:rPr>
            </a:b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/>
          </a:p>
        </p:txBody>
      </p:sp>
      <p:sp>
        <p:nvSpPr>
          <p:cNvPr id="331" name="Google Shape;331;p45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6"/>
          <p:cNvSpPr txBox="1"/>
          <p:nvPr>
            <p:ph idx="1" type="body"/>
          </p:nvPr>
        </p:nvSpPr>
        <p:spPr>
          <a:xfrm>
            <a:off x="311700" y="814075"/>
            <a:ext cx="8520600" cy="4329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SBCA</a:t>
            </a:r>
            <a:r>
              <a:rPr lang="ru"/>
              <a:t>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org $8000</a:t>
            </a:r>
            <a:endParaRPr b="1">
              <a:solidFill>
                <a:srgbClr val="0000FF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0000FF"/>
                </a:solidFill>
              </a:rPr>
              <a:t>LDAA #$10 		</a:t>
            </a:r>
            <a:r>
              <a:rPr b="1" lang="ru">
                <a:solidFill>
                  <a:srgbClr val="188038"/>
                </a:solidFill>
              </a:rPr>
              <a:t>;</a:t>
            </a: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188038"/>
                </a:solidFill>
              </a:rPr>
              <a:t>Загрузить 16 в аккумулятор A</a:t>
            </a:r>
            <a:endParaRPr b="1">
              <a:solidFill>
                <a:srgbClr val="188038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SBCA #$01		</a:t>
            </a:r>
            <a:r>
              <a:rPr b="1" lang="ru">
                <a:solidFill>
                  <a:srgbClr val="188038"/>
                </a:solidFill>
              </a:rPr>
              <a:t>; Вычесть 1 из аккумулятора A с учетом флага C</a:t>
            </a:r>
            <a:br>
              <a:rPr b="1" lang="ru">
                <a:solidFill>
                  <a:srgbClr val="188038"/>
                </a:solidFill>
              </a:rPr>
            </a:b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Если флаг переноса </a:t>
            </a:r>
            <a:r>
              <a:rPr b="1" lang="ru"/>
              <a:t>C</a:t>
            </a:r>
            <a:r>
              <a:rPr lang="ru"/>
              <a:t> установлен в </a:t>
            </a:r>
            <a:r>
              <a:rPr b="1" lang="ru"/>
              <a:t>1</a:t>
            </a:r>
            <a:r>
              <a:rPr lang="ru"/>
              <a:t>, то результат - </a:t>
            </a:r>
            <a:r>
              <a:rPr b="1" lang="ru"/>
              <a:t>A</a:t>
            </a:r>
            <a:r>
              <a:rPr lang="ru"/>
              <a:t> = </a:t>
            </a:r>
            <a:r>
              <a:rPr b="1" lang="ru"/>
              <a:t>14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Если не установлен, то результат - </a:t>
            </a:r>
            <a:r>
              <a:rPr b="1" lang="ru"/>
              <a:t>A</a:t>
            </a:r>
            <a:r>
              <a:rPr lang="ru"/>
              <a:t> = </a:t>
            </a:r>
            <a:r>
              <a:rPr b="1" lang="ru"/>
              <a:t>15</a:t>
            </a:r>
            <a:endParaRPr b="1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37" name="Google Shape;337;p46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7"/>
          <p:cNvSpPr txBox="1"/>
          <p:nvPr>
            <p:ph idx="1" type="body"/>
          </p:nvPr>
        </p:nvSpPr>
        <p:spPr>
          <a:xfrm>
            <a:off x="311700" y="814075"/>
            <a:ext cx="8520600" cy="43293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SBA</a:t>
            </a:r>
            <a:r>
              <a:rPr lang="ru"/>
              <a:t>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0000FF"/>
                </a:solidFill>
              </a:rPr>
              <a:t>LDAA #$10  </a:t>
            </a:r>
            <a:endParaRPr b="1">
              <a:solidFill>
                <a:srgbClr val="0000FF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LDAB #$05   </a:t>
            </a:r>
            <a:endParaRPr b="1">
              <a:solidFill>
                <a:srgbClr val="0000FF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SBA 		</a:t>
            </a:r>
            <a:r>
              <a:rPr b="1" lang="ru">
                <a:solidFill>
                  <a:srgbClr val="188038"/>
                </a:solidFill>
              </a:rPr>
              <a:t>; Вычесть B из A</a:t>
            </a:r>
            <a:br>
              <a:rPr b="1" lang="ru">
                <a:solidFill>
                  <a:srgbClr val="188038"/>
                </a:solidFill>
              </a:rPr>
            </a:br>
            <a:endParaRPr b="1">
              <a:solidFill>
                <a:srgbClr val="188038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43" name="Google Shape;343;p47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умножения MUL</a:t>
            </a:r>
            <a:endParaRPr b="1" sz="2650"/>
          </a:p>
        </p:txBody>
      </p:sp>
      <p:sp>
        <p:nvSpPr>
          <p:cNvPr id="349" name="Google Shape;349;p48"/>
          <p:cNvSpPr txBox="1"/>
          <p:nvPr>
            <p:ph idx="1" type="body"/>
          </p:nvPr>
        </p:nvSpPr>
        <p:spPr>
          <a:xfrm>
            <a:off x="166525" y="1415400"/>
            <a:ext cx="8797500" cy="372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/>
              <a:t>MUL</a:t>
            </a:r>
            <a:r>
              <a:rPr b="1" lang="ru"/>
              <a:t> </a:t>
            </a:r>
            <a:r>
              <a:rPr lang="ru"/>
              <a:t>(Multiply) - </a:t>
            </a:r>
            <a:r>
              <a:rPr lang="ru"/>
              <a:t>выполняет умножение без знака содержимого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/>
              <a:t>аккумуляторов </a:t>
            </a:r>
            <a:r>
              <a:rPr b="1" lang="ru"/>
              <a:t>A</a:t>
            </a:r>
            <a:r>
              <a:rPr lang="ru"/>
              <a:t> и </a:t>
            </a:r>
            <a:r>
              <a:rPr b="1" lang="ru"/>
              <a:t>B</a:t>
            </a:r>
            <a:r>
              <a:rPr lang="ru"/>
              <a:t>. Результат сохраняется в регистре </a:t>
            </a:r>
            <a:r>
              <a:rPr b="1" lang="ru"/>
              <a:t>D</a:t>
            </a:r>
            <a:r>
              <a:rPr lang="ru"/>
              <a:t> (16-битный результат).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 LDAA #4   </a:t>
            </a:r>
            <a:endParaRPr b="1">
              <a:solidFill>
                <a:srgbClr val="0000FF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 LDAB #5   </a:t>
            </a:r>
            <a:endParaRPr b="1">
              <a:solidFill>
                <a:srgbClr val="0000FF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 MUL 		</a:t>
            </a:r>
            <a:r>
              <a:rPr b="1" lang="ru">
                <a:solidFill>
                  <a:srgbClr val="188038"/>
                </a:solidFill>
              </a:rPr>
              <a:t>; Умножить A на B, результат - D = 20</a:t>
            </a:r>
            <a:endParaRPr b="1">
              <a:solidFill>
                <a:srgbClr val="188038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ru"/>
              <a:t>Результат</a:t>
            </a:r>
            <a:r>
              <a:rPr lang="ru"/>
              <a:t>: Сохраняется в регистре </a:t>
            </a:r>
            <a:r>
              <a:rPr b="1" lang="ru"/>
              <a:t>D</a:t>
            </a:r>
            <a:r>
              <a:rPr lang="ru"/>
              <a:t>, где старший байт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оказывается в </a:t>
            </a:r>
            <a:r>
              <a:rPr b="1" lang="ru"/>
              <a:t>A</a:t>
            </a:r>
            <a:r>
              <a:rPr lang="ru"/>
              <a:t>, а младший (результат умножения) в </a:t>
            </a:r>
            <a:r>
              <a:rPr b="1" lang="ru"/>
              <a:t>B</a:t>
            </a:r>
            <a:r>
              <a:rPr lang="ru"/>
              <a:t>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b="1">
              <a:solidFill>
                <a:srgbClr val="0000FF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324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>
                <a:solidFill>
                  <a:srgbClr val="0000FF"/>
                </a:solidFill>
              </a:rPr>
              <a:t> </a:t>
            </a:r>
            <a:endParaRPr b="1">
              <a:solidFill>
                <a:srgbClr val="0000FF"/>
              </a:solidFill>
            </a:endParaRPr>
          </a:p>
          <a:p>
            <a:pPr indent="0" lvl="0" marL="252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>
                <a:solidFill>
                  <a:srgbClr val="188038"/>
                </a:solidFill>
              </a:rPr>
              <a:t> </a:t>
            </a:r>
            <a:br>
              <a:rPr b="1" lang="ru">
                <a:solidFill>
                  <a:srgbClr val="188038"/>
                </a:solidFill>
              </a:rPr>
            </a:b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/>
          </a:p>
        </p:txBody>
      </p:sp>
      <p:sp>
        <p:nvSpPr>
          <p:cNvPr id="350" name="Google Shape;350;p48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целочисленного деления </a:t>
            </a:r>
            <a:r>
              <a:rPr lang="ru"/>
              <a:t>IDIV</a:t>
            </a:r>
            <a:endParaRPr b="1" sz="2650"/>
          </a:p>
        </p:txBody>
      </p:sp>
      <p:sp>
        <p:nvSpPr>
          <p:cNvPr id="356" name="Google Shape;356;p49"/>
          <p:cNvSpPr txBox="1"/>
          <p:nvPr>
            <p:ph idx="1" type="body"/>
          </p:nvPr>
        </p:nvSpPr>
        <p:spPr>
          <a:xfrm>
            <a:off x="166525" y="1415400"/>
            <a:ext cx="8797500" cy="372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/>
              <a:t>IDIV</a:t>
            </a:r>
            <a:r>
              <a:rPr b="1" lang="ru"/>
              <a:t> </a:t>
            </a:r>
            <a:r>
              <a:rPr lang="ru"/>
              <a:t>(Integer Divide) - </a:t>
            </a:r>
            <a:r>
              <a:rPr lang="ru"/>
              <a:t>производит целочисленное деление аккумулятора </a:t>
            </a:r>
            <a:r>
              <a:rPr b="1" lang="ru"/>
              <a:t>D</a:t>
            </a:r>
            <a:r>
              <a:rPr lang="ru"/>
              <a:t> на индексный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/>
              <a:t>регистр </a:t>
            </a:r>
            <a:r>
              <a:rPr b="1" lang="ru"/>
              <a:t>X</a:t>
            </a:r>
            <a:r>
              <a:rPr lang="ru"/>
              <a:t>. После выполнения в регистр </a:t>
            </a:r>
            <a:r>
              <a:rPr b="1" lang="ru"/>
              <a:t>X</a:t>
            </a:r>
            <a:r>
              <a:rPr lang="ru"/>
              <a:t> заносится частное, а в регистр </a:t>
            </a:r>
            <a:r>
              <a:rPr b="1" lang="ru"/>
              <a:t>D</a:t>
            </a:r>
            <a:r>
              <a:rPr lang="ru"/>
              <a:t> – остаток от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/>
              <a:t>деления. При выполнении команды </a:t>
            </a:r>
            <a:r>
              <a:rPr b="1" lang="ru"/>
              <a:t>IDIV</a:t>
            </a:r>
            <a:r>
              <a:rPr lang="ru"/>
              <a:t> делимое обычно больше делителя.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</a:t>
            </a:r>
            <a:r>
              <a:rPr b="1" lang="ru">
                <a:solidFill>
                  <a:srgbClr val="0000FF"/>
                </a:solidFill>
              </a:rPr>
              <a:t>LDD #253   </a:t>
            </a:r>
            <a:endParaRPr b="1">
              <a:solidFill>
                <a:srgbClr val="0000FF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LDX #2   </a:t>
            </a:r>
            <a:endParaRPr b="1">
              <a:solidFill>
                <a:srgbClr val="0000FF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 IDIV 		</a:t>
            </a:r>
            <a:r>
              <a:rPr b="1" lang="ru">
                <a:solidFill>
                  <a:srgbClr val="188038"/>
                </a:solidFill>
              </a:rPr>
              <a:t>; Разделить D на X, результат - X = 126, D = 1</a:t>
            </a:r>
            <a:endParaRPr b="1">
              <a:solidFill>
                <a:srgbClr val="188038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b="1">
              <a:solidFill>
                <a:srgbClr val="0000FF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324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>
                <a:solidFill>
                  <a:srgbClr val="0000FF"/>
                </a:solidFill>
              </a:rPr>
              <a:t> </a:t>
            </a:r>
            <a:endParaRPr b="1">
              <a:solidFill>
                <a:srgbClr val="0000FF"/>
              </a:solidFill>
            </a:endParaRPr>
          </a:p>
          <a:p>
            <a:pPr indent="0" lvl="0" marL="252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>
                <a:solidFill>
                  <a:srgbClr val="188038"/>
                </a:solidFill>
              </a:rPr>
              <a:t> </a:t>
            </a:r>
            <a:br>
              <a:rPr b="1" lang="ru">
                <a:solidFill>
                  <a:srgbClr val="188038"/>
                </a:solidFill>
              </a:rPr>
            </a:b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/>
          </a:p>
        </p:txBody>
      </p:sp>
      <p:sp>
        <p:nvSpPr>
          <p:cNvPr id="357" name="Google Shape;357;p49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дробного деления FDIV</a:t>
            </a:r>
            <a:endParaRPr b="1" sz="2650"/>
          </a:p>
        </p:txBody>
      </p:sp>
      <p:sp>
        <p:nvSpPr>
          <p:cNvPr id="363" name="Google Shape;363;p50"/>
          <p:cNvSpPr txBox="1"/>
          <p:nvPr>
            <p:ph idx="1" type="body"/>
          </p:nvPr>
        </p:nvSpPr>
        <p:spPr>
          <a:xfrm>
            <a:off x="166525" y="1785425"/>
            <a:ext cx="8797500" cy="3357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/>
              <a:t>FDIV</a:t>
            </a:r>
            <a:r>
              <a:rPr b="1" lang="ru"/>
              <a:t> </a:t>
            </a:r>
            <a:r>
              <a:rPr lang="ru"/>
              <a:t>(</a:t>
            </a:r>
            <a:r>
              <a:rPr lang="ru"/>
              <a:t>Fractional Divide</a:t>
            </a:r>
            <a:r>
              <a:rPr lang="ru"/>
              <a:t>) - </a:t>
            </a:r>
            <a:r>
              <a:rPr lang="ru"/>
              <a:t>Команда FDFV производит операцию дробного деления тех же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/>
              <a:t>аргументов. Фактически FDIV может быть представлен как умножение регистра </a:t>
            </a:r>
            <a:r>
              <a:rPr b="1" lang="ru"/>
              <a:t>D</a:t>
            </a:r>
            <a:r>
              <a:rPr lang="ru"/>
              <a:t> на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/>
              <a:t>2^16 с последующим выполнением команды IDIV, поэтому  при выполнении этой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/>
              <a:t>команды делитель обычно больше делимого.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b="1">
              <a:solidFill>
                <a:srgbClr val="0000FF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324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>
                <a:solidFill>
                  <a:srgbClr val="0000FF"/>
                </a:solidFill>
              </a:rPr>
              <a:t> </a:t>
            </a:r>
            <a:endParaRPr b="1">
              <a:solidFill>
                <a:srgbClr val="0000FF"/>
              </a:solidFill>
            </a:endParaRPr>
          </a:p>
          <a:p>
            <a:pPr indent="0" lvl="0" marL="25200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>
                <a:solidFill>
                  <a:srgbClr val="188038"/>
                </a:solidFill>
              </a:rPr>
              <a:t> </a:t>
            </a:r>
            <a:br>
              <a:rPr b="1" lang="ru">
                <a:solidFill>
                  <a:srgbClr val="188038"/>
                </a:solidFill>
              </a:rPr>
            </a:b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/>
          </a:p>
        </p:txBody>
      </p:sp>
      <p:sp>
        <p:nvSpPr>
          <p:cNvPr id="364" name="Google Shape;364;p50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TST, TSTA, TSTB</a:t>
            </a:r>
            <a:endParaRPr b="1" sz="2650"/>
          </a:p>
        </p:txBody>
      </p:sp>
      <p:sp>
        <p:nvSpPr>
          <p:cNvPr id="370" name="Google Shape;370;p51"/>
          <p:cNvSpPr txBox="1"/>
          <p:nvPr>
            <p:ph idx="1" type="body"/>
          </p:nvPr>
        </p:nvSpPr>
        <p:spPr>
          <a:xfrm>
            <a:off x="166525" y="1202625"/>
            <a:ext cx="8797500" cy="3940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/>
              <a:t>TST</a:t>
            </a:r>
            <a:r>
              <a:rPr b="1" lang="ru"/>
              <a:t> </a:t>
            </a:r>
            <a:r>
              <a:rPr lang="ru"/>
              <a:t>(Test for Zero or Minus) - проверяет значение в памяти или регистре на ноль или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/>
              <a:t>отрицательное значение.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/>
              <a:t>TSTA</a:t>
            </a:r>
            <a:r>
              <a:rPr lang="ru"/>
              <a:t> (Test for Zero or Minus A) - проверяет содержимое аккумулятора A на ноль или 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lang="ru"/>
              <a:t>отрицательное значение.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rPr b="1" lang="ru"/>
              <a:t>TSTB</a:t>
            </a:r>
            <a:r>
              <a:rPr lang="ru"/>
              <a:t> (Test for Zero or Minus B) - аналогична </a:t>
            </a:r>
            <a:r>
              <a:rPr b="1" lang="ru"/>
              <a:t>TSTA</a:t>
            </a:r>
            <a:endParaRPr b="1"/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LDAA #$00   	</a:t>
            </a:r>
            <a:r>
              <a:rPr b="1" lang="ru">
                <a:solidFill>
                  <a:srgbClr val="188038"/>
                </a:solidFill>
              </a:rPr>
              <a:t>; Загрузить 0 в аккумулятор A</a:t>
            </a:r>
            <a:endParaRPr b="1">
              <a:solidFill>
                <a:srgbClr val="188038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ru">
                <a:solidFill>
                  <a:srgbClr val="0000FF"/>
                </a:solidFill>
              </a:rPr>
              <a:t>TSTA        		</a:t>
            </a:r>
            <a:r>
              <a:rPr b="1" lang="ru">
                <a:solidFill>
                  <a:srgbClr val="188038"/>
                </a:solidFill>
              </a:rPr>
              <a:t>; Проверка аккумулятора A</a:t>
            </a:r>
            <a:endParaRPr b="1">
              <a:solidFill>
                <a:srgbClr val="188038"/>
              </a:solidFill>
            </a:endParaRPr>
          </a:p>
          <a:p>
            <a:pPr indent="0" lvl="0" marL="16200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ru"/>
              <a:t> </a:t>
            </a:r>
            <a:endParaRPr b="1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b="1"/>
          </a:p>
        </p:txBody>
      </p:sp>
      <p:sp>
        <p:nvSpPr>
          <p:cNvPr id="371" name="Google Shape;371;p51"/>
          <p:cNvSpPr txBox="1"/>
          <p:nvPr>
            <p:ph idx="12" type="sldNum"/>
          </p:nvPr>
        </p:nvSpPr>
        <p:spPr>
          <a:xfrm>
            <a:off x="7816983" y="270892"/>
            <a:ext cx="548700" cy="393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Ион">
  <a:themeElements>
    <a:clrScheme name="Другая 1">
      <a:dk1>
        <a:srgbClr val="FFFFFF"/>
      </a:dk1>
      <a:lt1>
        <a:srgbClr val="171717"/>
      </a:lt1>
      <a:dk2>
        <a:srgbClr val="FFFFFF"/>
      </a:dk2>
      <a:lt2>
        <a:srgbClr val="171717"/>
      </a:lt2>
      <a:accent1>
        <a:srgbClr val="B7CDD7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