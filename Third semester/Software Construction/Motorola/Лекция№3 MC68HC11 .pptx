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Century Gothic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enturyGothic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enturyGothic-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CenturyGothic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bbdaebe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bbdaebe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bbdaebea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bbdaebea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e3b85319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e3b85319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bbdaebea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bbdaebea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e3b85319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e3b85319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bbdaebea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bbdaebea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bbdaebea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bbdaebea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e3b85319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e3b85319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bbdaebea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bbdaebea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e3b853196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e3b853196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bbdaebea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bbdaebea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fbbdaebea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fbbdaebea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bbdaebea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bbdaebea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bbdaebea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bbdaebea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bbdaebea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fbbdaebea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09e9592c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009e9592c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bbdaebea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bbdaebea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09e9592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009e9592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09e9592c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009e9592c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fbbdaebea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fbbdaebea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09e9592c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09e9592c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bbdaebea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bbdaebea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bbdaebea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fbbdaebea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009e9592c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009e9592c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fbbdaebea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fbbdaebea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bbdaebea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fbbdaebea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256050" y="266300"/>
            <a:ext cx="72294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None/>
              <a:defRPr b="1" sz="265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866216" y="3583035"/>
            <a:ext cx="6619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800"/>
              </a:spcBef>
              <a:spcAft>
                <a:spcPts val="0"/>
              </a:spcAft>
              <a:buSzPts val="1200"/>
              <a:buNone/>
              <a:defRPr cap="none">
                <a:solidFill>
                  <a:schemeClr val="dk2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898989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98989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84575" y="339547"/>
            <a:ext cx="7053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None/>
              <a:defRPr b="1" sz="265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27484" y="1539689"/>
            <a:ext cx="6709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66217" y="2146300"/>
            <a:ext cx="66192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66216" y="3583036"/>
            <a:ext cx="6619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27484" y="1545431"/>
            <a:ext cx="32973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240870" y="1542069"/>
            <a:ext cx="32973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27485" y="1428750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827484" y="1885950"/>
            <a:ext cx="32973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4240871" y="1428750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4240871" y="1885950"/>
            <a:ext cx="32973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66215" y="1085850"/>
            <a:ext cx="25509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3588462" y="1085850"/>
            <a:ext cx="3897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spcBef>
                <a:spcPts val="800"/>
              </a:spcBef>
              <a:spcAft>
                <a:spcPts val="0"/>
              </a:spcAft>
              <a:buSzPts val="1200"/>
              <a:buChar char="►"/>
              <a:defRPr sz="1500"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2pPr>
            <a:lvl3pPr indent="-292100" lvl="2" marL="13716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3pPr>
            <a:lvl4pPr indent="-279400" lvl="3" marL="18288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4pPr>
            <a:lvl5pPr indent="-279400" lvl="4" marL="22860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5pPr>
            <a:lvl6pPr indent="-279400" lvl="5" marL="27432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6pPr>
            <a:lvl7pPr indent="-279400" lvl="6" marL="3200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7pPr>
            <a:lvl8pPr indent="-279400" lvl="7" marL="3657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8pPr>
            <a:lvl9pPr indent="-279400" lvl="8" marL="41148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66215" y="2346960"/>
            <a:ext cx="25509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65430" y="1390644"/>
            <a:ext cx="381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entury Gothic"/>
              <a:buNone/>
              <a:defRPr b="0"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212160" y="857250"/>
            <a:ext cx="2400300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66215" y="2743200"/>
            <a:ext cx="3813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норамная фотография с подписью">
  <p:cSld name="Панорамная фотография с подписью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66217" y="3600440"/>
            <a:ext cx="6619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/>
          <p:nvPr>
            <p:ph idx="2" type="pic"/>
          </p:nvPr>
        </p:nvSpPr>
        <p:spPr>
          <a:xfrm>
            <a:off x="866216" y="514350"/>
            <a:ext cx="6619200" cy="27306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866217" y="4025494"/>
            <a:ext cx="6619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пись">
  <p:cSld name="Заголовок и подпись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866215" y="1085850"/>
            <a:ext cx="6619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866215" y="2743200"/>
            <a:ext cx="66192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с подписью">
  <p:cSld name="Цитата с подписью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181101" y="1085850"/>
            <a:ext cx="59994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1447800" y="2828381"/>
            <a:ext cx="5459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b="0" i="0" sz="1100" cap="small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866215" y="3262993"/>
            <a:ext cx="6619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73721" y="728440"/>
            <a:ext cx="6015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95" name="Google Shape;95;p13"/>
          <p:cNvSpPr txBox="1"/>
          <p:nvPr/>
        </p:nvSpPr>
        <p:spPr>
          <a:xfrm>
            <a:off x="6997868" y="1960340"/>
            <a:ext cx="6015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очка имени">
  <p:cSld name="Карточка имени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866215" y="2343151"/>
            <a:ext cx="66192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866215" y="3583036"/>
            <a:ext cx="6619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ри колонки">
  <p:cSld name="Три колонки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74710" y="1485900"/>
            <a:ext cx="2210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489347" y="2000250"/>
            <a:ext cx="21954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06" name="Google Shape;106;p15"/>
          <p:cNvSpPr txBox="1"/>
          <p:nvPr>
            <p:ph idx="3" type="body"/>
          </p:nvPr>
        </p:nvSpPr>
        <p:spPr>
          <a:xfrm>
            <a:off x="2912744" y="1485900"/>
            <a:ext cx="2202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7" name="Google Shape;107;p15"/>
          <p:cNvSpPr txBox="1"/>
          <p:nvPr>
            <p:ph idx="4" type="body"/>
          </p:nvPr>
        </p:nvSpPr>
        <p:spPr>
          <a:xfrm>
            <a:off x="2904830" y="2000250"/>
            <a:ext cx="22101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08" name="Google Shape;108;p15"/>
          <p:cNvSpPr txBox="1"/>
          <p:nvPr>
            <p:ph idx="5" type="body"/>
          </p:nvPr>
        </p:nvSpPr>
        <p:spPr>
          <a:xfrm>
            <a:off x="5343525" y="1485900"/>
            <a:ext cx="2199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9" name="Google Shape;109;p15"/>
          <p:cNvSpPr txBox="1"/>
          <p:nvPr>
            <p:ph idx="6" type="body"/>
          </p:nvPr>
        </p:nvSpPr>
        <p:spPr>
          <a:xfrm>
            <a:off x="5343525" y="2000250"/>
            <a:ext cx="21990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cxnSp>
        <p:nvCxnSpPr>
          <p:cNvPr id="110" name="Google Shape;110;p15"/>
          <p:cNvCxnSpPr/>
          <p:nvPr/>
        </p:nvCxnSpPr>
        <p:spPr>
          <a:xfrm>
            <a:off x="2794607" y="1600200"/>
            <a:ext cx="0" cy="29718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5221670" y="1600200"/>
            <a:ext cx="0" cy="29751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5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олбец с тремя рисунками">
  <p:cSld name="Столбец с тремя рисунками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489347" y="3188212"/>
            <a:ext cx="2205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18" name="Google Shape;118;p16"/>
          <p:cNvSpPr/>
          <p:nvPr>
            <p:ph idx="2" type="pic"/>
          </p:nvPr>
        </p:nvSpPr>
        <p:spPr>
          <a:xfrm>
            <a:off x="489347" y="1657350"/>
            <a:ext cx="2205000" cy="1143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16"/>
          <p:cNvSpPr txBox="1"/>
          <p:nvPr>
            <p:ph idx="3" type="body"/>
          </p:nvPr>
        </p:nvSpPr>
        <p:spPr>
          <a:xfrm>
            <a:off x="489347" y="3620408"/>
            <a:ext cx="2205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20" name="Google Shape;120;p16"/>
          <p:cNvSpPr txBox="1"/>
          <p:nvPr>
            <p:ph idx="4" type="body"/>
          </p:nvPr>
        </p:nvSpPr>
        <p:spPr>
          <a:xfrm>
            <a:off x="2917031" y="3188212"/>
            <a:ext cx="2197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21" name="Google Shape;121;p16"/>
          <p:cNvSpPr/>
          <p:nvPr>
            <p:ph idx="5" type="pic"/>
          </p:nvPr>
        </p:nvSpPr>
        <p:spPr>
          <a:xfrm>
            <a:off x="2917031" y="1657350"/>
            <a:ext cx="2197800" cy="1143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16"/>
          <p:cNvSpPr txBox="1"/>
          <p:nvPr>
            <p:ph idx="6" type="body"/>
          </p:nvPr>
        </p:nvSpPr>
        <p:spPr>
          <a:xfrm>
            <a:off x="2916017" y="3620407"/>
            <a:ext cx="22008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23" name="Google Shape;123;p16"/>
          <p:cNvSpPr txBox="1"/>
          <p:nvPr>
            <p:ph idx="7" type="body"/>
          </p:nvPr>
        </p:nvSpPr>
        <p:spPr>
          <a:xfrm>
            <a:off x="5343525" y="3188212"/>
            <a:ext cx="2199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24" name="Google Shape;124;p16"/>
          <p:cNvSpPr/>
          <p:nvPr>
            <p:ph idx="8" type="pic"/>
          </p:nvPr>
        </p:nvSpPr>
        <p:spPr>
          <a:xfrm>
            <a:off x="5343524" y="1657350"/>
            <a:ext cx="2199000" cy="1143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16"/>
          <p:cNvSpPr txBox="1"/>
          <p:nvPr>
            <p:ph idx="9" type="body"/>
          </p:nvPr>
        </p:nvSpPr>
        <p:spPr>
          <a:xfrm>
            <a:off x="5343431" y="3620406"/>
            <a:ext cx="2202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cxnSp>
        <p:nvCxnSpPr>
          <p:cNvPr id="126" name="Google Shape;126;p16"/>
          <p:cNvCxnSpPr/>
          <p:nvPr/>
        </p:nvCxnSpPr>
        <p:spPr>
          <a:xfrm>
            <a:off x="2794607" y="1600200"/>
            <a:ext cx="0" cy="29718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6"/>
          <p:cNvCxnSpPr/>
          <p:nvPr/>
        </p:nvCxnSpPr>
        <p:spPr>
          <a:xfrm>
            <a:off x="5221670" y="1600200"/>
            <a:ext cx="0" cy="29751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6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 rot="5400000">
            <a:off x="2609140" y="-241861"/>
            <a:ext cx="3146700" cy="6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 rot="5400000">
            <a:off x="4700560" y="1850110"/>
            <a:ext cx="4369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 rot="5400000">
            <a:off x="1259709" y="-104840"/>
            <a:ext cx="40266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5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rtl="0">
              <a:spcBef>
                <a:spcPts val="800"/>
              </a:spcBef>
              <a:spcAft>
                <a:spcPts val="0"/>
              </a:spcAft>
              <a:buSzPts val="1200"/>
              <a:buChar char="►"/>
              <a:defRPr/>
            </a:lvl1pPr>
            <a:lvl2pPr indent="-298450" lvl="1" marL="914400" rtl="0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2100" lvl="2" marL="1371600" rtl="0">
              <a:spcBef>
                <a:spcPts val="800"/>
              </a:spcBef>
              <a:spcAft>
                <a:spcPts val="0"/>
              </a:spcAft>
              <a:buSzPts val="1000"/>
              <a:buChar char="►"/>
              <a:defRPr/>
            </a:lvl3pPr>
            <a:lvl4pPr indent="-279400" lvl="3" marL="18288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4pPr>
            <a:lvl5pPr indent="-279400" lvl="4" marL="22860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5pPr>
            <a:lvl6pPr indent="-279400" lvl="5" marL="27432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6pPr>
            <a:lvl7pPr indent="-279400" lvl="6" marL="3200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7pPr>
            <a:lvl8pPr indent="-279400" lvl="7" marL="36576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8pPr>
            <a:lvl9pPr indent="-279400" lvl="8" marL="41148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7.xml"/><Relationship Id="rId22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6.xml"/><Relationship Id="rId21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23" Type="http://schemas.openxmlformats.org/officeDocument/2006/relationships/theme" Target="../theme/theme1.xml"/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19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.xml"/><Relationship Id="rId1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3613" r="0" t="0"/>
          <a:stretch/>
        </p:blipFill>
        <p:spPr>
          <a:xfrm>
            <a:off x="0" y="2002264"/>
            <a:ext cx="3027758" cy="3141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35640" r="0" t="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6456759" y="1257300"/>
            <a:ext cx="2114700" cy="2114700"/>
          </a:xfrm>
          <a:prstGeom prst="ellipse">
            <a:avLst/>
          </a:prstGeom>
          <a:gradFill>
            <a:gsLst>
              <a:gs pos="0">
                <a:srgbClr val="FFFFFF">
                  <a:alpha val="6666"/>
                </a:srgbClr>
              </a:gs>
              <a:gs pos="36000">
                <a:srgbClr val="FFFFFF">
                  <a:alpha val="5882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28812"/>
          <a:stretch/>
        </p:blipFill>
        <p:spPr>
          <a:xfrm>
            <a:off x="5999559" y="0"/>
            <a:ext cx="1202541" cy="85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 b="23320" l="0" r="0" t="0"/>
          <a:stretch/>
        </p:blipFill>
        <p:spPr>
          <a:xfrm>
            <a:off x="6454408" y="4572000"/>
            <a:ext cx="7453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7828359" y="0"/>
            <a:ext cx="514500" cy="8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Font typeface="Century Gothic"/>
              <a:buNone/>
              <a:defRPr b="1" i="0" sz="265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27484" y="1539689"/>
            <a:ext cx="6709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845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7940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940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940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7940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7940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7940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ctrTitle"/>
          </p:nvPr>
        </p:nvSpPr>
        <p:spPr>
          <a:xfrm>
            <a:off x="256050" y="111000"/>
            <a:ext cx="8069700" cy="1656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/>
              <a:t>ЛОГИЧЕСКИЕ КОМАНДЫ. </a:t>
            </a:r>
            <a:endParaRPr sz="2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/>
              <a:t>КОМАНДЫ РАБОТЫ С БИТОВЫМИ ПОЛЯМИ. </a:t>
            </a:r>
            <a:endParaRPr sz="2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/>
              <a:t>КОМАНДЫ СДВИГОВ</a:t>
            </a:r>
            <a:endParaRPr sz="2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50"/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7764400" y="151300"/>
            <a:ext cx="628500" cy="496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1" type="subTitle"/>
          </p:nvPr>
        </p:nvSpPr>
        <p:spPr>
          <a:xfrm>
            <a:off x="866216" y="3583035"/>
            <a:ext cx="6619200" cy="64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Язык ассемблера. Особенности, макросы, формат операторов, псевдокоманды.  Часть 1."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775" y="1505575"/>
            <a:ext cx="3512975" cy="294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351550" y="388525"/>
            <a:ext cx="53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Логические команды 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58700"/>
            <a:ext cx="8839199" cy="118655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256175" y="1205025"/>
            <a:ext cx="803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Под логическими понимаются такие преобразования данных, в основе которых 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лежат правила формальной логики. Формальная логика работает на уровне утверждений истинно и ложно. Для микропроцессора это, как правило, означает 1 и 0, соответственно.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COMA, COMB, COM </a:t>
            </a:r>
            <a:endParaRPr b="1" sz="2650"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311700" y="1017725"/>
            <a:ext cx="6102600" cy="4253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COMA </a:t>
            </a:r>
            <a:r>
              <a:rPr lang="ru"/>
              <a:t>(One’s Complement A) - инвертирует все биты в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аккумуляторе </a:t>
            </a:r>
            <a:r>
              <a:rPr b="1" lang="ru"/>
              <a:t>A</a:t>
            </a:r>
            <a:r>
              <a:rPr lang="ru"/>
              <a:t>, то есть выполняет операцию побитового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отрицания (NOT). Преобразует каждый бит в его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противоположное значение: 0 становится 1, а 1 становится 0.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Полезно для быстрого изменения всех битов в аккумуляторе.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COMB </a:t>
            </a:r>
            <a:r>
              <a:rPr lang="ru"/>
              <a:t>(One’s Complement B)</a:t>
            </a:r>
            <a:r>
              <a:rPr b="1" lang="ru"/>
              <a:t> </a:t>
            </a:r>
            <a:r>
              <a:rPr lang="ru"/>
              <a:t>- аналогична команде </a:t>
            </a:r>
            <a:r>
              <a:rPr b="1" lang="ru"/>
              <a:t>COMA</a:t>
            </a:r>
            <a:r>
              <a:rPr lang="ru"/>
              <a:t>,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но для аккумулятора </a:t>
            </a:r>
            <a:r>
              <a:rPr b="1" lang="ru"/>
              <a:t>B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COM </a:t>
            </a:r>
            <a:r>
              <a:rPr lang="ru"/>
              <a:t>(One’s Complement Memory Byte) - Инвертирует все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биты в указанной ячейке памяти. Применяется для изменения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всех битов в байте по заданному адресу.</a:t>
            </a:r>
            <a:endParaRPr b="1"/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300" y="1088975"/>
            <a:ext cx="1951300" cy="30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b="1" sz="2650"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311700" y="1175850"/>
            <a:ext cx="8520600" cy="3474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 </a:t>
            </a:r>
            <a:endParaRPr b="1"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#%01110111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COMA 		</a:t>
            </a:r>
            <a:r>
              <a:rPr b="1" lang="ru">
                <a:solidFill>
                  <a:srgbClr val="188038"/>
                </a:solidFill>
              </a:rPr>
              <a:t>; Инвертируем биты в A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10001000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Установлены </a:t>
            </a:r>
            <a:r>
              <a:rPr b="1" lang="ru"/>
              <a:t>N</a:t>
            </a:r>
            <a:r>
              <a:rPr lang="ru"/>
              <a:t> и </a:t>
            </a:r>
            <a:r>
              <a:rPr b="1" lang="ru"/>
              <a:t>C</a:t>
            </a:r>
            <a:r>
              <a:rPr lang="ru"/>
              <a:t> флаги.</a:t>
            </a:r>
            <a:endParaRPr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ANDA, ANDB, </a:t>
            </a:r>
            <a:endParaRPr b="1" sz="2650"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311700" y="1668450"/>
            <a:ext cx="6202800" cy="324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ANDA </a:t>
            </a:r>
            <a:r>
              <a:rPr lang="ru"/>
              <a:t>(AND A with Memory) - Эта команда выполняет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побитовое логическое </a:t>
            </a:r>
            <a:r>
              <a:rPr b="1" lang="ru"/>
              <a:t>И</a:t>
            </a:r>
            <a:r>
              <a:rPr lang="ru"/>
              <a:t> между аккумулятором </a:t>
            </a:r>
            <a:r>
              <a:rPr b="1" lang="ru"/>
              <a:t>A</a:t>
            </a:r>
            <a:r>
              <a:rPr lang="ru"/>
              <a:t> и байтом из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памяти.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Только те биты, которые установлены в обоих операндах,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останутся единицами в результате.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ANDB </a:t>
            </a:r>
            <a:r>
              <a:rPr lang="ru"/>
              <a:t>(AND B with Memory) - </a:t>
            </a:r>
            <a:r>
              <a:rPr lang="ru"/>
              <a:t>аналогична</a:t>
            </a:r>
            <a:r>
              <a:rPr lang="ru"/>
              <a:t> команде </a:t>
            </a:r>
            <a:r>
              <a:rPr b="1" lang="ru"/>
              <a:t>ANDA</a:t>
            </a:r>
            <a:r>
              <a:rPr lang="ru"/>
              <a:t>, но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для аккумулятора </a:t>
            </a:r>
            <a:r>
              <a:rPr b="1" lang="ru"/>
              <a:t>A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450" y="985575"/>
            <a:ext cx="1970625" cy="40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b="1" sz="2650"/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311700" y="1239450"/>
            <a:ext cx="8468400" cy="367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#$F0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ANDA #$0F 	</a:t>
            </a:r>
            <a:r>
              <a:rPr b="1" lang="ru">
                <a:solidFill>
                  <a:srgbClr val="188038"/>
                </a:solidFill>
              </a:rPr>
              <a:t>; Выполнить побитовое И с 0x0F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0x0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 </a:t>
            </a:r>
            <a:r>
              <a:rPr b="1" lang="ru"/>
              <a:t>Z</a:t>
            </a:r>
            <a:r>
              <a:rPr lang="ru"/>
              <a:t> флаг.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BITA, BITB</a:t>
            </a:r>
            <a:endParaRPr b="1" sz="2650"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311700" y="1239450"/>
            <a:ext cx="8520600" cy="357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BITA </a:t>
            </a:r>
            <a:r>
              <a:rPr lang="ru"/>
              <a:t>(Bit(s) Test A with Memory) -  Выполняет побитовое логическое И между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аккумулятором </a:t>
            </a:r>
            <a:r>
              <a:rPr b="1" lang="ru"/>
              <a:t>A</a:t>
            </a:r>
            <a:r>
              <a:rPr lang="ru"/>
              <a:t> и байтом из памяти, не изменяя аккумулятор. Используется для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тестирования определенных битов в аккумуляторе A. Результат операции влияет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только на флаги.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BITB </a:t>
            </a:r>
            <a:r>
              <a:rPr lang="ru"/>
              <a:t>(Bit(s) Test B with Memory) - аналогична команде BITA, но для аккумулятора B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LDAA #$F0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BITA #$0F 	</a:t>
            </a:r>
            <a:r>
              <a:rPr b="1" lang="ru">
                <a:solidFill>
                  <a:srgbClr val="188038"/>
                </a:solidFill>
              </a:rPr>
              <a:t>; Выполнить побитовое И с 0x0F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 только </a:t>
            </a:r>
            <a:r>
              <a:rPr b="1" lang="ru"/>
              <a:t>Z</a:t>
            </a:r>
            <a:r>
              <a:rPr lang="ru"/>
              <a:t> флаг.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ORAA, ORAB</a:t>
            </a:r>
            <a:endParaRPr b="1" sz="2650"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194350" y="1668450"/>
            <a:ext cx="6749400" cy="330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ORAA </a:t>
            </a:r>
            <a:r>
              <a:rPr lang="ru"/>
              <a:t>(OR A with Memory (Inclusive)) - Выполняет побитовое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логическое </a:t>
            </a:r>
            <a:r>
              <a:rPr b="1" lang="ru"/>
              <a:t>ИЛИ</a:t>
            </a:r>
            <a:r>
              <a:rPr lang="ru"/>
              <a:t> между аккумулятором </a:t>
            </a:r>
            <a:r>
              <a:rPr b="1" lang="ru"/>
              <a:t>A</a:t>
            </a:r>
            <a:r>
              <a:rPr lang="ru"/>
              <a:t> и байтом из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Устанавливает в 1 все биты, которые равны 1 хотя бы в одном из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операндов.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ORAB </a:t>
            </a:r>
            <a:r>
              <a:rPr lang="ru"/>
              <a:t>(OR B with Memory (Inclusive)) - аналогична команде </a:t>
            </a:r>
            <a:r>
              <a:rPr b="1" lang="ru"/>
              <a:t>ORAA</a:t>
            </a:r>
            <a:r>
              <a:rPr lang="ru"/>
              <a:t>, но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для аккумулятора B</a:t>
            </a:r>
            <a:br>
              <a:rPr lang="ru"/>
            </a:br>
            <a:r>
              <a:rPr lang="ru"/>
              <a:t> </a:t>
            </a:r>
            <a:endParaRPr/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600" y="1017725"/>
            <a:ext cx="1648525" cy="36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b="1" sz="2650"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194350" y="1668450"/>
            <a:ext cx="8728800" cy="330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#%11110000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ORAA #%00001111 	</a:t>
            </a:r>
            <a:r>
              <a:rPr b="1" lang="ru">
                <a:solidFill>
                  <a:srgbClr val="188038"/>
                </a:solidFill>
              </a:rPr>
              <a:t>; Выполнить побитовое ИЛИ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11111111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 только </a:t>
            </a:r>
            <a:r>
              <a:rPr b="1" lang="ru"/>
              <a:t>N</a:t>
            </a:r>
            <a:r>
              <a:rPr lang="ru"/>
              <a:t> флаг.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EORA, EORB</a:t>
            </a:r>
            <a:endParaRPr b="1" sz="2650"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311700" y="1795650"/>
            <a:ext cx="6242400" cy="31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EORA </a:t>
            </a:r>
            <a:r>
              <a:rPr lang="ru"/>
              <a:t>(OR A with Memory (Exclusive)) - Выполняет побитовое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логическое исключающее ИЛИ (</a:t>
            </a:r>
            <a:r>
              <a:rPr b="1" lang="ru"/>
              <a:t>XOR</a:t>
            </a:r>
            <a:r>
              <a:rPr lang="ru"/>
              <a:t>) между аккумулятором </a:t>
            </a:r>
            <a:r>
              <a:rPr b="1" lang="ru"/>
              <a:t>A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 байтом из памяти. Устанавливает в 1 биты, которые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различаются в операндах.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EORB </a:t>
            </a:r>
            <a:r>
              <a:rPr lang="ru"/>
              <a:t>(</a:t>
            </a:r>
            <a:r>
              <a:rPr lang="ru"/>
              <a:t>OR B with Memory (Exclusive)) - аналогична команде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EORA</a:t>
            </a:r>
            <a:r>
              <a:rPr lang="ru"/>
              <a:t>, но для аккумулятора </a:t>
            </a:r>
            <a:r>
              <a:rPr b="1" lang="ru"/>
              <a:t>B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22" name="Google Shape;2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9947" y="1087500"/>
            <a:ext cx="1786175" cy="36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b="1" sz="2650"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311700" y="1668450"/>
            <a:ext cx="8556000" cy="31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225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#%11110100</a:t>
            </a:r>
            <a:endParaRPr b="1">
              <a:solidFill>
                <a:srgbClr val="0000FF"/>
              </a:solidFill>
            </a:endParaRPr>
          </a:p>
          <a:p>
            <a:pPr indent="0" lvl="0" marL="225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EORA #%10101111 	</a:t>
            </a:r>
            <a:r>
              <a:rPr b="1" lang="ru">
                <a:solidFill>
                  <a:srgbClr val="188038"/>
                </a:solidFill>
              </a:rPr>
              <a:t>; Выполнить побитовое исключающее ИЛИ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01011011</a:t>
            </a:r>
            <a:endParaRPr b="1"/>
          </a:p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351550" y="388525"/>
            <a:ext cx="7178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Команды работы с битовыми полями</a:t>
            </a: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32863"/>
            <a:ext cx="8839200" cy="81081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351550" y="1552450"/>
            <a:ext cx="846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Команды работы с битовыми полями позволяют изменять указанные биты приемника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(ячейки памяти или регистра статуса </a:t>
            </a:r>
            <a:r>
              <a:rPr b="1"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CCR</a:t>
            </a: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оставляя незадействованные биты нетронутыми.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SEC, CLC</a:t>
            </a:r>
            <a:endParaRPr b="1" sz="2650"/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SEC </a:t>
            </a:r>
            <a:r>
              <a:rPr lang="ru"/>
              <a:t>(Set Carry Bit) - Устанавливает флаг переноса (</a:t>
            </a:r>
            <a:r>
              <a:rPr b="1" lang="ru"/>
              <a:t>Carry</a:t>
            </a:r>
            <a:r>
              <a:rPr lang="ru"/>
              <a:t>) в 1. Полезно для подготовки к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операциям, которые зависят от флага переноса. Применяется в арифметических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вычислениях и манипуляциях с битами.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CLC </a:t>
            </a:r>
            <a:r>
              <a:rPr lang="ru"/>
              <a:t>(</a:t>
            </a:r>
            <a:r>
              <a:rPr lang="ru"/>
              <a:t>C</a:t>
            </a:r>
            <a:r>
              <a:rPr lang="ru"/>
              <a:t>lear Carry Bit) - Очищает флаг переноса (</a:t>
            </a:r>
            <a:r>
              <a:rPr b="1" lang="ru"/>
              <a:t>Carry</a:t>
            </a:r>
            <a:r>
              <a:rPr lang="ru"/>
              <a:t>), устанавливая его в 0.</a:t>
            </a:r>
            <a:endParaRPr/>
          </a:p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SEI, CLI</a:t>
            </a:r>
            <a:endParaRPr b="1" sz="2650"/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SEI </a:t>
            </a:r>
            <a:r>
              <a:rPr lang="ru"/>
              <a:t>(Set Interrupt Mask Bit) - Устанавливает бит маски прерываний I в 1, запрещая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прерывания. Применяется, когда нужно временно отключить все маскируемые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прерывания для критических операций.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CLI </a:t>
            </a:r>
            <a:r>
              <a:rPr lang="ru"/>
              <a:t>(Clear Interrupt Mask Bit) - Очищает бит маски прерываний I, позволяя прерываниям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происходить. Используется для включения прерываний после выполнения критических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операций.</a:t>
            </a:r>
            <a:endParaRPr/>
          </a:p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SEV, CLV</a:t>
            </a:r>
            <a:endParaRPr b="1" sz="2650"/>
          </a:p>
        </p:txBody>
      </p:sp>
      <p:sp>
        <p:nvSpPr>
          <p:cNvPr id="257" name="Google Shape;257;p34"/>
          <p:cNvSpPr txBox="1"/>
          <p:nvPr>
            <p:ph idx="1" type="body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SEV </a:t>
            </a:r>
            <a:r>
              <a:rPr lang="ru"/>
              <a:t>(Set Overflow Bit) - Устанавливает флаг переполнения </a:t>
            </a:r>
            <a:r>
              <a:rPr b="1" lang="ru"/>
              <a:t>V</a:t>
            </a:r>
            <a:r>
              <a:rPr lang="ru"/>
              <a:t> в 1. Полезно, когда нужно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вручную установить флаг переполнения для тестирования или специальных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операций.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CLV </a:t>
            </a:r>
            <a:r>
              <a:rPr lang="ru"/>
              <a:t>(Clear Overflow Bit) - Очищает флаг переполнения </a:t>
            </a:r>
            <a:r>
              <a:rPr b="1" lang="ru"/>
              <a:t>V</a:t>
            </a:r>
            <a:r>
              <a:rPr lang="ru"/>
              <a:t>, устанавливая его в 0.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BSET, BCLR</a:t>
            </a:r>
            <a:endParaRPr b="1" sz="265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11700" y="1207650"/>
            <a:ext cx="8595600" cy="368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b="1" lang="ru"/>
              <a:t>BCLR (Clear Bit(s) in Memory)</a:t>
            </a:r>
            <a:r>
              <a:rPr lang="ru"/>
              <a:t> и </a:t>
            </a:r>
            <a:r>
              <a:rPr b="1" lang="ru"/>
              <a:t>BSET (Set Bit(s) in Memory) </a:t>
            </a:r>
            <a:r>
              <a:rPr lang="ru"/>
              <a:t>являются важными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инструментами для управления отдельными битами в ячейках памяти. Эти команды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позволяют эффективно изменять состояние битов, используя битовые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маски.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BCLR </a:t>
            </a:r>
            <a:r>
              <a:rPr lang="ru"/>
              <a:t>- Сбрасывает (устанавливает в </a:t>
            </a:r>
            <a:r>
              <a:rPr b="1" lang="ru"/>
              <a:t>0</a:t>
            </a:r>
            <a:r>
              <a:rPr lang="ru"/>
              <a:t>) определенные биты в указанной ячейке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Первый операнд: адрес целевой ячейки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Второй операнд: маска, которая определяет, какие биты необходимо сбросить.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BSET </a:t>
            </a:r>
            <a:r>
              <a:rPr lang="ru"/>
              <a:t>- Аналогична </a:t>
            </a:r>
            <a:r>
              <a:rPr b="1" lang="ru"/>
              <a:t>BCLR</a:t>
            </a:r>
            <a:r>
              <a:rPr lang="ru"/>
              <a:t>, но устанавливает определенные биты в </a:t>
            </a:r>
            <a:r>
              <a:rPr b="1" lang="ru"/>
              <a:t>1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1" lang="ru"/>
            </a:br>
            <a:endParaRPr b="1"/>
          </a:p>
        </p:txBody>
      </p:sp>
      <p:sp>
        <p:nvSpPr>
          <p:cNvPr id="265" name="Google Shape;265;p35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b="1" sz="2650"/>
          </a:p>
        </p:txBody>
      </p:sp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311700" y="1017725"/>
            <a:ext cx="8520600" cy="401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#%10010011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STAA $20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BCLR $20,#%01000011 </a:t>
            </a:r>
            <a:r>
              <a:rPr b="1" lang="ru">
                <a:solidFill>
                  <a:srgbClr val="188038"/>
                </a:solidFill>
              </a:rPr>
              <a:t>; Сбросить биты 0, 1, 6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$20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10010000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#%10011011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STAA $20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BSET $20,#%01001011 </a:t>
            </a:r>
            <a:r>
              <a:rPr b="1" lang="ru">
                <a:solidFill>
                  <a:srgbClr val="188038"/>
                </a:solidFill>
              </a:rPr>
              <a:t>; Установить биты 0, 1, 3, 6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$20</a:t>
            </a:r>
            <a:endParaRPr b="1">
              <a:solidFill>
                <a:srgbClr val="0000FF"/>
              </a:solidFill>
            </a:endParaRPr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11011011</a:t>
            </a:r>
            <a:endParaRPr b="1"/>
          </a:p>
          <a:p>
            <a:pPr indent="0" lvl="0" marL="2789999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1" lang="ru"/>
            </a:br>
            <a:endParaRPr b="1"/>
          </a:p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78" name="Google Shape;278;p37"/>
          <p:cNvSpPr txBox="1"/>
          <p:nvPr/>
        </p:nvSpPr>
        <p:spPr>
          <a:xfrm>
            <a:off x="351550" y="388525"/>
            <a:ext cx="7178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Команды сдвигов 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41475"/>
            <a:ext cx="8839200" cy="126080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 txBox="1"/>
          <p:nvPr/>
        </p:nvSpPr>
        <p:spPr>
          <a:xfrm>
            <a:off x="152350" y="1264025"/>
            <a:ext cx="88392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Команды сдвигов обычно подразделяют на три группы: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• логические сдвиги;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• арифметические сдвиги;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• циклические сдвиги.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Логические сдвиги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405300" y="1032775"/>
            <a:ext cx="8520600" cy="388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Сдвиг, при котором уходящий бит исчезает, не влияя на оставшиеся биты, а на месте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появившегося бита записывается бит 0.</a:t>
            </a:r>
            <a:endParaRPr b="1"/>
          </a:p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625" y="2018525"/>
            <a:ext cx="3004425" cy="287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8893" y="2047325"/>
            <a:ext cx="3047283" cy="28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LSLA, LSLB, LSLD, LSL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295" name="Google Shape;295;p39"/>
          <p:cNvSpPr txBox="1"/>
          <p:nvPr>
            <p:ph idx="1" type="body"/>
          </p:nvPr>
        </p:nvSpPr>
        <p:spPr>
          <a:xfrm>
            <a:off x="405300" y="1318950"/>
            <a:ext cx="8520600" cy="360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LSLA </a:t>
            </a:r>
            <a:r>
              <a:rPr lang="ru"/>
              <a:t>(Logical Shift Left A) -  Логический сдвиг влево регистра </a:t>
            </a:r>
            <a:r>
              <a:rPr b="1" lang="ru"/>
              <a:t>A</a:t>
            </a:r>
            <a:r>
              <a:rPr b="1" lang="ru"/>
              <a:t>.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LSLB </a:t>
            </a:r>
            <a:r>
              <a:rPr lang="ru"/>
              <a:t>(Logical Shift Left B) -  Логический сдвиг влево регистра</a:t>
            </a:r>
            <a:r>
              <a:rPr b="1" lang="ru"/>
              <a:t> B.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LSLD </a:t>
            </a:r>
            <a:r>
              <a:rPr lang="ru"/>
              <a:t>(Logical Shift Left D) -  Логический сдвиг влево регистра</a:t>
            </a:r>
            <a:r>
              <a:rPr b="1" lang="ru"/>
              <a:t> D.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LSL </a:t>
            </a:r>
            <a:r>
              <a:rPr lang="ru"/>
              <a:t>(Logical Shift Left </a:t>
            </a:r>
            <a:r>
              <a:rPr lang="ru"/>
              <a:t>Memory</a:t>
            </a:r>
            <a:r>
              <a:rPr lang="ru"/>
              <a:t>) - Логический сдвиг влево байта в памяти.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 </a:t>
            </a:r>
            <a:r>
              <a:rPr b="1" lang="ru">
                <a:solidFill>
                  <a:srgbClr val="0000FF"/>
                </a:solidFill>
              </a:rPr>
              <a:t>LDAA #%10010011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LSLA 		</a:t>
            </a:r>
            <a:r>
              <a:rPr b="1" lang="ru">
                <a:solidFill>
                  <a:srgbClr val="188038"/>
                </a:solidFill>
              </a:rPr>
              <a:t>; Логический сдвиг влево регистра A. 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00100110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 </a:t>
            </a:r>
            <a:r>
              <a:rPr lang="ru"/>
              <a:t>-</a:t>
            </a:r>
            <a:r>
              <a:rPr b="1" lang="ru"/>
              <a:t> </a:t>
            </a:r>
            <a:r>
              <a:rPr lang="ru"/>
              <a:t>устанавливается в значение старшего бита до сдвига. (в этом случае </a:t>
            </a:r>
            <a:r>
              <a:rPr b="1" lang="ru"/>
              <a:t>C </a:t>
            </a:r>
            <a:r>
              <a:rPr lang="ru"/>
              <a:t>=</a:t>
            </a:r>
            <a:r>
              <a:rPr b="1" lang="ru"/>
              <a:t> 1</a:t>
            </a:r>
            <a:r>
              <a:rPr lang="ru"/>
              <a:t>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Другие флаги могут быть изменены в зависимости от результата.</a:t>
            </a:r>
            <a:endParaRPr/>
          </a:p>
        </p:txBody>
      </p:sp>
      <p:sp>
        <p:nvSpPr>
          <p:cNvPr id="296" name="Google Shape;296;p3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lang="ru"/>
              <a:t>LSRA, LSRB, LSRD, LSR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311700" y="1191750"/>
            <a:ext cx="8520600" cy="380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LSRA</a:t>
            </a:r>
            <a:r>
              <a:rPr lang="ru"/>
              <a:t> (Logical Shift Right A) - Логический сдвиг вправо регистра </a:t>
            </a:r>
            <a:r>
              <a:rPr b="1" lang="ru"/>
              <a:t>A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LSRB </a:t>
            </a:r>
            <a:r>
              <a:rPr lang="ru"/>
              <a:t>(Logical Shift Right B) - Логический сдвиг вправо регистра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LSRD </a:t>
            </a:r>
            <a:r>
              <a:rPr lang="ru"/>
              <a:t>(Logical Shift Right D) - Логический сдвиг вправо регистра </a:t>
            </a:r>
            <a:r>
              <a:rPr b="1" lang="ru"/>
              <a:t>D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LSR </a:t>
            </a:r>
            <a:r>
              <a:rPr lang="ru"/>
              <a:t>(Logical Shift Right Memory) - Логический сдвиг вправо байта в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#%10010111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LSRA 		</a:t>
            </a:r>
            <a:r>
              <a:rPr b="1" lang="ru">
                <a:solidFill>
                  <a:srgbClr val="188038"/>
                </a:solidFill>
              </a:rPr>
              <a:t>; Логический сдвиг вправо регистра A. 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01001011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 </a:t>
            </a:r>
            <a:r>
              <a:rPr lang="ru"/>
              <a:t>-</a:t>
            </a:r>
            <a:r>
              <a:rPr b="1" lang="ru"/>
              <a:t> </a:t>
            </a:r>
            <a:r>
              <a:rPr lang="ru"/>
              <a:t>устанавливается в значение старшего бита до сдвига. (в этом случае </a:t>
            </a:r>
            <a:r>
              <a:rPr b="1" lang="ru"/>
              <a:t>C </a:t>
            </a:r>
            <a:r>
              <a:rPr lang="ru"/>
              <a:t>=</a:t>
            </a:r>
            <a:r>
              <a:rPr b="1" lang="ru"/>
              <a:t> 1</a:t>
            </a:r>
            <a:r>
              <a:rPr lang="ru"/>
              <a:t>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Другие флаги могут быть изменены в зависимости от результата.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3" name="Google Shape;303;p40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Арифметические сдвиги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09" name="Google Shape;309;p41"/>
          <p:cNvSpPr txBox="1"/>
          <p:nvPr>
            <p:ph idx="1" type="body"/>
          </p:nvPr>
        </p:nvSpPr>
        <p:spPr>
          <a:xfrm>
            <a:off x="405300" y="1032775"/>
            <a:ext cx="8520600" cy="388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При сдвиге влево ведёт себя как логический сдвиг, при сдвиге вправо уходящий бит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исчезает, не влияя на оставшиеся биты, а на месте появившегося бита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устанавливается бит, соответствующий знаку. При арифметическом сдвиге сдвиг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влево соответствует умножению на 2, а сдвиг вправо — делению на 2 </a:t>
            </a:r>
            <a:endParaRPr b="1"/>
          </a:p>
        </p:txBody>
      </p:sp>
      <p:sp>
        <p:nvSpPr>
          <p:cNvPr id="310" name="Google Shape;310;p41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950" y="2378400"/>
            <a:ext cx="2735643" cy="26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275" y="2378400"/>
            <a:ext cx="2432625" cy="26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lang="ru"/>
              <a:t>ASLA, ASLB, ASLD, ASL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405300" y="1358700"/>
            <a:ext cx="8520600" cy="359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ASLA </a:t>
            </a:r>
            <a:r>
              <a:rPr lang="ru"/>
              <a:t>(Arithmetic Shift Left A) - Арифметический сдвиг влево аккумулятора </a:t>
            </a:r>
            <a:r>
              <a:rPr b="1" lang="ru"/>
              <a:t>A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ASLB </a:t>
            </a:r>
            <a:r>
              <a:rPr lang="ru"/>
              <a:t>(Arithmetic Shift Left B) - Арифметический сдвиг влево аккумулятора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ASLD </a:t>
            </a:r>
            <a:r>
              <a:rPr lang="ru"/>
              <a:t>(Arithmetic Shift Left D) - Арифметический сдвиг влево аккумулятора </a:t>
            </a:r>
            <a:r>
              <a:rPr b="1" lang="ru"/>
              <a:t>D</a:t>
            </a:r>
            <a:r>
              <a:rPr lang="ru"/>
              <a:t>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ASL </a:t>
            </a:r>
            <a:r>
              <a:rPr lang="ru"/>
              <a:t>(Arithmetic Shift Left Memory) - Арифметический сдвиг влево байта в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#%10010011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ASLA 	</a:t>
            </a:r>
            <a:r>
              <a:rPr b="1" lang="ru">
                <a:solidFill>
                  <a:srgbClr val="188038"/>
                </a:solidFill>
              </a:rPr>
              <a:t>; Арифметический сдвиг влево регистра A. 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00100110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Аналогично логическому сдвигу влево</a:t>
            </a:r>
            <a:endParaRPr b="1"/>
          </a:p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lang="ru"/>
              <a:t>ASRA, ASRB, ASR*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25" name="Google Shape;325;p43"/>
          <p:cNvSpPr txBox="1"/>
          <p:nvPr>
            <p:ph idx="1" type="body"/>
          </p:nvPr>
        </p:nvSpPr>
        <p:spPr>
          <a:xfrm>
            <a:off x="311700" y="1159950"/>
            <a:ext cx="8520600" cy="386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ASRA </a:t>
            </a:r>
            <a:r>
              <a:rPr lang="ru"/>
              <a:t>(Arithmetic Shift Right A) - Арифметический сдвиг вправо регистра </a:t>
            </a:r>
            <a:r>
              <a:rPr b="1" lang="ru"/>
              <a:t>A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ASRB </a:t>
            </a:r>
            <a:r>
              <a:rPr lang="ru"/>
              <a:t>(Arithmetic Shift Right B) - Арифметический сдвиг вправо регистра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ASR </a:t>
            </a:r>
            <a:r>
              <a:rPr lang="ru"/>
              <a:t>(Arithmetic Shift Right Memory) - Арифметический сдвиг вправо байта в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Арифметический сдвиг вправо сохраняет знак числа, копируя старший бит влево.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#%10010111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ASRA </a:t>
            </a:r>
            <a:r>
              <a:rPr b="1" lang="ru">
                <a:solidFill>
                  <a:srgbClr val="188038"/>
                </a:solidFill>
              </a:rPr>
              <a:t>; Арифметический сдвиг вправо регистра A.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11001011</a:t>
            </a:r>
            <a:r>
              <a:rPr lang="ru"/>
              <a:t>. При логическом сдвиге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получилось значение </a:t>
            </a:r>
            <a:r>
              <a:rPr b="1" lang="ru"/>
              <a:t>01001011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 </a:t>
            </a:r>
            <a:r>
              <a:rPr lang="ru"/>
              <a:t>-</a:t>
            </a:r>
            <a:r>
              <a:rPr b="1" lang="ru"/>
              <a:t> </a:t>
            </a:r>
            <a:r>
              <a:rPr lang="ru"/>
              <a:t>устанавливается в значение старшего бита до сдвига. (в этом случае </a:t>
            </a:r>
            <a:r>
              <a:rPr b="1" lang="ru"/>
              <a:t>C </a:t>
            </a:r>
            <a:r>
              <a:rPr lang="ru"/>
              <a:t>=</a:t>
            </a:r>
            <a:r>
              <a:rPr b="1" lang="ru"/>
              <a:t> 1</a:t>
            </a:r>
            <a:r>
              <a:rPr lang="ru"/>
              <a:t>)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Другие флаги могут быть изменены в зависимости от результата.</a:t>
            </a:r>
            <a:r>
              <a:rPr b="1" lang="ru">
                <a:solidFill>
                  <a:srgbClr val="188038"/>
                </a:solidFill>
              </a:rPr>
              <a:t> </a:t>
            </a:r>
            <a:endParaRPr b="1"/>
          </a:p>
        </p:txBody>
      </p:sp>
      <p:sp>
        <p:nvSpPr>
          <p:cNvPr id="326" name="Google Shape;326;p43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Циклические сдвиги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32" name="Google Shape;332;p44"/>
          <p:cNvSpPr txBox="1"/>
          <p:nvPr>
            <p:ph idx="1" type="body"/>
          </p:nvPr>
        </p:nvSpPr>
        <p:spPr>
          <a:xfrm>
            <a:off x="405300" y="1032775"/>
            <a:ext cx="8520600" cy="388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Данная операция выполняет циклический сдвиг над (n+1)-битным числом, состоящим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из регистра и флага переноса. Отличие этих операций от операций логического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сдвига состоит в том, что освободившийся разряд заполняется не нулем, а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состоянием флага переноса </a:t>
            </a:r>
            <a:r>
              <a:rPr b="1" lang="ru"/>
              <a:t>С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4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34" name="Google Shape;3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925" y="2358825"/>
            <a:ext cx="2466325" cy="26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625" y="2358822"/>
            <a:ext cx="2466325" cy="268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lang="ru"/>
              <a:t>ROLA, ROLB, 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41" name="Google Shape;341;p45"/>
          <p:cNvSpPr txBox="1"/>
          <p:nvPr>
            <p:ph idx="1" type="body"/>
          </p:nvPr>
        </p:nvSpPr>
        <p:spPr>
          <a:xfrm>
            <a:off x="311700" y="1303050"/>
            <a:ext cx="8520600" cy="358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ROLA </a:t>
            </a:r>
            <a:r>
              <a:rPr lang="ru"/>
              <a:t>(Rotate Left through Carry Accumulator A)</a:t>
            </a:r>
            <a:r>
              <a:rPr b="1" lang="ru"/>
              <a:t> </a:t>
            </a:r>
            <a:r>
              <a:rPr lang="ru"/>
              <a:t>- Циклический сдвиг влево регистра </a:t>
            </a:r>
            <a:r>
              <a:rPr b="1" lang="ru"/>
              <a:t>A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ROLB </a:t>
            </a:r>
            <a:r>
              <a:rPr lang="ru"/>
              <a:t>(Rotate Left through Carry Accumulator B)</a:t>
            </a:r>
            <a:r>
              <a:rPr b="1" lang="ru"/>
              <a:t> </a:t>
            </a:r>
            <a:r>
              <a:rPr lang="ru"/>
              <a:t>- </a:t>
            </a:r>
            <a:r>
              <a:rPr lang="ru"/>
              <a:t>Циклический сдвиг влево регистра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ROL </a:t>
            </a:r>
            <a:r>
              <a:rPr lang="ru"/>
              <a:t>(Rotate Left through Carry) - Циклический сдвиг влево байта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#%00010111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SEC 		</a:t>
            </a:r>
            <a:r>
              <a:rPr b="1" lang="ru">
                <a:solidFill>
                  <a:srgbClr val="188038"/>
                </a:solidFill>
              </a:rPr>
              <a:t>; Устанавливаем Carry флаг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ROLA 	</a:t>
            </a:r>
            <a:r>
              <a:rPr b="1" lang="ru">
                <a:solidFill>
                  <a:srgbClr val="188038"/>
                </a:solidFill>
              </a:rPr>
              <a:t>; Циклический сдвиг влево регистра A.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00101111</a:t>
            </a:r>
            <a:r>
              <a:rPr lang="ru"/>
              <a:t>. </a:t>
            </a:r>
            <a:endParaRPr/>
          </a:p>
        </p:txBody>
      </p:sp>
      <p:sp>
        <p:nvSpPr>
          <p:cNvPr id="342" name="Google Shape;342;p45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lang="ru"/>
              <a:t>RORA, RORB, ROR*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 sz="2650"/>
          </a:p>
        </p:txBody>
      </p:sp>
      <p:sp>
        <p:nvSpPr>
          <p:cNvPr id="348" name="Google Shape;348;p46"/>
          <p:cNvSpPr txBox="1"/>
          <p:nvPr>
            <p:ph idx="1" type="body"/>
          </p:nvPr>
        </p:nvSpPr>
        <p:spPr>
          <a:xfrm>
            <a:off x="311700" y="1406225"/>
            <a:ext cx="8707800" cy="355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RORA </a:t>
            </a:r>
            <a:r>
              <a:rPr lang="ru"/>
              <a:t>(Rotate Right through Carry Accumulator A)</a:t>
            </a:r>
            <a:r>
              <a:rPr b="1" lang="ru"/>
              <a:t> </a:t>
            </a:r>
            <a:r>
              <a:rPr lang="ru"/>
              <a:t>- Циклический сдвиг вправо регистра </a:t>
            </a:r>
            <a:r>
              <a:rPr b="1" lang="ru"/>
              <a:t>A</a:t>
            </a:r>
            <a:r>
              <a:rPr lang="ru"/>
              <a:t>.</a:t>
            </a:r>
            <a:r>
              <a:rPr b="1" lang="ru"/>
              <a:t> 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RORB </a:t>
            </a:r>
            <a:r>
              <a:rPr lang="ru"/>
              <a:t>(Rotate Right through Carry Accumulator B)</a:t>
            </a:r>
            <a:r>
              <a:rPr b="1" lang="ru"/>
              <a:t> </a:t>
            </a:r>
            <a:r>
              <a:rPr lang="ru"/>
              <a:t>- Циклический сдвиг вправо регистра </a:t>
            </a:r>
            <a:r>
              <a:rPr b="1" lang="ru"/>
              <a:t>B</a:t>
            </a:r>
            <a:r>
              <a:rPr lang="ru"/>
              <a:t>.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ROR </a:t>
            </a:r>
            <a:r>
              <a:rPr lang="ru"/>
              <a:t>(Rotate Right through Carry)</a:t>
            </a:r>
            <a:r>
              <a:rPr b="1" lang="ru"/>
              <a:t> </a:t>
            </a:r>
            <a:r>
              <a:rPr lang="ru"/>
              <a:t>- Циклический сдвиг вправо байта памяти.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#%00010111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SEC 		</a:t>
            </a:r>
            <a:r>
              <a:rPr b="1" lang="ru">
                <a:solidFill>
                  <a:srgbClr val="188038"/>
                </a:solidFill>
              </a:rPr>
              <a:t>; Устанавливаем Carry флаг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RORA 	</a:t>
            </a:r>
            <a:r>
              <a:rPr b="1" lang="ru">
                <a:solidFill>
                  <a:srgbClr val="188038"/>
                </a:solidFill>
              </a:rPr>
              <a:t>; Циклический сдвиг вправо регистра A.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b="1" lang="ru"/>
              <a:t>A</a:t>
            </a:r>
            <a:r>
              <a:rPr lang="ru"/>
              <a:t> - </a:t>
            </a:r>
            <a:r>
              <a:rPr b="1" lang="ru"/>
              <a:t>10001011</a:t>
            </a:r>
            <a:r>
              <a:rPr lang="ru"/>
              <a:t>. </a:t>
            </a:r>
            <a:endParaRPr/>
          </a:p>
        </p:txBody>
      </p:sp>
      <p:sp>
        <p:nvSpPr>
          <p:cNvPr id="349" name="Google Shape;349;p46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Ион">
  <a:themeElements>
    <a:clrScheme name="Другая 1">
      <a:dk1>
        <a:srgbClr val="FFFFFF"/>
      </a:dk1>
      <a:lt1>
        <a:srgbClr val="171717"/>
      </a:lt1>
      <a:dk2>
        <a:srgbClr val="FFFFFF"/>
      </a:dk2>
      <a:lt2>
        <a:srgbClr val="171717"/>
      </a:lt2>
      <a:accent1>
        <a:srgbClr val="B7CDD7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