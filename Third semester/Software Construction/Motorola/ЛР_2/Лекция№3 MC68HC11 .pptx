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3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bbdaebea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bbdaebea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bbdaebea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bbdaebea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e3b85319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e3b85319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bbdaebea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bbdaebea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e3b853196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e3b853196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bbdaebea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bbdaebea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bbdaebea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bbdaebea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e3b853196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e3b853196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fbbdaebea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fbbdaebea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e3b853196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e3b853196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bbdaebea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bbdaebea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fbbdaebea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fbbdaebea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bbdaebea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bbdaebea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bbdaebea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bbdaebea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bbdaebea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fbbdaebea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09e9592c4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009e9592c4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bbdaebea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bbdaebea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09e9592c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09e9592c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09e9592c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009e9592c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fbbdaebea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fbbdaebea5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09e9592c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09e9592c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bbdaebea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bbdaebea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bbdaebea5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bbdaebea5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09e9592c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009e9592c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fbbdaebea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fbbdaebea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bbdaebea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fbbdaebea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256050" y="266300"/>
            <a:ext cx="72294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sz="265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SzPts val="1200"/>
              <a:buNone/>
              <a:defRPr cap="none">
                <a:solidFill>
                  <a:schemeClr val="dk2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84575" y="339547"/>
            <a:ext cx="70536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sz="265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66217" y="2146300"/>
            <a:ext cx="66192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66216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27484" y="1545431"/>
            <a:ext cx="3297300" cy="3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marL="914400" lvl="1" indent="-2921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marL="1371600" lvl="2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marL="1828800" lvl="3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marL="2286000" lvl="4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marL="2743200" lvl="5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marL="3200400" lvl="6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marL="3657600" lvl="7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marL="4114800" lvl="8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4240870" y="1542069"/>
            <a:ext cx="3297300" cy="31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marL="914400" lvl="1" indent="-2921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marL="1371600" lvl="2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marL="1828800" lvl="3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marL="2286000" lvl="4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marL="2743200" lvl="5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marL="3200400" lvl="6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marL="3657600" lvl="7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marL="4114800" lvl="8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27485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27484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marL="914400" lvl="1" indent="-2921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marL="1371600" lvl="2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marL="1828800" lvl="3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marL="2286000" lvl="4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marL="2743200" lvl="5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marL="3200400" lvl="6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marL="3657600" lvl="7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marL="4114800" lvl="8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4240871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4240871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marL="914400" lvl="1" indent="-2921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marL="1371600" lvl="2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marL="1828800" lvl="3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marL="2286000" lvl="4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marL="2743200" lvl="5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marL="3200400" lvl="6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marL="3657600" lvl="7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marL="4114800" lvl="8" indent="-27305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66215" y="1085850"/>
            <a:ext cx="25509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3588462" y="1085850"/>
            <a:ext cx="3897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>
              <a:spcBef>
                <a:spcPts val="800"/>
              </a:spcBef>
              <a:spcAft>
                <a:spcPts val="0"/>
              </a:spcAft>
              <a:buSzPts val="1200"/>
              <a:buChar char="►"/>
              <a:defRPr sz="1500"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2pPr>
            <a:lvl3pPr marL="1371600" lvl="2" indent="-2921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3pPr>
            <a:lvl4pPr marL="1828800" lvl="3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4pPr>
            <a:lvl5pPr marL="2286000" lvl="4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5pPr>
            <a:lvl6pPr marL="2743200" lvl="5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6pPr>
            <a:lvl7pPr marL="3200400" lvl="6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7pPr>
            <a:lvl8pPr marL="3657600" lvl="7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8pPr>
            <a:lvl9pPr marL="4114800" lvl="8" indent="-279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66215" y="2346960"/>
            <a:ext cx="25509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65430" y="1390644"/>
            <a:ext cx="38196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entury Gothic"/>
              <a:buNone/>
              <a:defRPr sz="27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66215" y="2743200"/>
            <a:ext cx="3813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норамная фотография с подписью">
  <p:cSld name="Панорамная фотография с подписью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66217" y="3600440"/>
            <a:ext cx="6619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2"/>
          </p:nvPr>
        </p:nvSpPr>
        <p:spPr>
          <a:xfrm>
            <a:off x="866216" y="514350"/>
            <a:ext cx="6619200" cy="27306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866217" y="4025494"/>
            <a:ext cx="66192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одпись">
  <p:cSld name="Заголовок и подпись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866215" y="1085850"/>
            <a:ext cx="66192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>
            <a:off x="866215" y="2743200"/>
            <a:ext cx="66192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с подписью">
  <p:cSld name="Цитата с подписью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1181101" y="1085850"/>
            <a:ext cx="5999400" cy="17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1447800" y="2828381"/>
            <a:ext cx="54597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 b="0" i="0" cap="small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2"/>
          </p:nvPr>
        </p:nvSpPr>
        <p:spPr>
          <a:xfrm>
            <a:off x="866215" y="3262993"/>
            <a:ext cx="66192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73721" y="7284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20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95" name="Google Shape;95;p13"/>
          <p:cNvSpPr txBox="1"/>
          <p:nvPr/>
        </p:nvSpPr>
        <p:spPr>
          <a:xfrm>
            <a:off x="6997868" y="19603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200" b="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очка имени">
  <p:cSld name="Карточка имени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66215" y="2343151"/>
            <a:ext cx="6619200" cy="12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866215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колонки">
  <p:cSld name="Три колонки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474710" y="1485900"/>
            <a:ext cx="22101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2"/>
          </p:nvPr>
        </p:nvSpPr>
        <p:spPr>
          <a:xfrm>
            <a:off x="489347" y="2000250"/>
            <a:ext cx="2195400" cy="26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3"/>
          </p:nvPr>
        </p:nvSpPr>
        <p:spPr>
          <a:xfrm>
            <a:off x="2912744" y="1485900"/>
            <a:ext cx="2202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4"/>
          </p:nvPr>
        </p:nvSpPr>
        <p:spPr>
          <a:xfrm>
            <a:off x="2904830" y="2000250"/>
            <a:ext cx="2210100" cy="26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5"/>
          </p:nvPr>
        </p:nvSpPr>
        <p:spPr>
          <a:xfrm>
            <a:off x="5343525" y="1485900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6"/>
          </p:nvPr>
        </p:nvSpPr>
        <p:spPr>
          <a:xfrm>
            <a:off x="5343525" y="2000250"/>
            <a:ext cx="2199000" cy="26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cxnSp>
        <p:nvCxnSpPr>
          <p:cNvPr id="110" name="Google Shape;110;p15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w="12700" cap="flat" cmpd="sng">
            <a:solidFill>
              <a:schemeClr val="dk2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w="12700" cap="flat" cmpd="sng">
            <a:solidFill>
              <a:schemeClr val="dk2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толбец с тремя рисунками">
  <p:cSld name="Столбец с тремя рисунками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>
            <a:off x="489347" y="3188212"/>
            <a:ext cx="2205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6"/>
          <p:cNvSpPr>
            <a:spLocks noGrp="1"/>
          </p:cNvSpPr>
          <p:nvPr>
            <p:ph type="pic" idx="2"/>
          </p:nvPr>
        </p:nvSpPr>
        <p:spPr>
          <a:xfrm>
            <a:off x="489347" y="1657350"/>
            <a:ext cx="2205000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9" name="Google Shape;119;p16"/>
          <p:cNvSpPr txBox="1">
            <a:spLocks noGrp="1"/>
          </p:cNvSpPr>
          <p:nvPr>
            <p:ph type="body" idx="3"/>
          </p:nvPr>
        </p:nvSpPr>
        <p:spPr>
          <a:xfrm>
            <a:off x="489347" y="3620408"/>
            <a:ext cx="22050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4"/>
          </p:nvPr>
        </p:nvSpPr>
        <p:spPr>
          <a:xfrm>
            <a:off x="2917031" y="3188212"/>
            <a:ext cx="21978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21" name="Google Shape;121;p16"/>
          <p:cNvSpPr>
            <a:spLocks noGrp="1"/>
          </p:cNvSpPr>
          <p:nvPr>
            <p:ph type="pic" idx="5"/>
          </p:nvPr>
        </p:nvSpPr>
        <p:spPr>
          <a:xfrm>
            <a:off x="2917031" y="1657350"/>
            <a:ext cx="2197800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2" name="Google Shape;122;p16"/>
          <p:cNvSpPr txBox="1">
            <a:spLocks noGrp="1"/>
          </p:cNvSpPr>
          <p:nvPr>
            <p:ph type="body" idx="6"/>
          </p:nvPr>
        </p:nvSpPr>
        <p:spPr>
          <a:xfrm>
            <a:off x="2916017" y="3620407"/>
            <a:ext cx="2200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7"/>
          </p:nvPr>
        </p:nvSpPr>
        <p:spPr>
          <a:xfrm>
            <a:off x="5343525" y="3188212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24" name="Google Shape;124;p16"/>
          <p:cNvSpPr>
            <a:spLocks noGrp="1"/>
          </p:cNvSpPr>
          <p:nvPr>
            <p:ph type="pic" idx="8"/>
          </p:nvPr>
        </p:nvSpPr>
        <p:spPr>
          <a:xfrm>
            <a:off x="5343524" y="1657350"/>
            <a:ext cx="2199000" cy="1143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5" name="Google Shape;125;p16"/>
          <p:cNvSpPr txBox="1">
            <a:spLocks noGrp="1"/>
          </p:cNvSpPr>
          <p:nvPr>
            <p:ph type="body" idx="9"/>
          </p:nvPr>
        </p:nvSpPr>
        <p:spPr>
          <a:xfrm>
            <a:off x="5343431" y="3620406"/>
            <a:ext cx="22020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cxnSp>
        <p:nvCxnSpPr>
          <p:cNvPr id="126" name="Google Shape;126;p16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w="12700" cap="flat" cmpd="sng">
            <a:solidFill>
              <a:schemeClr val="dk2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16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w="12700" cap="flat" cmpd="sng">
            <a:solidFill>
              <a:schemeClr val="dk2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2609140" y="-241861"/>
            <a:ext cx="3146700" cy="6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 rot="5400000">
            <a:off x="4700560" y="1850110"/>
            <a:ext cx="43695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1"/>
          </p:nvPr>
        </p:nvSpPr>
        <p:spPr>
          <a:xfrm rot="5400000">
            <a:off x="1259709" y="-104840"/>
            <a:ext cx="4026600" cy="5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5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04800" rtl="0">
              <a:spcBef>
                <a:spcPts val="800"/>
              </a:spcBef>
              <a:spcAft>
                <a:spcPts val="0"/>
              </a:spcAft>
              <a:buSzPts val="1200"/>
              <a:buChar char="►"/>
              <a:defRPr/>
            </a:lvl1pPr>
            <a:lvl2pPr marL="914400" lvl="1" indent="-298450" rtl="0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2100" rtl="0">
              <a:spcBef>
                <a:spcPts val="800"/>
              </a:spcBef>
              <a:spcAft>
                <a:spcPts val="0"/>
              </a:spcAft>
              <a:buSzPts val="1000"/>
              <a:buChar char="►"/>
              <a:defRPr/>
            </a:lvl3pPr>
            <a:lvl4pPr marL="1828800" lvl="3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4pPr>
            <a:lvl5pPr marL="2286000" lvl="4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5pPr>
            <a:lvl6pPr marL="2743200" lvl="5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6pPr>
            <a:lvl7pPr marL="3200400" lvl="6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7pPr>
            <a:lvl8pPr marL="3657600" lvl="7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8pPr>
            <a:lvl9pPr marL="4114800" lvl="8" indent="-279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20">
            <a:alphaModFix/>
          </a:blip>
          <a:srcRect l="3613"/>
          <a:stretch/>
        </p:blipFill>
        <p:spPr>
          <a:xfrm>
            <a:off x="0" y="2002264"/>
            <a:ext cx="3027758" cy="314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1">
            <a:alphaModFix/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FFFFFF">
                  <a:alpha val="6666"/>
                </a:srgbClr>
              </a:gs>
              <a:gs pos="36000">
                <a:srgbClr val="FFFFFF">
                  <a:alpha val="5882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2">
            <a:alphaModFix/>
          </a:blip>
          <a:srcRect t="28812"/>
          <a:stretch/>
        </p:blipFill>
        <p:spPr>
          <a:xfrm>
            <a:off x="5999559" y="0"/>
            <a:ext cx="1202541" cy="85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3">
            <a:alphaModFix/>
          </a:blip>
          <a:srcRect b="23320"/>
          <a:stretch/>
        </p:blipFill>
        <p:spPr>
          <a:xfrm>
            <a:off x="6454408" y="4572000"/>
            <a:ext cx="7453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Font typeface="Century Gothic"/>
              <a:buNone/>
              <a:defRPr sz="265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9845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►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794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1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ctrTitle"/>
          </p:nvPr>
        </p:nvSpPr>
        <p:spPr>
          <a:xfrm>
            <a:off x="256050" y="111000"/>
            <a:ext cx="8069700" cy="16560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ЛОГИЧЕСКИЕ КОМАНДЫ. </a:t>
            </a:r>
            <a:endParaRPr sz="21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КОМАНДЫ РАБОТЫ С БИТОВЫМИ ПОЛЯМИ. </a:t>
            </a:r>
            <a:endParaRPr sz="21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50"/>
              <a:t>КОМАНДЫ СДВИГОВ</a:t>
            </a:r>
            <a:endParaRPr sz="21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50"/>
          </a:p>
        </p:txBody>
      </p:sp>
      <p:sp>
        <p:nvSpPr>
          <p:cNvPr id="152" name="Google Shape;152;p20"/>
          <p:cNvSpPr txBox="1">
            <a:spLocks noGrp="1"/>
          </p:cNvSpPr>
          <p:nvPr>
            <p:ph type="sldNum" idx="12"/>
          </p:nvPr>
        </p:nvSpPr>
        <p:spPr>
          <a:xfrm>
            <a:off x="7764400" y="151300"/>
            <a:ext cx="628500" cy="4962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1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20" descr="Язык ассемблера. Особенности, макросы, формат операторов, псевдокоманды.  Часть 1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775" y="1505575"/>
            <a:ext cx="3512975" cy="294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>
            <a:spLocks noGrp="1"/>
          </p:cNvSpPr>
          <p:nvPr>
            <p:ph type="sldNum" idx="12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51550" y="388525"/>
            <a:ext cx="53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Логические команды </a:t>
            </a:r>
            <a:endParaRPr sz="26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58700"/>
            <a:ext cx="8839199" cy="118655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256175" y="1205025"/>
            <a:ext cx="803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Под логическими понимаются такие преобразования данных, в основе которых 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лежат правила формальной логики. Формальная логика работает на уровне утверждений истинно и ложно. Для микропроцессора это, как правило, означает 1 и 0, соответственно.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COMA, COMB, COM </a:t>
            </a:r>
            <a:endParaRPr sz="2650" b="1"/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6102600" cy="4253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COMA </a:t>
            </a:r>
            <a:r>
              <a:rPr lang="ru"/>
              <a:t>(One’s Complement A) - инвертирует все биты в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аккумуляторе </a:t>
            </a:r>
            <a:r>
              <a:rPr lang="ru" b="1"/>
              <a:t>A</a:t>
            </a:r>
            <a:r>
              <a:rPr lang="ru"/>
              <a:t>, то есть выполняет операцию побитового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отрицания (NOT). Преобразует каждый бит в его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противоположное значение: 0 становится 1, а 1 становится 0.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Полезно для быстрого изменения всех битов в аккумуляторе.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COMB </a:t>
            </a:r>
            <a:r>
              <a:rPr lang="ru"/>
              <a:t>(One’s Complement B)</a:t>
            </a:r>
            <a:r>
              <a:rPr lang="ru" b="1"/>
              <a:t> </a:t>
            </a:r>
            <a:r>
              <a:rPr lang="ru"/>
              <a:t>- аналогична команде </a:t>
            </a:r>
            <a:r>
              <a:rPr lang="ru" b="1"/>
              <a:t>COMA</a:t>
            </a:r>
            <a:r>
              <a:rPr lang="ru"/>
              <a:t>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но для аккумулятора </a:t>
            </a:r>
            <a:r>
              <a:rPr lang="ru" b="1"/>
              <a:t>B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COM </a:t>
            </a:r>
            <a:r>
              <a:rPr lang="ru"/>
              <a:t>(One’s Complement Memory Byte) - Инвертирует все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биты в указанной ячейке памяти. Применяется для изменения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всех битов в байте по заданному адресу.</a:t>
            </a:r>
            <a:endParaRPr b="1"/>
          </a:p>
        </p:txBody>
      </p:sp>
      <p:sp>
        <p:nvSpPr>
          <p:cNvPr id="169" name="Google Shape;169;p22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300" y="1088975"/>
            <a:ext cx="1951300" cy="30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sz="2650" b="1"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311700" y="1175850"/>
            <a:ext cx="8520600" cy="3474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 </a:t>
            </a:r>
            <a:endParaRPr b="1"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#%01110111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COMA 		</a:t>
            </a:r>
            <a:r>
              <a:rPr lang="ru" b="1">
                <a:solidFill>
                  <a:srgbClr val="188038"/>
                </a:solidFill>
              </a:rPr>
              <a:t>; Инвертируем биты в A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10001000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Установлены </a:t>
            </a:r>
            <a:r>
              <a:rPr lang="ru" b="1"/>
              <a:t>N</a:t>
            </a:r>
            <a:r>
              <a:rPr lang="ru"/>
              <a:t> и </a:t>
            </a:r>
            <a:r>
              <a:rPr lang="ru" b="1"/>
              <a:t>C</a:t>
            </a:r>
            <a:r>
              <a:rPr lang="ru"/>
              <a:t> флаги.</a:t>
            </a: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ANDA, ANDB, </a:t>
            </a:r>
            <a:endParaRPr sz="2650" b="1"/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311700" y="1668450"/>
            <a:ext cx="6202800" cy="3243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ANDA </a:t>
            </a:r>
            <a:r>
              <a:rPr lang="ru"/>
              <a:t>(AND A with Memory) - Эта команда выполняет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побитовое логическое </a:t>
            </a:r>
            <a:r>
              <a:rPr lang="ru" b="1"/>
              <a:t>И</a:t>
            </a:r>
            <a:r>
              <a:rPr lang="ru"/>
              <a:t> между аккумулятором </a:t>
            </a:r>
            <a:r>
              <a:rPr lang="ru" b="1"/>
              <a:t>A</a:t>
            </a:r>
            <a:r>
              <a:rPr lang="ru"/>
              <a:t> и байтом из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памяти.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Только те биты, которые установлены в обоих операндах,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останутся единицами в результате.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ANDB </a:t>
            </a:r>
            <a:r>
              <a:rPr lang="ru"/>
              <a:t>(AND B with Memory) - аналогична команде </a:t>
            </a:r>
            <a:r>
              <a:rPr lang="ru" b="1"/>
              <a:t>ANDA</a:t>
            </a:r>
            <a:r>
              <a:rPr lang="ru"/>
              <a:t>, но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для аккумулятора </a:t>
            </a:r>
            <a:r>
              <a:rPr lang="ru" b="1"/>
              <a:t>A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84" name="Google Shape;184;p24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450" y="985575"/>
            <a:ext cx="1970625" cy="40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sz="2650" b="1"/>
          </a:p>
        </p:txBody>
      </p:sp>
      <p:sp>
        <p:nvSpPr>
          <p:cNvPr id="191" name="Google Shape;191;p25"/>
          <p:cNvSpPr txBox="1">
            <a:spLocks noGrp="1"/>
          </p:cNvSpPr>
          <p:nvPr>
            <p:ph type="body" idx="1"/>
          </p:nvPr>
        </p:nvSpPr>
        <p:spPr>
          <a:xfrm>
            <a:off x="311700" y="1239450"/>
            <a:ext cx="8468400" cy="3672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#$F0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ANDA #$0F 	</a:t>
            </a:r>
            <a:r>
              <a:rPr lang="ru" b="1">
                <a:solidFill>
                  <a:srgbClr val="188038"/>
                </a:solidFill>
              </a:rPr>
              <a:t>; Выполнить побитовое И с 0x0F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0x0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</a:t>
            </a:r>
            <a:r>
              <a:rPr lang="ru" b="1"/>
              <a:t>Z</a:t>
            </a:r>
            <a:r>
              <a:rPr lang="ru"/>
              <a:t> флаг.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92" name="Google Shape;192;p25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BITA, BITB</a:t>
            </a:r>
            <a:endParaRPr sz="2650" b="1"/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311700" y="1239450"/>
            <a:ext cx="8520600" cy="357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BITA </a:t>
            </a:r>
            <a:r>
              <a:rPr lang="ru"/>
              <a:t>(Bit(s) Test A with Memory) -  Выполняет побитовое логическое И между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аккумулятором </a:t>
            </a:r>
            <a:r>
              <a:rPr lang="ru" b="1"/>
              <a:t>A</a:t>
            </a:r>
            <a:r>
              <a:rPr lang="ru"/>
              <a:t> и байтом из памяти, не изменяя аккумулятор. Используется для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тестирования определенных битов в аккумуляторе A. Результат операции влияет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только на флаги.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BITB </a:t>
            </a:r>
            <a:r>
              <a:rPr lang="ru"/>
              <a:t>(Bit(s) Test B with Memory) - аналогична команде BITA, но для аккумулятора B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#$F0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BITA #$0F 	</a:t>
            </a:r>
            <a:r>
              <a:rPr lang="ru" b="1">
                <a:solidFill>
                  <a:srgbClr val="188038"/>
                </a:solidFill>
              </a:rPr>
              <a:t>; Выполнить побитовое И с 0x0F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только </a:t>
            </a:r>
            <a:r>
              <a:rPr lang="ru" b="1"/>
              <a:t>Z</a:t>
            </a:r>
            <a:r>
              <a:rPr lang="ru"/>
              <a:t> флаг.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199" name="Google Shape;199;p26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ORAA, ORAB</a:t>
            </a:r>
            <a:endParaRPr sz="2650" b="1"/>
          </a:p>
        </p:txBody>
      </p:sp>
      <p:sp>
        <p:nvSpPr>
          <p:cNvPr id="205" name="Google Shape;205;p27"/>
          <p:cNvSpPr txBox="1">
            <a:spLocks noGrp="1"/>
          </p:cNvSpPr>
          <p:nvPr>
            <p:ph type="body" idx="1"/>
          </p:nvPr>
        </p:nvSpPr>
        <p:spPr>
          <a:xfrm>
            <a:off x="194350" y="1668450"/>
            <a:ext cx="6749400" cy="330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ORAA </a:t>
            </a:r>
            <a:r>
              <a:rPr lang="ru"/>
              <a:t>(OR A with Memory (Inclusive)) - Выполняет побитовое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логическое </a:t>
            </a:r>
            <a:r>
              <a:rPr lang="ru" b="1"/>
              <a:t>ИЛИ</a:t>
            </a:r>
            <a:r>
              <a:rPr lang="ru"/>
              <a:t> между аккумулятором </a:t>
            </a:r>
            <a:r>
              <a:rPr lang="ru" b="1"/>
              <a:t>A</a:t>
            </a:r>
            <a:r>
              <a:rPr lang="ru"/>
              <a:t> и байтом из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Устанавливает в 1 все биты, которые равны 1 хотя бы в одном из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операндов.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ORAB </a:t>
            </a:r>
            <a:r>
              <a:rPr lang="ru"/>
              <a:t>(OR B with Memory (Inclusive)) - аналогична команде </a:t>
            </a:r>
            <a:r>
              <a:rPr lang="ru" b="1"/>
              <a:t>ORAA</a:t>
            </a:r>
            <a:r>
              <a:rPr lang="ru"/>
              <a:t>, но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для аккумулятора B</a:t>
            </a:r>
            <a:br>
              <a:rPr lang="ru"/>
            </a:br>
            <a:r>
              <a:rPr lang="ru"/>
              <a:t> </a:t>
            </a:r>
            <a:endParaRPr/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600" y="1017725"/>
            <a:ext cx="1648525" cy="36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sz="2650" b="1"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1"/>
          </p:nvPr>
        </p:nvSpPr>
        <p:spPr>
          <a:xfrm>
            <a:off x="194350" y="1668450"/>
            <a:ext cx="8728800" cy="330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#%11110000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ORAA #%00001111 	</a:t>
            </a:r>
            <a:r>
              <a:rPr lang="ru" b="1">
                <a:solidFill>
                  <a:srgbClr val="188038"/>
                </a:solidFill>
              </a:rPr>
              <a:t>; Выполнить побитовое ИЛИ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11111111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Установлен только </a:t>
            </a:r>
            <a:r>
              <a:rPr lang="ru" b="1"/>
              <a:t>N</a:t>
            </a:r>
            <a:r>
              <a:rPr lang="ru"/>
              <a:t> флаг.</a:t>
            </a: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EORA, EORB</a:t>
            </a:r>
            <a:endParaRPr sz="2650" b="1"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"/>
          </p:nvPr>
        </p:nvSpPr>
        <p:spPr>
          <a:xfrm>
            <a:off x="311700" y="1795650"/>
            <a:ext cx="6242400" cy="3102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EORA </a:t>
            </a:r>
            <a:r>
              <a:rPr lang="ru"/>
              <a:t>(OR A with Memory (Exclusive)) - Выполняет побитовое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логическое исключающее ИЛИ (</a:t>
            </a:r>
            <a:r>
              <a:rPr lang="ru" b="1"/>
              <a:t>XOR</a:t>
            </a:r>
            <a:r>
              <a:rPr lang="ru"/>
              <a:t>) между аккумулятором </a:t>
            </a:r>
            <a:r>
              <a:rPr lang="ru" b="1"/>
              <a:t>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 байтом из памяти. Устанавливает в 1 биты, которые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различаются в операндах.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EORB </a:t>
            </a:r>
            <a:r>
              <a:rPr lang="ru"/>
              <a:t>(OR B with Memory (Exclusive)) - аналогична команде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EORA</a:t>
            </a:r>
            <a:r>
              <a:rPr lang="ru"/>
              <a:t>, но для аккумулятора </a:t>
            </a:r>
            <a:r>
              <a:rPr lang="ru" b="1"/>
              <a:t>B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9947" y="1087500"/>
            <a:ext cx="1786175" cy="36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sz="2650" b="1"/>
          </a:p>
        </p:txBody>
      </p:sp>
      <p:sp>
        <p:nvSpPr>
          <p:cNvPr id="228" name="Google Shape;228;p30"/>
          <p:cNvSpPr txBox="1">
            <a:spLocks noGrp="1"/>
          </p:cNvSpPr>
          <p:nvPr>
            <p:ph type="body" idx="1"/>
          </p:nvPr>
        </p:nvSpPr>
        <p:spPr>
          <a:xfrm>
            <a:off x="311700" y="1668450"/>
            <a:ext cx="8556000" cy="3102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25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#%11110100</a:t>
            </a:r>
            <a:endParaRPr b="1">
              <a:solidFill>
                <a:srgbClr val="0000FF"/>
              </a:solidFill>
            </a:endParaRPr>
          </a:p>
          <a:p>
            <a:pPr marL="225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EORA #%10101111 	</a:t>
            </a:r>
            <a:r>
              <a:rPr lang="ru" b="1">
                <a:solidFill>
                  <a:srgbClr val="188038"/>
                </a:solidFill>
              </a:rPr>
              <a:t>; Выполнить побитовое исключающее ИЛИ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01011011</a:t>
            </a:r>
            <a:endParaRPr b="1"/>
          </a:p>
        </p:txBody>
      </p:sp>
      <p:sp>
        <p:nvSpPr>
          <p:cNvPr id="229" name="Google Shape;229;p30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sldNum" idx="12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12</a:t>
            </a:fld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351550" y="388525"/>
            <a:ext cx="7178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работы с битовыми полями </a:t>
            </a:r>
            <a:endParaRPr sz="26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32863"/>
            <a:ext cx="8839200" cy="81081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351550" y="1552450"/>
            <a:ext cx="8468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работы с битовыми полями позволяют изменять указанные биты приемника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(ячейки памяти или регистра статуса </a:t>
            </a:r>
            <a:r>
              <a:rPr lang="ru" sz="15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CCR</a:t>
            </a:r>
            <a:r>
              <a:rPr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оставляя незадействованные биты нетронутыми.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SEC, CLC</a:t>
            </a:r>
            <a:endParaRPr sz="2650" b="1"/>
          </a:p>
        </p:txBody>
      </p:sp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SEC </a:t>
            </a:r>
            <a:r>
              <a:rPr lang="ru"/>
              <a:t>(Set Carry Bit) - Устанавливает флаг переноса (</a:t>
            </a:r>
            <a:r>
              <a:rPr lang="ru" b="1"/>
              <a:t>Carry</a:t>
            </a:r>
            <a:r>
              <a:rPr lang="ru"/>
              <a:t>) в 1. Полезно для подготовки к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операциям, которые зависят от флага переноса. Применяется в арифметических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вычислениях и манипуляциях с битами.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CLC </a:t>
            </a:r>
            <a:r>
              <a:rPr lang="ru"/>
              <a:t>(Clear Carry Bit) - Очищает флаг переноса (</a:t>
            </a:r>
            <a:r>
              <a:rPr lang="ru" b="1"/>
              <a:t>Carry</a:t>
            </a:r>
            <a:r>
              <a:rPr lang="ru"/>
              <a:t>), устанавливая его в 0.</a:t>
            </a: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SEI, CLI</a:t>
            </a:r>
            <a:endParaRPr sz="2650" b="1"/>
          </a:p>
        </p:txBody>
      </p:sp>
      <p:sp>
        <p:nvSpPr>
          <p:cNvPr id="250" name="Google Shape;250;p33"/>
          <p:cNvSpPr txBox="1">
            <a:spLocks noGrp="1"/>
          </p:cNvSpPr>
          <p:nvPr>
            <p:ph type="body" idx="1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SEI </a:t>
            </a:r>
            <a:r>
              <a:rPr lang="ru"/>
              <a:t>(Set Interrupt Mask Bit) - Устанавливает бит маски прерываний I в 1, запрещая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прерывания. Применяется, когда нужно временно отключить все маскируемые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прерывания для критических операций.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CLI </a:t>
            </a:r>
            <a:r>
              <a:rPr lang="ru"/>
              <a:t>(Clear Interrupt Mask Bit) - Очищает бит маски прерываний I, позволяя прерываниям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происходить. Используется для включения прерываний после выполнения критических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операций.</a:t>
            </a: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SEV, CLV</a:t>
            </a:r>
            <a:endParaRPr sz="2650" b="1"/>
          </a:p>
        </p:txBody>
      </p:sp>
      <p:sp>
        <p:nvSpPr>
          <p:cNvPr id="257" name="Google Shape;257;p34"/>
          <p:cNvSpPr txBox="1">
            <a:spLocks noGrp="1"/>
          </p:cNvSpPr>
          <p:nvPr>
            <p:ph type="body" idx="1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SEV </a:t>
            </a:r>
            <a:r>
              <a:rPr lang="ru"/>
              <a:t>(Set Overflow Bit) - Устанавливает флаг переполнения </a:t>
            </a:r>
            <a:r>
              <a:rPr lang="ru" b="1"/>
              <a:t>V</a:t>
            </a:r>
            <a:r>
              <a:rPr lang="ru"/>
              <a:t> в 1. Полезно, когда нужно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вручную установить флаг переполнения для тестирования или специальных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операций.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CLV </a:t>
            </a:r>
            <a:r>
              <a:rPr lang="ru"/>
              <a:t>(Clear Overflow Bit) - Очищает флаг переполнения </a:t>
            </a:r>
            <a:r>
              <a:rPr lang="ru" b="1"/>
              <a:t>V</a:t>
            </a:r>
            <a:r>
              <a:rPr lang="ru"/>
              <a:t>, устанавливая его в 0.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58" name="Google Shape;258;p34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BSET, BCLR</a:t>
            </a:r>
            <a:endParaRPr sz="2650" b="1"/>
          </a:p>
        </p:txBody>
      </p:sp>
      <p:sp>
        <p:nvSpPr>
          <p:cNvPr id="264" name="Google Shape;264;p35"/>
          <p:cNvSpPr txBox="1">
            <a:spLocks noGrp="1"/>
          </p:cNvSpPr>
          <p:nvPr>
            <p:ph type="body" idx="1"/>
          </p:nvPr>
        </p:nvSpPr>
        <p:spPr>
          <a:xfrm>
            <a:off x="311700" y="1207650"/>
            <a:ext cx="8595600" cy="3688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Команды </a:t>
            </a:r>
            <a:r>
              <a:rPr lang="ru" b="1"/>
              <a:t>BCLR (Clear Bit(s) in Memory)</a:t>
            </a:r>
            <a:r>
              <a:rPr lang="ru"/>
              <a:t> и </a:t>
            </a:r>
            <a:r>
              <a:rPr lang="ru" b="1"/>
              <a:t>BSET (Set Bit(s) in Memory) </a:t>
            </a:r>
            <a:r>
              <a:rPr lang="ru"/>
              <a:t>являются важными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инструментами для управления отдельными битами в ячейках памяти. Эти команды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позволяют эффективно изменять состояние битов, используя битовые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маски.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BCLR </a:t>
            </a:r>
            <a:r>
              <a:rPr lang="ru"/>
              <a:t>- Сбрасывает (устанавливает в </a:t>
            </a:r>
            <a:r>
              <a:rPr lang="ru" b="1"/>
              <a:t>0</a:t>
            </a:r>
            <a:r>
              <a:rPr lang="ru"/>
              <a:t>) определенные биты в указанной ячейке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Первый операнд: адрес целевой ячейки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Второй операнд: маска, которая определяет, какие биты необходимо сбросить.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BSET </a:t>
            </a:r>
            <a:r>
              <a:rPr lang="ru"/>
              <a:t>- Аналогична </a:t>
            </a:r>
            <a:r>
              <a:rPr lang="ru" b="1"/>
              <a:t>BCLR</a:t>
            </a:r>
            <a:r>
              <a:rPr lang="ru"/>
              <a:t>, но устанавливает определенные биты в </a:t>
            </a:r>
            <a:r>
              <a:rPr lang="ru" b="1"/>
              <a:t>1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br>
              <a:rPr lang="ru" b="1"/>
            </a:br>
            <a:endParaRPr b="1"/>
          </a:p>
        </p:txBody>
      </p:sp>
      <p:sp>
        <p:nvSpPr>
          <p:cNvPr id="265" name="Google Shape;265;p35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кода</a:t>
            </a:r>
            <a:endParaRPr sz="2650" b="1"/>
          </a:p>
        </p:txBody>
      </p:sp>
      <p:sp>
        <p:nvSpPr>
          <p:cNvPr id="271" name="Google Shape;271;p36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4013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#%10010011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STAA $20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BCLR $20,#%01000011 </a:t>
            </a:r>
            <a:r>
              <a:rPr lang="ru" b="1">
                <a:solidFill>
                  <a:srgbClr val="188038"/>
                </a:solidFill>
              </a:rPr>
              <a:t>; Сбросить биты 0, 1, 6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$20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10010000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#%10011011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STAA $20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BSET $20,#%01001011 </a:t>
            </a:r>
            <a:r>
              <a:rPr lang="ru" b="1">
                <a:solidFill>
                  <a:srgbClr val="188038"/>
                </a:solidFill>
              </a:rPr>
              <a:t>; Установить биты 0, 1, 3, 6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LDAA $20</a:t>
            </a:r>
            <a:endParaRPr b="1">
              <a:solidFill>
                <a:srgbClr val="0000FF"/>
              </a:solidFill>
            </a:endParaRPr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Значение в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11011011</a:t>
            </a:r>
            <a:endParaRPr b="1"/>
          </a:p>
          <a:p>
            <a:pPr marL="2789999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	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br>
              <a:rPr lang="ru" b="1"/>
            </a:br>
            <a:endParaRPr b="1"/>
          </a:p>
        </p:txBody>
      </p:sp>
      <p:sp>
        <p:nvSpPr>
          <p:cNvPr id="272" name="Google Shape;272;p36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>
            <a:spLocks noGrp="1"/>
          </p:cNvSpPr>
          <p:nvPr>
            <p:ph type="sldNum" idx="12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18</a:t>
            </a:fld>
            <a:endParaRPr/>
          </a:p>
        </p:txBody>
      </p:sp>
      <p:sp>
        <p:nvSpPr>
          <p:cNvPr id="278" name="Google Shape;278;p37"/>
          <p:cNvSpPr txBox="1"/>
          <p:nvPr/>
        </p:nvSpPr>
        <p:spPr>
          <a:xfrm>
            <a:off x="351550" y="388525"/>
            <a:ext cx="7178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Команды сдвигов </a:t>
            </a:r>
            <a:endParaRPr sz="26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41475"/>
            <a:ext cx="8839200" cy="126080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/>
        </p:nvSpPr>
        <p:spPr>
          <a:xfrm>
            <a:off x="152350" y="1264025"/>
            <a:ext cx="8839200" cy="12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Команды сдвигов обычно подразделяют на три группы: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логические сдвиги;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арифметические сдвиги;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latin typeface="Century Gothic"/>
                <a:ea typeface="Century Gothic"/>
                <a:cs typeface="Century Gothic"/>
                <a:sym typeface="Century Gothic"/>
              </a:rPr>
              <a:t>• циклические сдвиги.</a:t>
            </a:r>
            <a:endParaRPr sz="15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Логические сдвиги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286" name="Google Shape;286;p38"/>
          <p:cNvSpPr txBox="1">
            <a:spLocks noGrp="1"/>
          </p:cNvSpPr>
          <p:nvPr>
            <p:ph type="body" idx="1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Сдвиг, при котором уходящий бит исчезает, не влияя на оставшиеся биты, а на месте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появившегося бита записывается бит 0.</a:t>
            </a:r>
            <a:endParaRPr b="1"/>
          </a:p>
        </p:txBody>
      </p:sp>
      <p:sp>
        <p:nvSpPr>
          <p:cNvPr id="287" name="Google Shape;287;p38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19</a:t>
            </a:fld>
            <a:endParaRPr/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625" y="2018525"/>
            <a:ext cx="3004425" cy="287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8893" y="2047325"/>
            <a:ext cx="3047283" cy="28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LSLA, LSLB, LSLD, LSL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295" name="Google Shape;295;p39"/>
          <p:cNvSpPr txBox="1">
            <a:spLocks noGrp="1"/>
          </p:cNvSpPr>
          <p:nvPr>
            <p:ph type="body" idx="1"/>
          </p:nvPr>
        </p:nvSpPr>
        <p:spPr>
          <a:xfrm>
            <a:off x="405300" y="1318950"/>
            <a:ext cx="8520600" cy="3609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LSLA </a:t>
            </a:r>
            <a:r>
              <a:rPr lang="ru"/>
              <a:t>(Logical Shift Left A) -  Логический сдвиг влево регистра </a:t>
            </a:r>
            <a:r>
              <a:rPr lang="ru" b="1"/>
              <a:t>A.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LSLB </a:t>
            </a:r>
            <a:r>
              <a:rPr lang="ru"/>
              <a:t>(Logical Shift Left B) -  Логический сдвиг влево регистра</a:t>
            </a:r>
            <a:r>
              <a:rPr lang="ru" b="1"/>
              <a:t> B.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LSLD </a:t>
            </a:r>
            <a:r>
              <a:rPr lang="ru"/>
              <a:t>(Logical Shift Left D) -  Логический сдвиг влево регистра</a:t>
            </a:r>
            <a:r>
              <a:rPr lang="ru" b="1"/>
              <a:t> D.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LSL </a:t>
            </a:r>
            <a:r>
              <a:rPr lang="ru"/>
              <a:t>(Logical Shift Left Memory) - Логический сдвиг влево байта в памяти.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 </a:t>
            </a:r>
            <a:r>
              <a:rPr lang="ru" b="1">
                <a:solidFill>
                  <a:srgbClr val="0000FF"/>
                </a:solidFill>
              </a:rPr>
              <a:t>LDAA #%10010011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 LSLA 		</a:t>
            </a:r>
            <a:r>
              <a:rPr lang="ru" b="1">
                <a:solidFill>
                  <a:srgbClr val="188038"/>
                </a:solidFill>
              </a:rPr>
              <a:t>; Логический сдвиг влево регистра A. 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00100110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 </a:t>
            </a:r>
            <a:r>
              <a:rPr lang="ru"/>
              <a:t>-</a:t>
            </a:r>
            <a:r>
              <a:rPr lang="ru" b="1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lang="ru" b="1"/>
              <a:t>C </a:t>
            </a:r>
            <a:r>
              <a:rPr lang="ru"/>
              <a:t>=</a:t>
            </a:r>
            <a:r>
              <a:rPr lang="ru" b="1"/>
              <a:t> 1</a:t>
            </a:r>
            <a:r>
              <a:rPr lang="ru"/>
              <a:t>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LSRA, LSRB, LSRD, LSR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02" name="Google Shape;302;p40"/>
          <p:cNvSpPr txBox="1">
            <a:spLocks noGrp="1"/>
          </p:cNvSpPr>
          <p:nvPr>
            <p:ph type="body" idx="1"/>
          </p:nvPr>
        </p:nvSpPr>
        <p:spPr>
          <a:xfrm>
            <a:off x="311700" y="1191750"/>
            <a:ext cx="8520600" cy="3800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LSRA</a:t>
            </a:r>
            <a:r>
              <a:rPr lang="ru"/>
              <a:t> (Logical Shift Right A) - Логический сдвиг вправо регистра </a:t>
            </a:r>
            <a:r>
              <a:rPr lang="ru" b="1"/>
              <a:t>A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LSRB </a:t>
            </a:r>
            <a:r>
              <a:rPr lang="ru"/>
              <a:t>(Logical Shift Right B) - Логический сдвиг вправо регистра </a:t>
            </a:r>
            <a:r>
              <a:rPr lang="ru" b="1"/>
              <a:t>B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LSRD </a:t>
            </a:r>
            <a:r>
              <a:rPr lang="ru"/>
              <a:t>(Logical Shift Right D) - Логический сдвиг вправо регистра </a:t>
            </a:r>
            <a:r>
              <a:rPr lang="ru" b="1"/>
              <a:t>D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LSR </a:t>
            </a:r>
            <a:r>
              <a:rPr lang="ru"/>
              <a:t>(Logical Shift Right Memory) - Логический сдвиг вправо байта в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#%10010111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LSRA 		</a:t>
            </a:r>
            <a:r>
              <a:rPr lang="ru" b="1">
                <a:solidFill>
                  <a:srgbClr val="188038"/>
                </a:solidFill>
              </a:rPr>
              <a:t>; Логический сдвиг вправо регистра A. 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01001011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 </a:t>
            </a:r>
            <a:r>
              <a:rPr lang="ru"/>
              <a:t>-</a:t>
            </a:r>
            <a:r>
              <a:rPr lang="ru" b="1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lang="ru" b="1"/>
              <a:t>C </a:t>
            </a:r>
            <a:r>
              <a:rPr lang="ru"/>
              <a:t>=</a:t>
            </a:r>
            <a:r>
              <a:rPr lang="ru" b="1"/>
              <a:t> 1</a:t>
            </a:r>
            <a:r>
              <a:rPr lang="ru"/>
              <a:t>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03" name="Google Shape;303;p40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Арифметические сдвиги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При сдвиге влево ведёт себя как логический сдвиг, при сдвиге вправо уходящий бит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исчезает, не влияя на оставшиеся биты, а на месте появившегося бита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устанавливается бит, соответствующий знаку. При арифметическом сдвиге сдвиг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влево соответствует умножению на 2, а сдвиг вправо — делению на 2 </a:t>
            </a:r>
            <a:endParaRPr b="1"/>
          </a:p>
        </p:txBody>
      </p:sp>
      <p:sp>
        <p:nvSpPr>
          <p:cNvPr id="310" name="Google Shape;310;p41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22</a:t>
            </a:fld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950" y="2378400"/>
            <a:ext cx="2735643" cy="26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275" y="2378400"/>
            <a:ext cx="2432625" cy="26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ASLA, ASLB, ASLD, ASL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18" name="Google Shape;318;p42"/>
          <p:cNvSpPr txBox="1">
            <a:spLocks noGrp="1"/>
          </p:cNvSpPr>
          <p:nvPr>
            <p:ph type="body" idx="1"/>
          </p:nvPr>
        </p:nvSpPr>
        <p:spPr>
          <a:xfrm>
            <a:off x="405300" y="1358700"/>
            <a:ext cx="8520600" cy="359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ASLA </a:t>
            </a:r>
            <a:r>
              <a:rPr lang="ru"/>
              <a:t>(Arithmetic Shift Left A) - Арифметический сдвиг влево аккумулятора </a:t>
            </a:r>
            <a:r>
              <a:rPr lang="ru" b="1"/>
              <a:t>A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ASLB </a:t>
            </a:r>
            <a:r>
              <a:rPr lang="ru"/>
              <a:t>(Arithmetic Shift Left B) - Арифметический сдвиг влево аккумулятора </a:t>
            </a:r>
            <a:r>
              <a:rPr lang="ru" b="1"/>
              <a:t>B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ASLD </a:t>
            </a:r>
            <a:r>
              <a:rPr lang="ru"/>
              <a:t>(Arithmetic Shift Left D) - Арифметический сдвиг влево аккумулятора </a:t>
            </a:r>
            <a:r>
              <a:rPr lang="ru" b="1"/>
              <a:t>D</a:t>
            </a:r>
            <a:r>
              <a:rPr lang="ru"/>
              <a:t>.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ASL </a:t>
            </a:r>
            <a:r>
              <a:rPr lang="ru"/>
              <a:t>(Arithmetic Shift Left Memory) - Арифметический сдвиг влево байта в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#%10010011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ASLA 	</a:t>
            </a:r>
            <a:r>
              <a:rPr lang="ru" b="1">
                <a:solidFill>
                  <a:srgbClr val="188038"/>
                </a:solidFill>
              </a:rPr>
              <a:t>; Арифметический сдвиг влево регистра A. 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00100110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Аналогично логическому сдвигу влево</a:t>
            </a:r>
            <a:endParaRPr b="1"/>
          </a:p>
        </p:txBody>
      </p:sp>
      <p:sp>
        <p:nvSpPr>
          <p:cNvPr id="319" name="Google Shape;319;p42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ASRA, ASRB, ASR*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25" name="Google Shape;325;p43"/>
          <p:cNvSpPr txBox="1">
            <a:spLocks noGrp="1"/>
          </p:cNvSpPr>
          <p:nvPr>
            <p:ph type="body" idx="1"/>
          </p:nvPr>
        </p:nvSpPr>
        <p:spPr>
          <a:xfrm>
            <a:off x="311700" y="1159950"/>
            <a:ext cx="8520600" cy="3863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ASRA </a:t>
            </a:r>
            <a:r>
              <a:rPr lang="ru"/>
              <a:t>(Arithmetic Shift Right A) - Арифметический сдвиг вправо регистра </a:t>
            </a:r>
            <a:r>
              <a:rPr lang="ru" b="1"/>
              <a:t>A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ASRB </a:t>
            </a:r>
            <a:r>
              <a:rPr lang="ru"/>
              <a:t>(Arithmetic Shift Right B) - Арифметический сдвиг вправо регистра </a:t>
            </a:r>
            <a:r>
              <a:rPr lang="ru" b="1"/>
              <a:t>B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ASR </a:t>
            </a:r>
            <a:r>
              <a:rPr lang="ru"/>
              <a:t>(Arithmetic Shift Right Memory) - Арифметический сдвиг вправо байта в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Арифметический сдвиг вправо сохраняет знак числа, копируя старший бит влево.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#%10010111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ASRA </a:t>
            </a:r>
            <a:r>
              <a:rPr lang="ru" b="1">
                <a:solidFill>
                  <a:srgbClr val="188038"/>
                </a:solidFill>
              </a:rPr>
              <a:t>; Арифметический сдвиг вправо регистра A.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11001011</a:t>
            </a:r>
            <a:r>
              <a:rPr lang="ru"/>
              <a:t>. При логическом сдвиге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получилось значение </a:t>
            </a:r>
            <a:r>
              <a:rPr lang="ru" b="1"/>
              <a:t>01001011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C </a:t>
            </a:r>
            <a:r>
              <a:rPr lang="ru"/>
              <a:t>-</a:t>
            </a:r>
            <a:r>
              <a:rPr lang="ru" b="1"/>
              <a:t> </a:t>
            </a:r>
            <a:r>
              <a:rPr lang="ru"/>
              <a:t>устанавливается в значение старшего бита до сдвига. (в этом случае </a:t>
            </a:r>
            <a:r>
              <a:rPr lang="ru" b="1"/>
              <a:t>C </a:t>
            </a:r>
            <a:r>
              <a:rPr lang="ru"/>
              <a:t>=</a:t>
            </a:r>
            <a:r>
              <a:rPr lang="ru" b="1"/>
              <a:t> 1</a:t>
            </a:r>
            <a:r>
              <a:rPr lang="ru"/>
              <a:t>)</a:t>
            </a:r>
            <a:endParaRPr/>
          </a:p>
          <a:p>
            <a:pPr marL="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Другие флаги могут быть изменены в зависимости от результата.</a:t>
            </a:r>
            <a:r>
              <a:rPr lang="ru" b="1">
                <a:solidFill>
                  <a:srgbClr val="188038"/>
                </a:solidFill>
              </a:rPr>
              <a:t> </a:t>
            </a:r>
            <a:endParaRPr b="1"/>
          </a:p>
        </p:txBody>
      </p:sp>
      <p:sp>
        <p:nvSpPr>
          <p:cNvPr id="326" name="Google Shape;326;p43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Циклические сдвиги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32" name="Google Shape;332;p44"/>
          <p:cNvSpPr txBox="1">
            <a:spLocks noGrp="1"/>
          </p:cNvSpPr>
          <p:nvPr>
            <p:ph type="body" idx="1"/>
          </p:nvPr>
        </p:nvSpPr>
        <p:spPr>
          <a:xfrm>
            <a:off x="405300" y="1032775"/>
            <a:ext cx="8520600" cy="3887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Данная операция выполняет циклический сдвиг над (n+1)-битным числом, состоящим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из регистра и флага переноса. Отличие этих операций от операций логического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сдвига состоит в том, что освободившийся разряд заполняется не нулем, а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состоянием флага переноса </a:t>
            </a:r>
            <a:r>
              <a:rPr lang="ru" b="1"/>
              <a:t>С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4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25</a:t>
            </a:fld>
            <a:endParaRPr/>
          </a:p>
        </p:txBody>
      </p:sp>
      <p:pic>
        <p:nvPicPr>
          <p:cNvPr id="334" name="Google Shape;3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925" y="2358825"/>
            <a:ext cx="2466325" cy="26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625" y="2358822"/>
            <a:ext cx="2466325" cy="268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ROLA, ROLB, ROL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41" name="Google Shape;341;p45"/>
          <p:cNvSpPr txBox="1">
            <a:spLocks noGrp="1"/>
          </p:cNvSpPr>
          <p:nvPr>
            <p:ph type="body" idx="1"/>
          </p:nvPr>
        </p:nvSpPr>
        <p:spPr>
          <a:xfrm>
            <a:off x="311700" y="1303050"/>
            <a:ext cx="8520600" cy="3585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ROLA </a:t>
            </a:r>
            <a:r>
              <a:rPr lang="ru"/>
              <a:t>(Rotate Left through Carry Accumulator A)</a:t>
            </a:r>
            <a:r>
              <a:rPr lang="ru" b="1"/>
              <a:t> </a:t>
            </a:r>
            <a:r>
              <a:rPr lang="ru"/>
              <a:t>- Циклический сдвиг влево регистра </a:t>
            </a:r>
            <a:r>
              <a:rPr lang="ru" b="1"/>
              <a:t>A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ROLB </a:t>
            </a:r>
            <a:r>
              <a:rPr lang="ru"/>
              <a:t>(Rotate Left through Carry Accumulator B)</a:t>
            </a:r>
            <a:r>
              <a:rPr lang="ru" b="1"/>
              <a:t> </a:t>
            </a:r>
            <a:r>
              <a:rPr lang="ru"/>
              <a:t>- Циклический сдвиг влево регистра </a:t>
            </a:r>
            <a:r>
              <a:rPr lang="ru" b="1"/>
              <a:t>B</a:t>
            </a:r>
            <a:r>
              <a:rPr lang="ru"/>
              <a:t>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ROL </a:t>
            </a:r>
            <a:r>
              <a:rPr lang="ru"/>
              <a:t>(Rotate Left through Carry) - Циклический сдвиг влево байта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#%00010111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SEC 		</a:t>
            </a:r>
            <a:r>
              <a:rPr lang="ru" b="1">
                <a:solidFill>
                  <a:srgbClr val="188038"/>
                </a:solidFill>
              </a:rPr>
              <a:t>; Устанавливаем Carry флаг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ROLA 	</a:t>
            </a:r>
            <a:r>
              <a:rPr lang="ru" b="1">
                <a:solidFill>
                  <a:srgbClr val="188038"/>
                </a:solidFill>
              </a:rPr>
              <a:t>; Циклический сдвиг влево регистра A.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00101111</a:t>
            </a:r>
            <a:r>
              <a:rPr lang="ru"/>
              <a:t>. </a:t>
            </a:r>
            <a:endParaRPr/>
          </a:p>
        </p:txBody>
      </p:sp>
      <p:sp>
        <p:nvSpPr>
          <p:cNvPr id="342" name="Google Shape;342;p45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07800" cy="961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RORA, RORB, ROR*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sz="2650" b="1"/>
          </a:p>
        </p:txBody>
      </p:sp>
      <p:sp>
        <p:nvSpPr>
          <p:cNvPr id="348" name="Google Shape;348;p46"/>
          <p:cNvSpPr txBox="1">
            <a:spLocks noGrp="1"/>
          </p:cNvSpPr>
          <p:nvPr>
            <p:ph type="body" idx="1"/>
          </p:nvPr>
        </p:nvSpPr>
        <p:spPr>
          <a:xfrm>
            <a:off x="311700" y="1406225"/>
            <a:ext cx="8707800" cy="3553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RORA </a:t>
            </a:r>
            <a:r>
              <a:rPr lang="ru"/>
              <a:t>(Rotate Right through Carry Accumulator A)</a:t>
            </a:r>
            <a:r>
              <a:rPr lang="ru" b="1"/>
              <a:t> </a:t>
            </a:r>
            <a:r>
              <a:rPr lang="ru"/>
              <a:t>- Циклический сдвиг вправо регистра </a:t>
            </a:r>
            <a:r>
              <a:rPr lang="ru" b="1"/>
              <a:t>A</a:t>
            </a:r>
            <a:r>
              <a:rPr lang="ru"/>
              <a:t>.</a:t>
            </a:r>
            <a:r>
              <a:rPr lang="ru" b="1"/>
              <a:t> 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RORB </a:t>
            </a:r>
            <a:r>
              <a:rPr lang="ru"/>
              <a:t>(Rotate Right through Carry Accumulator B)</a:t>
            </a:r>
            <a:r>
              <a:rPr lang="ru" b="1"/>
              <a:t> </a:t>
            </a:r>
            <a:r>
              <a:rPr lang="ru"/>
              <a:t>- Циклический сдвиг вправо регистра </a:t>
            </a:r>
            <a:r>
              <a:rPr lang="ru" b="1"/>
              <a:t>B</a:t>
            </a:r>
            <a:r>
              <a:rPr lang="ru"/>
              <a:t>.</a:t>
            </a:r>
            <a:endParaRPr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/>
              <a:t>ROR </a:t>
            </a:r>
            <a:r>
              <a:rPr lang="ru"/>
              <a:t>(Rotate Right through Carry)</a:t>
            </a:r>
            <a:r>
              <a:rPr lang="ru" b="1"/>
              <a:t> </a:t>
            </a:r>
            <a:r>
              <a:rPr lang="ru"/>
              <a:t>- Циклический сдвиг вправо байта памяти.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LDAA #%00010111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SEC 		</a:t>
            </a:r>
            <a:r>
              <a:rPr lang="ru" b="1">
                <a:solidFill>
                  <a:srgbClr val="188038"/>
                </a:solidFill>
              </a:rPr>
              <a:t>; Устанавливаем Carry флаг</a:t>
            </a:r>
            <a:endParaRPr b="1">
              <a:solidFill>
                <a:srgbClr val="0000FF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FF"/>
                </a:solidFill>
              </a:rPr>
              <a:t>RORA 	</a:t>
            </a:r>
            <a:r>
              <a:rPr lang="ru" b="1">
                <a:solidFill>
                  <a:srgbClr val="188038"/>
                </a:solidFill>
              </a:rPr>
              <a:t>; Циклический сдвиг вправо регистра A.</a:t>
            </a:r>
            <a:endParaRPr b="1">
              <a:solidFill>
                <a:srgbClr val="188038"/>
              </a:solidFill>
            </a:endParaRPr>
          </a:p>
          <a:p>
            <a:pPr marL="3240000" lvl="0" indent="0" algn="just" rtl="0">
              <a:spcBef>
                <a:spcPts val="800"/>
              </a:spcBef>
              <a:spcAft>
                <a:spcPts val="0"/>
              </a:spcAft>
              <a:buNone/>
            </a:pPr>
            <a:endParaRPr b="1">
              <a:solidFill>
                <a:srgbClr val="188038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значение в регистре </a:t>
            </a:r>
            <a:r>
              <a:rPr lang="ru" b="1"/>
              <a:t>A</a:t>
            </a:r>
            <a:r>
              <a:rPr lang="ru"/>
              <a:t> - </a:t>
            </a:r>
            <a:r>
              <a:rPr lang="ru" b="1"/>
              <a:t>10001011</a:t>
            </a:r>
            <a:r>
              <a:rPr lang="ru"/>
              <a:t>. </a:t>
            </a:r>
            <a:endParaRPr/>
          </a:p>
        </p:txBody>
      </p:sp>
      <p:sp>
        <p:nvSpPr>
          <p:cNvPr id="349" name="Google Shape;349;p46"/>
          <p:cNvSpPr txBox="1">
            <a:spLocks noGrp="1"/>
          </p:cNvSpPr>
          <p:nvPr>
            <p:ph type="sldNum" idx="12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Ион">
  <a:themeElements>
    <a:clrScheme name="Другая 1">
      <a:dk1>
        <a:srgbClr val="FFFFFF"/>
      </a:dk1>
      <a:lt1>
        <a:srgbClr val="171717"/>
      </a:lt1>
      <a:dk2>
        <a:srgbClr val="FFFFFF"/>
      </a:dk2>
      <a:lt2>
        <a:srgbClr val="171717"/>
      </a:lt2>
      <a:accent1>
        <a:srgbClr val="B7CDD7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Microsoft Office PowerPoint</Application>
  <PresentationFormat>Экран (16:9)</PresentationFormat>
  <Paragraphs>266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Noto Sans Symbols</vt:lpstr>
      <vt:lpstr>Ион</vt:lpstr>
      <vt:lpstr>ЛОГИЧЕСКИЕ КОМАНДЫ.  КОМАНДЫ РАБОТЫ С БИТОВЫМИ ПОЛЯМИ.  КОМАНДЫ СДВИГОВ </vt:lpstr>
      <vt:lpstr>Презентация PowerPoint</vt:lpstr>
      <vt:lpstr>Команды COMA, COMB, COM </vt:lpstr>
      <vt:lpstr>Пример кода</vt:lpstr>
      <vt:lpstr>Команды ANDA, ANDB, </vt:lpstr>
      <vt:lpstr>Пример кода</vt:lpstr>
      <vt:lpstr>Команды BITA, BITB</vt:lpstr>
      <vt:lpstr>Команды ORAA, ORAB</vt:lpstr>
      <vt:lpstr>Пример кода</vt:lpstr>
      <vt:lpstr>Команды EORA, EORB</vt:lpstr>
      <vt:lpstr>Пример кода</vt:lpstr>
      <vt:lpstr>Презентация PowerPoint</vt:lpstr>
      <vt:lpstr>Команды SEC, CLC</vt:lpstr>
      <vt:lpstr>Команды SEI, CLI</vt:lpstr>
      <vt:lpstr>Команды SEV, CLV</vt:lpstr>
      <vt:lpstr>Команды BSET, BCLR</vt:lpstr>
      <vt:lpstr>Пример кода</vt:lpstr>
      <vt:lpstr>Презентация PowerPoint</vt:lpstr>
      <vt:lpstr> Логические сдвиги  </vt:lpstr>
      <vt:lpstr>Команды LSLA, LSLB, LSLD, LSL  </vt:lpstr>
      <vt:lpstr>Команды LSRA, LSRB, LSRD, LSR    </vt:lpstr>
      <vt:lpstr> Арифметические сдвиги  </vt:lpstr>
      <vt:lpstr>Команды ASLA, ASLB, ASLD, ASL  </vt:lpstr>
      <vt:lpstr>Команды ASRA, ASRB, ASR*   </vt:lpstr>
      <vt:lpstr> Циклические сдвиги  </vt:lpstr>
      <vt:lpstr>Команды ROLA, ROLB, ROL     </vt:lpstr>
      <vt:lpstr>Команды RORA, RORB, ROR*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khala</dc:creator>
  <cp:lastModifiedBy>khalamov2000@gmail.com</cp:lastModifiedBy>
  <cp:revision>1</cp:revision>
  <dcterms:modified xsi:type="dcterms:W3CDTF">2025-09-19T16:25:23Z</dcterms:modified>
</cp:coreProperties>
</file>