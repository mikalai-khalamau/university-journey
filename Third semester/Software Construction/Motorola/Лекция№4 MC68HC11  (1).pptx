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embeddedFontLst>
    <p:embeddedFont>
      <p:font typeface="Century Gothic"/>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DD9ACC-51E4-4121-A8ED-26EB5A1B6551}">
  <a:tblStyle styleId="{3CDD9ACC-51E4-4121-A8ED-26EB5A1B655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CenturyGothic-bold.fntdata"/><Relationship Id="rId50" Type="http://schemas.openxmlformats.org/officeDocument/2006/relationships/font" Target="fonts/CenturyGothic-regular.fntdata"/><Relationship Id="rId53" Type="http://schemas.openxmlformats.org/officeDocument/2006/relationships/font" Target="fonts/CenturyGothic-boldItalic.fntdata"/><Relationship Id="rId52" Type="http://schemas.openxmlformats.org/officeDocument/2006/relationships/font" Target="fonts/CenturyGothic-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fbbdaebea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fbbdaebea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fbbdaebea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fbbdaebea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fe3b853196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fe3b853196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06327a173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06327a173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06327a173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06327a173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fbbdaebea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fbbdaebea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06327a173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06327a173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06327a173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06327a173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06327a173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06327a173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06327a173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06327a173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06327a173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06327a173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06327a1739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06327a173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06327a1739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06327a1739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06327a173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06327a173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06327a1739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06327a1739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06327a1739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06327a1739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06327a1739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06327a1739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06327a1739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06327a1739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06327a1739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06327a1739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06db5d6b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06db5d6b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06327a173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06327a173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06327a1739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06327a1739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06327a1739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06327a1739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06327a1739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06327a1739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06327a1739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06327a1739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06327a1739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06327a1739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06327a1739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06327a1739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06db5d6bb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06db5d6bb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fe3b853196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fe3b853196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06327a1739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06327a1739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06327a1739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06327a1739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06327a1739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06327a1739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068eb65852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068eb6585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068eb65852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068eb65852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068eb65852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068eb65852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068eb65852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068eb65852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068eb65852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068eb65852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068eb65852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068eb65852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068eb65852_3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068eb65852_3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068eb65852_3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068eb65852_3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068eb65852_3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068eb65852_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06db5d6bb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06db5d6bb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256050" y="266300"/>
            <a:ext cx="7229400" cy="819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Clr>
                <a:schemeClr val="lt2"/>
              </a:buClr>
              <a:buSzPts val="2650"/>
              <a:buNone/>
              <a:defRPr b="1" sz="265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 name="Google Shape;19;p2"/>
          <p:cNvSpPr txBox="1"/>
          <p:nvPr>
            <p:ph idx="1" type="subTitle"/>
          </p:nvPr>
        </p:nvSpPr>
        <p:spPr>
          <a:xfrm>
            <a:off x="866216" y="3583035"/>
            <a:ext cx="6619200" cy="646200"/>
          </a:xfrm>
          <a:prstGeom prst="rect">
            <a:avLst/>
          </a:prstGeom>
          <a:noFill/>
          <a:ln>
            <a:noFill/>
          </a:ln>
        </p:spPr>
        <p:txBody>
          <a:bodyPr anchorCtr="0" anchor="t" bIns="34275" lIns="68575" spcFirstLastPara="1" rIns="68575" wrap="square" tIns="34275">
            <a:normAutofit/>
          </a:bodyPr>
          <a:lstStyle>
            <a:lvl1pPr lvl="0" algn="l">
              <a:spcBef>
                <a:spcPts val="800"/>
              </a:spcBef>
              <a:spcAft>
                <a:spcPts val="0"/>
              </a:spcAft>
              <a:buSzPts val="1200"/>
              <a:buNone/>
              <a:defRPr cap="none">
                <a:solidFill>
                  <a:schemeClr val="dk2"/>
                </a:solidFill>
              </a:defRPr>
            </a:lvl1pPr>
            <a:lvl2pPr lvl="1" algn="ctr">
              <a:spcBef>
                <a:spcPts val="800"/>
              </a:spcBef>
              <a:spcAft>
                <a:spcPts val="0"/>
              </a:spcAft>
              <a:buSzPts val="1100"/>
              <a:buNone/>
              <a:defRPr>
                <a:solidFill>
                  <a:srgbClr val="898989"/>
                </a:solidFill>
              </a:defRPr>
            </a:lvl2pPr>
            <a:lvl3pPr lvl="2" algn="ctr">
              <a:spcBef>
                <a:spcPts val="800"/>
              </a:spcBef>
              <a:spcAft>
                <a:spcPts val="0"/>
              </a:spcAft>
              <a:buSzPts val="1000"/>
              <a:buNone/>
              <a:defRPr>
                <a:solidFill>
                  <a:srgbClr val="898989"/>
                </a:solidFill>
              </a:defRPr>
            </a:lvl3pPr>
            <a:lvl4pPr lvl="3" algn="ctr">
              <a:spcBef>
                <a:spcPts val="800"/>
              </a:spcBef>
              <a:spcAft>
                <a:spcPts val="0"/>
              </a:spcAft>
              <a:buSzPts val="800"/>
              <a:buNone/>
              <a:defRPr>
                <a:solidFill>
                  <a:srgbClr val="898989"/>
                </a:solidFill>
              </a:defRPr>
            </a:lvl4pPr>
            <a:lvl5pPr lvl="4" algn="ctr">
              <a:spcBef>
                <a:spcPts val="800"/>
              </a:spcBef>
              <a:spcAft>
                <a:spcPts val="0"/>
              </a:spcAft>
              <a:buSzPts val="800"/>
              <a:buNone/>
              <a:defRPr>
                <a:solidFill>
                  <a:srgbClr val="898989"/>
                </a:solidFill>
              </a:defRPr>
            </a:lvl5pPr>
            <a:lvl6pPr lvl="5" algn="ctr">
              <a:spcBef>
                <a:spcPts val="800"/>
              </a:spcBef>
              <a:spcAft>
                <a:spcPts val="0"/>
              </a:spcAft>
              <a:buSzPts val="800"/>
              <a:buNone/>
              <a:defRPr>
                <a:solidFill>
                  <a:srgbClr val="898989"/>
                </a:solidFill>
              </a:defRPr>
            </a:lvl6pPr>
            <a:lvl7pPr lvl="6" algn="ctr">
              <a:spcBef>
                <a:spcPts val="800"/>
              </a:spcBef>
              <a:spcAft>
                <a:spcPts val="0"/>
              </a:spcAft>
              <a:buSzPts val="800"/>
              <a:buNone/>
              <a:defRPr>
                <a:solidFill>
                  <a:srgbClr val="898989"/>
                </a:solidFill>
              </a:defRPr>
            </a:lvl7pPr>
            <a:lvl8pPr lvl="7" algn="ctr">
              <a:spcBef>
                <a:spcPts val="800"/>
              </a:spcBef>
              <a:spcAft>
                <a:spcPts val="0"/>
              </a:spcAft>
              <a:buSzPts val="800"/>
              <a:buNone/>
              <a:defRPr>
                <a:solidFill>
                  <a:srgbClr val="898989"/>
                </a:solidFill>
              </a:defRPr>
            </a:lvl8pPr>
            <a:lvl9pPr lvl="8" algn="ctr">
              <a:spcBef>
                <a:spcPts val="800"/>
              </a:spcBef>
              <a:spcAft>
                <a:spcPts val="0"/>
              </a:spcAft>
              <a:buSzPts val="800"/>
              <a:buNone/>
              <a:defRPr>
                <a:solidFill>
                  <a:srgbClr val="898989"/>
                </a:solidFill>
              </a:defRPr>
            </a:lvl9pPr>
          </a:lstStyle>
          <a:p/>
        </p:txBody>
      </p:sp>
      <p:sp>
        <p:nvSpPr>
          <p:cNvPr id="20" name="Google Shape;20;p2"/>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Google Shape;21;p2"/>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Google Shape;22;p2"/>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484575" y="339547"/>
            <a:ext cx="7053600" cy="7428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2650"/>
              <a:buNone/>
              <a:defRPr b="1" sz="265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 name="Google Shape;25;p3"/>
          <p:cNvSpPr txBox="1"/>
          <p:nvPr>
            <p:ph idx="1" type="body"/>
          </p:nvPr>
        </p:nvSpPr>
        <p:spPr>
          <a:xfrm>
            <a:off x="827484" y="1539689"/>
            <a:ext cx="6709800" cy="314670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6" name="Google Shape;26;p3"/>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Google Shape;27;p3"/>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Google Shape;28;p3"/>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29" name="Shape 29"/>
        <p:cNvGrpSpPr/>
        <p:nvPr/>
      </p:nvGrpSpPr>
      <p:grpSpPr>
        <a:xfrm>
          <a:off x="0" y="0"/>
          <a:ext cx="0" cy="0"/>
          <a:chOff x="0" y="0"/>
          <a:chExt cx="0" cy="0"/>
        </a:xfrm>
      </p:grpSpPr>
      <p:sp>
        <p:nvSpPr>
          <p:cNvPr id="30" name="Google Shape;30;p4"/>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 name="Google Shape;31;p4"/>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 name="Google Shape;32;p4"/>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3" name="Shape 33"/>
        <p:cNvGrpSpPr/>
        <p:nvPr/>
      </p:nvGrpSpPr>
      <p:grpSpPr>
        <a:xfrm>
          <a:off x="0" y="0"/>
          <a:ext cx="0" cy="0"/>
          <a:chOff x="0" y="0"/>
          <a:chExt cx="0" cy="0"/>
        </a:xfrm>
      </p:grpSpPr>
      <p:sp>
        <p:nvSpPr>
          <p:cNvPr id="34" name="Google Shape;34;p5"/>
          <p:cNvSpPr txBox="1"/>
          <p:nvPr>
            <p:ph type="title"/>
          </p:nvPr>
        </p:nvSpPr>
        <p:spPr>
          <a:xfrm>
            <a:off x="866217" y="2146300"/>
            <a:ext cx="6619200" cy="14367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Clr>
                <a:schemeClr val="lt2"/>
              </a:buClr>
              <a:buSzPts val="3000"/>
              <a:buFont typeface="Century Gothic"/>
              <a:buNone/>
              <a:defRPr b="0" sz="30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Google Shape;35;p5"/>
          <p:cNvSpPr txBox="1"/>
          <p:nvPr>
            <p:ph idx="1" type="body"/>
          </p:nvPr>
        </p:nvSpPr>
        <p:spPr>
          <a:xfrm>
            <a:off x="866216" y="3583036"/>
            <a:ext cx="6619200" cy="6453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200"/>
              <a:buNone/>
              <a:defRPr sz="1500" cap="none">
                <a:solidFill>
                  <a:schemeClr val="dk2"/>
                </a:solidFill>
              </a:defRPr>
            </a:lvl1pPr>
            <a:lvl2pPr indent="-228600" lvl="1" marL="914400" algn="l">
              <a:spcBef>
                <a:spcPts val="800"/>
              </a:spcBef>
              <a:spcAft>
                <a:spcPts val="0"/>
              </a:spcAft>
              <a:buSzPts val="1100"/>
              <a:buNone/>
              <a:defRPr sz="1400">
                <a:solidFill>
                  <a:srgbClr val="898989"/>
                </a:solidFill>
              </a:defRPr>
            </a:lvl2pPr>
            <a:lvl3pPr indent="-228600" lvl="2" marL="1371600" algn="l">
              <a:spcBef>
                <a:spcPts val="800"/>
              </a:spcBef>
              <a:spcAft>
                <a:spcPts val="0"/>
              </a:spcAft>
              <a:buSzPts val="1000"/>
              <a:buNone/>
              <a:defRPr sz="1200">
                <a:solidFill>
                  <a:srgbClr val="898989"/>
                </a:solidFill>
              </a:defRPr>
            </a:lvl3pPr>
            <a:lvl4pPr indent="-228600" lvl="3" marL="1828800" algn="l">
              <a:spcBef>
                <a:spcPts val="800"/>
              </a:spcBef>
              <a:spcAft>
                <a:spcPts val="0"/>
              </a:spcAft>
              <a:buSzPts val="800"/>
              <a:buNone/>
              <a:defRPr sz="1100">
                <a:solidFill>
                  <a:srgbClr val="898989"/>
                </a:solidFill>
              </a:defRPr>
            </a:lvl4pPr>
            <a:lvl5pPr indent="-228600" lvl="4" marL="2286000" algn="l">
              <a:spcBef>
                <a:spcPts val="800"/>
              </a:spcBef>
              <a:spcAft>
                <a:spcPts val="0"/>
              </a:spcAft>
              <a:buSzPts val="800"/>
              <a:buNone/>
              <a:defRPr sz="1100">
                <a:solidFill>
                  <a:srgbClr val="898989"/>
                </a:solidFill>
              </a:defRPr>
            </a:lvl5pPr>
            <a:lvl6pPr indent="-228600" lvl="5" marL="2743200" algn="l">
              <a:spcBef>
                <a:spcPts val="800"/>
              </a:spcBef>
              <a:spcAft>
                <a:spcPts val="0"/>
              </a:spcAft>
              <a:buSzPts val="800"/>
              <a:buNone/>
              <a:defRPr sz="1100">
                <a:solidFill>
                  <a:srgbClr val="898989"/>
                </a:solidFill>
              </a:defRPr>
            </a:lvl6pPr>
            <a:lvl7pPr indent="-228600" lvl="6" marL="3200400" algn="l">
              <a:spcBef>
                <a:spcPts val="800"/>
              </a:spcBef>
              <a:spcAft>
                <a:spcPts val="0"/>
              </a:spcAft>
              <a:buSzPts val="800"/>
              <a:buNone/>
              <a:defRPr sz="1100">
                <a:solidFill>
                  <a:srgbClr val="898989"/>
                </a:solidFill>
              </a:defRPr>
            </a:lvl7pPr>
            <a:lvl8pPr indent="-228600" lvl="7" marL="3657600" algn="l">
              <a:spcBef>
                <a:spcPts val="800"/>
              </a:spcBef>
              <a:spcAft>
                <a:spcPts val="0"/>
              </a:spcAft>
              <a:buSzPts val="800"/>
              <a:buNone/>
              <a:defRPr sz="1100">
                <a:solidFill>
                  <a:srgbClr val="898989"/>
                </a:solidFill>
              </a:defRPr>
            </a:lvl8pPr>
            <a:lvl9pPr indent="-228600" lvl="8" marL="4114800" algn="l">
              <a:spcBef>
                <a:spcPts val="800"/>
              </a:spcBef>
              <a:spcAft>
                <a:spcPts val="0"/>
              </a:spcAft>
              <a:buSzPts val="800"/>
              <a:buNone/>
              <a:defRPr sz="1100">
                <a:solidFill>
                  <a:srgbClr val="898989"/>
                </a:solidFill>
              </a:defRPr>
            </a:lvl9pPr>
          </a:lstStyle>
          <a:p/>
        </p:txBody>
      </p:sp>
      <p:sp>
        <p:nvSpPr>
          <p:cNvPr id="36" name="Google Shape;36;p5"/>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 name="Google Shape;37;p5"/>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 name="Google Shape;38;p5"/>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39" name="Shape 39"/>
        <p:cNvGrpSpPr/>
        <p:nvPr/>
      </p:nvGrpSpPr>
      <p:grpSpPr>
        <a:xfrm>
          <a:off x="0" y="0"/>
          <a:ext cx="0" cy="0"/>
          <a:chOff x="0" y="0"/>
          <a:chExt cx="0" cy="0"/>
        </a:xfrm>
      </p:grpSpPr>
      <p:sp>
        <p:nvSpPr>
          <p:cNvPr id="40" name="Google Shape;40;p6"/>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1" name="Google Shape;41;p6"/>
          <p:cNvSpPr txBox="1"/>
          <p:nvPr>
            <p:ph idx="1" type="body"/>
          </p:nvPr>
        </p:nvSpPr>
        <p:spPr>
          <a:xfrm>
            <a:off x="827484" y="1545431"/>
            <a:ext cx="3297300" cy="314670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sz="1400"/>
            </a:lvl1pPr>
            <a:lvl2pPr indent="-292100" lvl="1" marL="914400" algn="l">
              <a:spcBef>
                <a:spcPts val="800"/>
              </a:spcBef>
              <a:spcAft>
                <a:spcPts val="0"/>
              </a:spcAft>
              <a:buSzPts val="1000"/>
              <a:buChar char="►"/>
              <a:defRPr sz="1200"/>
            </a:lvl2pPr>
            <a:lvl3pPr indent="-279400" lvl="2" marL="1371600" algn="l">
              <a:spcBef>
                <a:spcPts val="800"/>
              </a:spcBef>
              <a:spcAft>
                <a:spcPts val="0"/>
              </a:spcAft>
              <a:buSzPts val="800"/>
              <a:buChar char="►"/>
              <a:defRPr sz="1100"/>
            </a:lvl3pPr>
            <a:lvl4pPr indent="-273050" lvl="3" marL="1828800" algn="l">
              <a:spcBef>
                <a:spcPts val="800"/>
              </a:spcBef>
              <a:spcAft>
                <a:spcPts val="0"/>
              </a:spcAft>
              <a:buSzPts val="700"/>
              <a:buChar char="►"/>
              <a:defRPr sz="900"/>
            </a:lvl4pPr>
            <a:lvl5pPr indent="-273050" lvl="4" marL="2286000" algn="l">
              <a:spcBef>
                <a:spcPts val="800"/>
              </a:spcBef>
              <a:spcAft>
                <a:spcPts val="0"/>
              </a:spcAft>
              <a:buSzPts val="700"/>
              <a:buChar char="►"/>
              <a:defRPr sz="900"/>
            </a:lvl5pPr>
            <a:lvl6pPr indent="-273050" lvl="5" marL="2743200" algn="l">
              <a:spcBef>
                <a:spcPts val="800"/>
              </a:spcBef>
              <a:spcAft>
                <a:spcPts val="0"/>
              </a:spcAft>
              <a:buSzPts val="700"/>
              <a:buChar char="►"/>
              <a:defRPr sz="900"/>
            </a:lvl6pPr>
            <a:lvl7pPr indent="-273050" lvl="6" marL="3200400" algn="l">
              <a:spcBef>
                <a:spcPts val="800"/>
              </a:spcBef>
              <a:spcAft>
                <a:spcPts val="0"/>
              </a:spcAft>
              <a:buSzPts val="700"/>
              <a:buChar char="►"/>
              <a:defRPr sz="900"/>
            </a:lvl7pPr>
            <a:lvl8pPr indent="-273050" lvl="7" marL="3657600" algn="l">
              <a:spcBef>
                <a:spcPts val="800"/>
              </a:spcBef>
              <a:spcAft>
                <a:spcPts val="0"/>
              </a:spcAft>
              <a:buSzPts val="700"/>
              <a:buChar char="►"/>
              <a:defRPr sz="900"/>
            </a:lvl8pPr>
            <a:lvl9pPr indent="-273050" lvl="8" marL="4114800" algn="l">
              <a:spcBef>
                <a:spcPts val="800"/>
              </a:spcBef>
              <a:spcAft>
                <a:spcPts val="0"/>
              </a:spcAft>
              <a:buSzPts val="700"/>
              <a:buChar char="►"/>
              <a:defRPr sz="900"/>
            </a:lvl9pPr>
          </a:lstStyle>
          <a:p/>
        </p:txBody>
      </p:sp>
      <p:sp>
        <p:nvSpPr>
          <p:cNvPr id="42" name="Google Shape;42;p6"/>
          <p:cNvSpPr txBox="1"/>
          <p:nvPr>
            <p:ph idx="2" type="body"/>
          </p:nvPr>
        </p:nvSpPr>
        <p:spPr>
          <a:xfrm>
            <a:off x="4240870" y="1542069"/>
            <a:ext cx="3297300" cy="315030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sz="1400"/>
            </a:lvl1pPr>
            <a:lvl2pPr indent="-292100" lvl="1" marL="914400" algn="l">
              <a:spcBef>
                <a:spcPts val="800"/>
              </a:spcBef>
              <a:spcAft>
                <a:spcPts val="0"/>
              </a:spcAft>
              <a:buSzPts val="1000"/>
              <a:buChar char="►"/>
              <a:defRPr sz="1200"/>
            </a:lvl2pPr>
            <a:lvl3pPr indent="-279400" lvl="2" marL="1371600" algn="l">
              <a:spcBef>
                <a:spcPts val="800"/>
              </a:spcBef>
              <a:spcAft>
                <a:spcPts val="0"/>
              </a:spcAft>
              <a:buSzPts val="800"/>
              <a:buChar char="►"/>
              <a:defRPr sz="1100"/>
            </a:lvl3pPr>
            <a:lvl4pPr indent="-273050" lvl="3" marL="1828800" algn="l">
              <a:spcBef>
                <a:spcPts val="800"/>
              </a:spcBef>
              <a:spcAft>
                <a:spcPts val="0"/>
              </a:spcAft>
              <a:buSzPts val="700"/>
              <a:buChar char="►"/>
              <a:defRPr sz="900"/>
            </a:lvl4pPr>
            <a:lvl5pPr indent="-273050" lvl="4" marL="2286000" algn="l">
              <a:spcBef>
                <a:spcPts val="800"/>
              </a:spcBef>
              <a:spcAft>
                <a:spcPts val="0"/>
              </a:spcAft>
              <a:buSzPts val="700"/>
              <a:buChar char="►"/>
              <a:defRPr sz="900"/>
            </a:lvl5pPr>
            <a:lvl6pPr indent="-273050" lvl="5" marL="2743200" algn="l">
              <a:spcBef>
                <a:spcPts val="800"/>
              </a:spcBef>
              <a:spcAft>
                <a:spcPts val="0"/>
              </a:spcAft>
              <a:buSzPts val="700"/>
              <a:buChar char="►"/>
              <a:defRPr sz="900"/>
            </a:lvl6pPr>
            <a:lvl7pPr indent="-273050" lvl="6" marL="3200400" algn="l">
              <a:spcBef>
                <a:spcPts val="800"/>
              </a:spcBef>
              <a:spcAft>
                <a:spcPts val="0"/>
              </a:spcAft>
              <a:buSzPts val="700"/>
              <a:buChar char="►"/>
              <a:defRPr sz="900"/>
            </a:lvl7pPr>
            <a:lvl8pPr indent="-273050" lvl="7" marL="3657600" algn="l">
              <a:spcBef>
                <a:spcPts val="800"/>
              </a:spcBef>
              <a:spcAft>
                <a:spcPts val="0"/>
              </a:spcAft>
              <a:buSzPts val="700"/>
              <a:buChar char="►"/>
              <a:defRPr sz="900"/>
            </a:lvl8pPr>
            <a:lvl9pPr indent="-273050" lvl="8" marL="4114800" algn="l">
              <a:spcBef>
                <a:spcPts val="800"/>
              </a:spcBef>
              <a:spcAft>
                <a:spcPts val="0"/>
              </a:spcAft>
              <a:buSzPts val="700"/>
              <a:buChar char="►"/>
              <a:defRPr sz="900"/>
            </a:lvl9pPr>
          </a:lstStyle>
          <a:p/>
        </p:txBody>
      </p:sp>
      <p:sp>
        <p:nvSpPr>
          <p:cNvPr id="43" name="Google Shape;43;p6"/>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Google Shape;44;p6"/>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5" name="Google Shape;45;p6"/>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6" name="Shape 46"/>
        <p:cNvGrpSpPr/>
        <p:nvPr/>
      </p:nvGrpSpPr>
      <p:grpSpPr>
        <a:xfrm>
          <a:off x="0" y="0"/>
          <a:ext cx="0" cy="0"/>
          <a:chOff x="0" y="0"/>
          <a:chExt cx="0" cy="0"/>
        </a:xfrm>
      </p:grpSpPr>
      <p:sp>
        <p:nvSpPr>
          <p:cNvPr id="47" name="Google Shape;47;p7"/>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3200"/>
              <a:buFont typeface="Century Gothic"/>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Google Shape;48;p7"/>
          <p:cNvSpPr txBox="1"/>
          <p:nvPr>
            <p:ph idx="1" type="body"/>
          </p:nvPr>
        </p:nvSpPr>
        <p:spPr>
          <a:xfrm>
            <a:off x="827485" y="1428750"/>
            <a:ext cx="32973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solidFill>
                  <a:schemeClr val="dk2"/>
                </a:solidFill>
              </a:defRPr>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49" name="Google Shape;49;p7"/>
          <p:cNvSpPr txBox="1"/>
          <p:nvPr>
            <p:ph idx="2" type="body"/>
          </p:nvPr>
        </p:nvSpPr>
        <p:spPr>
          <a:xfrm>
            <a:off x="827484" y="1885950"/>
            <a:ext cx="3297300" cy="280620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sz="1400"/>
            </a:lvl1pPr>
            <a:lvl2pPr indent="-292100" lvl="1" marL="914400" algn="l">
              <a:spcBef>
                <a:spcPts val="800"/>
              </a:spcBef>
              <a:spcAft>
                <a:spcPts val="0"/>
              </a:spcAft>
              <a:buSzPts val="1000"/>
              <a:buChar char="►"/>
              <a:defRPr sz="1200"/>
            </a:lvl2pPr>
            <a:lvl3pPr indent="-279400" lvl="2" marL="1371600" algn="l">
              <a:spcBef>
                <a:spcPts val="800"/>
              </a:spcBef>
              <a:spcAft>
                <a:spcPts val="0"/>
              </a:spcAft>
              <a:buSzPts val="800"/>
              <a:buChar char="►"/>
              <a:defRPr sz="1100"/>
            </a:lvl3pPr>
            <a:lvl4pPr indent="-273050" lvl="3" marL="1828800" algn="l">
              <a:spcBef>
                <a:spcPts val="800"/>
              </a:spcBef>
              <a:spcAft>
                <a:spcPts val="0"/>
              </a:spcAft>
              <a:buSzPts val="700"/>
              <a:buChar char="►"/>
              <a:defRPr sz="900"/>
            </a:lvl4pPr>
            <a:lvl5pPr indent="-273050" lvl="4" marL="2286000" algn="l">
              <a:spcBef>
                <a:spcPts val="800"/>
              </a:spcBef>
              <a:spcAft>
                <a:spcPts val="0"/>
              </a:spcAft>
              <a:buSzPts val="700"/>
              <a:buChar char="►"/>
              <a:defRPr sz="900"/>
            </a:lvl5pPr>
            <a:lvl6pPr indent="-273050" lvl="5" marL="2743200" algn="l">
              <a:spcBef>
                <a:spcPts val="800"/>
              </a:spcBef>
              <a:spcAft>
                <a:spcPts val="0"/>
              </a:spcAft>
              <a:buSzPts val="700"/>
              <a:buChar char="►"/>
              <a:defRPr sz="900"/>
            </a:lvl6pPr>
            <a:lvl7pPr indent="-273050" lvl="6" marL="3200400" algn="l">
              <a:spcBef>
                <a:spcPts val="800"/>
              </a:spcBef>
              <a:spcAft>
                <a:spcPts val="0"/>
              </a:spcAft>
              <a:buSzPts val="700"/>
              <a:buChar char="►"/>
              <a:defRPr sz="900"/>
            </a:lvl7pPr>
            <a:lvl8pPr indent="-273050" lvl="7" marL="3657600" algn="l">
              <a:spcBef>
                <a:spcPts val="800"/>
              </a:spcBef>
              <a:spcAft>
                <a:spcPts val="0"/>
              </a:spcAft>
              <a:buSzPts val="700"/>
              <a:buChar char="►"/>
              <a:defRPr sz="900"/>
            </a:lvl8pPr>
            <a:lvl9pPr indent="-273050" lvl="8" marL="4114800" algn="l">
              <a:spcBef>
                <a:spcPts val="800"/>
              </a:spcBef>
              <a:spcAft>
                <a:spcPts val="0"/>
              </a:spcAft>
              <a:buSzPts val="700"/>
              <a:buChar char="►"/>
              <a:defRPr sz="900"/>
            </a:lvl9pPr>
          </a:lstStyle>
          <a:p/>
        </p:txBody>
      </p:sp>
      <p:sp>
        <p:nvSpPr>
          <p:cNvPr id="50" name="Google Shape;50;p7"/>
          <p:cNvSpPr txBox="1"/>
          <p:nvPr>
            <p:ph idx="3" type="body"/>
          </p:nvPr>
        </p:nvSpPr>
        <p:spPr>
          <a:xfrm>
            <a:off x="4240871" y="1428750"/>
            <a:ext cx="32973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solidFill>
                  <a:schemeClr val="dk2"/>
                </a:solidFill>
              </a:defRPr>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51" name="Google Shape;51;p7"/>
          <p:cNvSpPr txBox="1"/>
          <p:nvPr>
            <p:ph idx="4" type="body"/>
          </p:nvPr>
        </p:nvSpPr>
        <p:spPr>
          <a:xfrm>
            <a:off x="4240871" y="1885950"/>
            <a:ext cx="3297300" cy="280620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sz="1400"/>
            </a:lvl1pPr>
            <a:lvl2pPr indent="-292100" lvl="1" marL="914400" algn="l">
              <a:spcBef>
                <a:spcPts val="800"/>
              </a:spcBef>
              <a:spcAft>
                <a:spcPts val="0"/>
              </a:spcAft>
              <a:buSzPts val="1000"/>
              <a:buChar char="►"/>
              <a:defRPr sz="1200"/>
            </a:lvl2pPr>
            <a:lvl3pPr indent="-279400" lvl="2" marL="1371600" algn="l">
              <a:spcBef>
                <a:spcPts val="800"/>
              </a:spcBef>
              <a:spcAft>
                <a:spcPts val="0"/>
              </a:spcAft>
              <a:buSzPts val="800"/>
              <a:buChar char="►"/>
              <a:defRPr sz="1100"/>
            </a:lvl3pPr>
            <a:lvl4pPr indent="-273050" lvl="3" marL="1828800" algn="l">
              <a:spcBef>
                <a:spcPts val="800"/>
              </a:spcBef>
              <a:spcAft>
                <a:spcPts val="0"/>
              </a:spcAft>
              <a:buSzPts val="700"/>
              <a:buChar char="►"/>
              <a:defRPr sz="900"/>
            </a:lvl4pPr>
            <a:lvl5pPr indent="-273050" lvl="4" marL="2286000" algn="l">
              <a:spcBef>
                <a:spcPts val="800"/>
              </a:spcBef>
              <a:spcAft>
                <a:spcPts val="0"/>
              </a:spcAft>
              <a:buSzPts val="700"/>
              <a:buChar char="►"/>
              <a:defRPr sz="900"/>
            </a:lvl5pPr>
            <a:lvl6pPr indent="-273050" lvl="5" marL="2743200" algn="l">
              <a:spcBef>
                <a:spcPts val="800"/>
              </a:spcBef>
              <a:spcAft>
                <a:spcPts val="0"/>
              </a:spcAft>
              <a:buSzPts val="700"/>
              <a:buChar char="►"/>
              <a:defRPr sz="900"/>
            </a:lvl6pPr>
            <a:lvl7pPr indent="-273050" lvl="6" marL="3200400" algn="l">
              <a:spcBef>
                <a:spcPts val="800"/>
              </a:spcBef>
              <a:spcAft>
                <a:spcPts val="0"/>
              </a:spcAft>
              <a:buSzPts val="700"/>
              <a:buChar char="►"/>
              <a:defRPr sz="900"/>
            </a:lvl7pPr>
            <a:lvl8pPr indent="-273050" lvl="7" marL="3657600" algn="l">
              <a:spcBef>
                <a:spcPts val="800"/>
              </a:spcBef>
              <a:spcAft>
                <a:spcPts val="0"/>
              </a:spcAft>
              <a:buSzPts val="700"/>
              <a:buChar char="►"/>
              <a:defRPr sz="900"/>
            </a:lvl8pPr>
            <a:lvl9pPr indent="-273050" lvl="8" marL="4114800" algn="l">
              <a:spcBef>
                <a:spcPts val="800"/>
              </a:spcBef>
              <a:spcAft>
                <a:spcPts val="0"/>
              </a:spcAft>
              <a:buSzPts val="700"/>
              <a:buChar char="►"/>
              <a:defRPr sz="900"/>
            </a:lvl9pPr>
          </a:lstStyle>
          <a:p/>
        </p:txBody>
      </p:sp>
      <p:sp>
        <p:nvSpPr>
          <p:cNvPr id="52" name="Google Shape;52;p7"/>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Google Shape;53;p7"/>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4" name="Google Shape;54;p7"/>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5" name="Shape 55"/>
        <p:cNvGrpSpPr/>
        <p:nvPr/>
      </p:nvGrpSpPr>
      <p:grpSpPr>
        <a:xfrm>
          <a:off x="0" y="0"/>
          <a:ext cx="0" cy="0"/>
          <a:chOff x="0" y="0"/>
          <a:chExt cx="0" cy="0"/>
        </a:xfrm>
      </p:grpSpPr>
      <p:sp>
        <p:nvSpPr>
          <p:cNvPr id="56" name="Google Shape;56;p8"/>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 name="Google Shape;57;p8"/>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8"/>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8"/>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60" name="Shape 60"/>
        <p:cNvGrpSpPr/>
        <p:nvPr/>
      </p:nvGrpSpPr>
      <p:grpSpPr>
        <a:xfrm>
          <a:off x="0" y="0"/>
          <a:ext cx="0" cy="0"/>
          <a:chOff x="0" y="0"/>
          <a:chExt cx="0" cy="0"/>
        </a:xfrm>
      </p:grpSpPr>
      <p:sp>
        <p:nvSpPr>
          <p:cNvPr id="61" name="Google Shape;61;p9"/>
          <p:cNvSpPr txBox="1"/>
          <p:nvPr>
            <p:ph type="title"/>
          </p:nvPr>
        </p:nvSpPr>
        <p:spPr>
          <a:xfrm>
            <a:off x="866215" y="1085850"/>
            <a:ext cx="2550900" cy="10860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Clr>
                <a:schemeClr val="lt2"/>
              </a:buClr>
              <a:buSzPts val="1800"/>
              <a:buFont typeface="Century Gothic"/>
              <a:buNone/>
              <a:defRPr b="0" sz="1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9"/>
          <p:cNvSpPr txBox="1"/>
          <p:nvPr>
            <p:ph idx="1" type="body"/>
          </p:nvPr>
        </p:nvSpPr>
        <p:spPr>
          <a:xfrm>
            <a:off x="3588462" y="1085850"/>
            <a:ext cx="3897000" cy="3429000"/>
          </a:xfrm>
          <a:prstGeom prst="rect">
            <a:avLst/>
          </a:prstGeom>
          <a:noFill/>
          <a:ln>
            <a:noFill/>
          </a:ln>
        </p:spPr>
        <p:txBody>
          <a:bodyPr anchorCtr="0" anchor="ctr" bIns="34275" lIns="68575" spcFirstLastPara="1" rIns="68575" wrap="square" tIns="34275">
            <a:normAutofit/>
          </a:bodyPr>
          <a:lstStyle>
            <a:lvl1pPr indent="-304800" lvl="0" marL="457200" algn="l">
              <a:spcBef>
                <a:spcPts val="800"/>
              </a:spcBef>
              <a:spcAft>
                <a:spcPts val="0"/>
              </a:spcAft>
              <a:buSzPts val="1200"/>
              <a:buChar char="►"/>
              <a:defRPr sz="1500"/>
            </a:lvl1pPr>
            <a:lvl2pPr indent="-298450" lvl="1" marL="914400" algn="l">
              <a:spcBef>
                <a:spcPts val="800"/>
              </a:spcBef>
              <a:spcAft>
                <a:spcPts val="0"/>
              </a:spcAft>
              <a:buSzPts val="1100"/>
              <a:buChar char="►"/>
              <a:defRPr sz="1400"/>
            </a:lvl2pPr>
            <a:lvl3pPr indent="-292100" lvl="2" marL="1371600" algn="l">
              <a:spcBef>
                <a:spcPts val="800"/>
              </a:spcBef>
              <a:spcAft>
                <a:spcPts val="0"/>
              </a:spcAft>
              <a:buSzPts val="1000"/>
              <a:buChar char="►"/>
              <a:defRPr sz="1200"/>
            </a:lvl3pPr>
            <a:lvl4pPr indent="-279400" lvl="3" marL="1828800" algn="l">
              <a:spcBef>
                <a:spcPts val="800"/>
              </a:spcBef>
              <a:spcAft>
                <a:spcPts val="0"/>
              </a:spcAft>
              <a:buSzPts val="800"/>
              <a:buChar char="►"/>
              <a:defRPr sz="1100"/>
            </a:lvl4pPr>
            <a:lvl5pPr indent="-279400" lvl="4" marL="2286000" algn="l">
              <a:spcBef>
                <a:spcPts val="800"/>
              </a:spcBef>
              <a:spcAft>
                <a:spcPts val="0"/>
              </a:spcAft>
              <a:buSzPts val="800"/>
              <a:buChar char="►"/>
              <a:defRPr sz="1100"/>
            </a:lvl5pPr>
            <a:lvl6pPr indent="-279400" lvl="5" marL="2743200" algn="l">
              <a:spcBef>
                <a:spcPts val="800"/>
              </a:spcBef>
              <a:spcAft>
                <a:spcPts val="0"/>
              </a:spcAft>
              <a:buSzPts val="800"/>
              <a:buChar char="►"/>
              <a:defRPr sz="1100"/>
            </a:lvl6pPr>
            <a:lvl7pPr indent="-279400" lvl="6" marL="3200400" algn="l">
              <a:spcBef>
                <a:spcPts val="800"/>
              </a:spcBef>
              <a:spcAft>
                <a:spcPts val="0"/>
              </a:spcAft>
              <a:buSzPts val="800"/>
              <a:buChar char="►"/>
              <a:defRPr sz="1100"/>
            </a:lvl7pPr>
            <a:lvl8pPr indent="-279400" lvl="7" marL="3657600" algn="l">
              <a:spcBef>
                <a:spcPts val="800"/>
              </a:spcBef>
              <a:spcAft>
                <a:spcPts val="0"/>
              </a:spcAft>
              <a:buSzPts val="800"/>
              <a:buChar char="►"/>
              <a:defRPr sz="1100"/>
            </a:lvl8pPr>
            <a:lvl9pPr indent="-279400" lvl="8" marL="4114800" algn="l">
              <a:spcBef>
                <a:spcPts val="800"/>
              </a:spcBef>
              <a:spcAft>
                <a:spcPts val="0"/>
              </a:spcAft>
              <a:buSzPts val="800"/>
              <a:buChar char="►"/>
              <a:defRPr sz="1100"/>
            </a:lvl9pPr>
          </a:lstStyle>
          <a:p/>
        </p:txBody>
      </p:sp>
      <p:sp>
        <p:nvSpPr>
          <p:cNvPr id="63" name="Google Shape;63;p9"/>
          <p:cNvSpPr txBox="1"/>
          <p:nvPr>
            <p:ph idx="2" type="body"/>
          </p:nvPr>
        </p:nvSpPr>
        <p:spPr>
          <a:xfrm>
            <a:off x="866215" y="2346960"/>
            <a:ext cx="2550900" cy="21717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64" name="Google Shape;64;p9"/>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9"/>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9"/>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865430" y="1390644"/>
            <a:ext cx="3819600" cy="11811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lt2"/>
              </a:buClr>
              <a:buSzPts val="2700"/>
              <a:buFont typeface="Century Gothic"/>
              <a:buNone/>
              <a:defRPr b="0" sz="27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0"/>
          <p:cNvSpPr/>
          <p:nvPr>
            <p:ph idx="2" type="pic"/>
          </p:nvPr>
        </p:nvSpPr>
        <p:spPr>
          <a:xfrm>
            <a:off x="5212160" y="857250"/>
            <a:ext cx="2400300" cy="3429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0" name="Google Shape;70;p10"/>
          <p:cNvSpPr txBox="1"/>
          <p:nvPr>
            <p:ph idx="1" type="body"/>
          </p:nvPr>
        </p:nvSpPr>
        <p:spPr>
          <a:xfrm>
            <a:off x="866215" y="2743200"/>
            <a:ext cx="3813600" cy="10287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71" name="Google Shape;71;p10"/>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0"/>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0"/>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анорамная фотография с подписью">
  <p:cSld name="Панорамная фотография с подписью">
    <p:spTree>
      <p:nvGrpSpPr>
        <p:cNvPr id="74" name="Shape 74"/>
        <p:cNvGrpSpPr/>
        <p:nvPr/>
      </p:nvGrpSpPr>
      <p:grpSpPr>
        <a:xfrm>
          <a:off x="0" y="0"/>
          <a:ext cx="0" cy="0"/>
          <a:chOff x="0" y="0"/>
          <a:chExt cx="0" cy="0"/>
        </a:xfrm>
      </p:grpSpPr>
      <p:sp>
        <p:nvSpPr>
          <p:cNvPr id="75" name="Google Shape;75;p11"/>
          <p:cNvSpPr txBox="1"/>
          <p:nvPr>
            <p:ph type="title"/>
          </p:nvPr>
        </p:nvSpPr>
        <p:spPr>
          <a:xfrm>
            <a:off x="866217" y="3600440"/>
            <a:ext cx="6619200" cy="4251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lt2"/>
              </a:buClr>
              <a:buSzPts val="1800"/>
              <a:buFont typeface="Century Gothic"/>
              <a:buNone/>
              <a:defRPr b="0" sz="1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1"/>
          <p:cNvSpPr/>
          <p:nvPr>
            <p:ph idx="2" type="pic"/>
          </p:nvPr>
        </p:nvSpPr>
        <p:spPr>
          <a:xfrm>
            <a:off x="866216" y="514350"/>
            <a:ext cx="6619200" cy="27306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7" name="Google Shape;77;p11"/>
          <p:cNvSpPr txBox="1"/>
          <p:nvPr>
            <p:ph idx="1" type="body"/>
          </p:nvPr>
        </p:nvSpPr>
        <p:spPr>
          <a:xfrm>
            <a:off x="866217" y="4025494"/>
            <a:ext cx="6619200" cy="3702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700"/>
              <a:buNone/>
              <a:defRPr sz="9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78" name="Google Shape;78;p11"/>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1"/>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1"/>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подпись">
  <p:cSld name="Заголовок и подпись">
    <p:spTree>
      <p:nvGrpSpPr>
        <p:cNvPr id="81" name="Shape 81"/>
        <p:cNvGrpSpPr/>
        <p:nvPr/>
      </p:nvGrpSpPr>
      <p:grpSpPr>
        <a:xfrm>
          <a:off x="0" y="0"/>
          <a:ext cx="0" cy="0"/>
          <a:chOff x="0" y="0"/>
          <a:chExt cx="0" cy="0"/>
        </a:xfrm>
      </p:grpSpPr>
      <p:sp>
        <p:nvSpPr>
          <p:cNvPr id="82" name="Google Shape;82;p12"/>
          <p:cNvSpPr txBox="1"/>
          <p:nvPr>
            <p:ph type="title"/>
          </p:nvPr>
        </p:nvSpPr>
        <p:spPr>
          <a:xfrm>
            <a:off x="866215" y="1085850"/>
            <a:ext cx="6619200" cy="1485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2"/>
          <p:cNvSpPr txBox="1"/>
          <p:nvPr>
            <p:ph idx="1" type="body"/>
          </p:nvPr>
        </p:nvSpPr>
        <p:spPr>
          <a:xfrm>
            <a:off x="866215" y="2743200"/>
            <a:ext cx="6619200" cy="1771800"/>
          </a:xfrm>
          <a:prstGeom prst="rect">
            <a:avLst/>
          </a:prstGeom>
          <a:noFill/>
          <a:ln>
            <a:noFill/>
          </a:ln>
        </p:spPr>
        <p:txBody>
          <a:bodyPr anchorCtr="0" anchor="ctr" bIns="34275" lIns="68575" spcFirstLastPara="1" rIns="68575" wrap="square" tIns="34275">
            <a:normAutofit/>
          </a:bodyPr>
          <a:lstStyle>
            <a:lvl1pPr indent="-228600" lvl="0" marL="457200" algn="l">
              <a:spcBef>
                <a:spcPts val="800"/>
              </a:spcBef>
              <a:spcAft>
                <a:spcPts val="0"/>
              </a:spcAft>
              <a:buSzPts val="1100"/>
              <a:buNone/>
              <a:defRPr sz="14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84" name="Google Shape;84;p12"/>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2"/>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2"/>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Цитата с подписью">
  <p:cSld name="Цитата с подписью">
    <p:spTree>
      <p:nvGrpSpPr>
        <p:cNvPr id="87" name="Shape 87"/>
        <p:cNvGrpSpPr/>
        <p:nvPr/>
      </p:nvGrpSpPr>
      <p:grpSpPr>
        <a:xfrm>
          <a:off x="0" y="0"/>
          <a:ext cx="0" cy="0"/>
          <a:chOff x="0" y="0"/>
          <a:chExt cx="0" cy="0"/>
        </a:xfrm>
      </p:grpSpPr>
      <p:sp>
        <p:nvSpPr>
          <p:cNvPr id="88" name="Google Shape;88;p13"/>
          <p:cNvSpPr txBox="1"/>
          <p:nvPr>
            <p:ph type="title"/>
          </p:nvPr>
        </p:nvSpPr>
        <p:spPr>
          <a:xfrm>
            <a:off x="1181101" y="1085850"/>
            <a:ext cx="5999400" cy="17424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3"/>
          <p:cNvSpPr txBox="1"/>
          <p:nvPr>
            <p:ph idx="1" type="body"/>
          </p:nvPr>
        </p:nvSpPr>
        <p:spPr>
          <a:xfrm>
            <a:off x="1447800" y="2828381"/>
            <a:ext cx="5459700" cy="2565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b="0" i="0" sz="1100" cap="small">
                <a:solidFill>
                  <a:schemeClr val="dk2"/>
                </a:solidFill>
                <a:latin typeface="Century Gothic"/>
                <a:ea typeface="Century Gothic"/>
                <a:cs typeface="Century Gothic"/>
                <a:sym typeface="Century Gothic"/>
              </a:defRPr>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90" name="Google Shape;90;p13"/>
          <p:cNvSpPr txBox="1"/>
          <p:nvPr>
            <p:ph idx="2" type="body"/>
          </p:nvPr>
        </p:nvSpPr>
        <p:spPr>
          <a:xfrm>
            <a:off x="866215" y="3262993"/>
            <a:ext cx="6619200" cy="1257300"/>
          </a:xfrm>
          <a:prstGeom prst="rect">
            <a:avLst/>
          </a:prstGeom>
          <a:noFill/>
          <a:ln>
            <a:noFill/>
          </a:ln>
        </p:spPr>
        <p:txBody>
          <a:bodyPr anchorCtr="0" anchor="ctr" bIns="34275" lIns="68575" spcFirstLastPara="1" rIns="68575" wrap="square" tIns="34275">
            <a:normAutofit/>
          </a:bodyPr>
          <a:lstStyle>
            <a:lvl1pPr indent="-228600" lvl="0" marL="457200" algn="l">
              <a:spcBef>
                <a:spcPts val="800"/>
              </a:spcBef>
              <a:spcAft>
                <a:spcPts val="0"/>
              </a:spcAft>
              <a:buSzPts val="1100"/>
              <a:buNone/>
              <a:defRPr sz="14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91" name="Google Shape;91;p13"/>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3"/>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3"/>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
        <p:nvSpPr>
          <p:cNvPr id="94" name="Google Shape;94;p13"/>
          <p:cNvSpPr txBox="1"/>
          <p:nvPr/>
        </p:nvSpPr>
        <p:spPr>
          <a:xfrm>
            <a:off x="673721" y="728440"/>
            <a:ext cx="601500" cy="14853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ru" sz="9200">
                <a:solidFill>
                  <a:schemeClr val="dk2"/>
                </a:solidFill>
                <a:latin typeface="Arial"/>
                <a:ea typeface="Arial"/>
                <a:cs typeface="Arial"/>
                <a:sym typeface="Arial"/>
              </a:rPr>
              <a:t>“</a:t>
            </a:r>
            <a:endParaRPr sz="1100"/>
          </a:p>
        </p:txBody>
      </p:sp>
      <p:sp>
        <p:nvSpPr>
          <p:cNvPr id="95" name="Google Shape;95;p13"/>
          <p:cNvSpPr txBox="1"/>
          <p:nvPr/>
        </p:nvSpPr>
        <p:spPr>
          <a:xfrm>
            <a:off x="6997868" y="1960340"/>
            <a:ext cx="601500" cy="14853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ru" sz="9200">
                <a:solidFill>
                  <a:schemeClr val="dk2"/>
                </a:solidFill>
                <a:latin typeface="Arial"/>
                <a:ea typeface="Arial"/>
                <a:cs typeface="Arial"/>
                <a:sym typeface="Arial"/>
              </a:rPr>
              <a:t>”</a:t>
            </a:r>
            <a:endParaRPr sz="11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Карточка имени">
  <p:cSld name="Карточка имени">
    <p:spTree>
      <p:nvGrpSpPr>
        <p:cNvPr id="96" name="Shape 96"/>
        <p:cNvGrpSpPr/>
        <p:nvPr/>
      </p:nvGrpSpPr>
      <p:grpSpPr>
        <a:xfrm>
          <a:off x="0" y="0"/>
          <a:ext cx="0" cy="0"/>
          <a:chOff x="0" y="0"/>
          <a:chExt cx="0" cy="0"/>
        </a:xfrm>
      </p:grpSpPr>
      <p:sp>
        <p:nvSpPr>
          <p:cNvPr id="97" name="Google Shape;97;p14"/>
          <p:cNvSpPr txBox="1"/>
          <p:nvPr>
            <p:ph type="title"/>
          </p:nvPr>
        </p:nvSpPr>
        <p:spPr>
          <a:xfrm>
            <a:off x="866215" y="2343151"/>
            <a:ext cx="6619200" cy="12399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Clr>
                <a:schemeClr val="lt2"/>
              </a:buClr>
              <a:buSzPts val="3000"/>
              <a:buFont typeface="Century Gothic"/>
              <a:buNone/>
              <a:defRPr b="0" sz="30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14"/>
          <p:cNvSpPr txBox="1"/>
          <p:nvPr>
            <p:ph idx="1" type="body"/>
          </p:nvPr>
        </p:nvSpPr>
        <p:spPr>
          <a:xfrm>
            <a:off x="866215" y="3583036"/>
            <a:ext cx="6619200" cy="6453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200"/>
              <a:buNone/>
              <a:defRPr sz="1500" cap="none">
                <a:solidFill>
                  <a:schemeClr val="dk2"/>
                </a:solidFill>
              </a:defRPr>
            </a:lvl1pPr>
            <a:lvl2pPr indent="-228600" lvl="1" marL="914400" algn="l">
              <a:spcBef>
                <a:spcPts val="800"/>
              </a:spcBef>
              <a:spcAft>
                <a:spcPts val="0"/>
              </a:spcAft>
              <a:buSzPts val="1100"/>
              <a:buNone/>
              <a:defRPr sz="1400">
                <a:solidFill>
                  <a:srgbClr val="898989"/>
                </a:solidFill>
              </a:defRPr>
            </a:lvl2pPr>
            <a:lvl3pPr indent="-228600" lvl="2" marL="1371600" algn="l">
              <a:spcBef>
                <a:spcPts val="800"/>
              </a:spcBef>
              <a:spcAft>
                <a:spcPts val="0"/>
              </a:spcAft>
              <a:buSzPts val="1000"/>
              <a:buNone/>
              <a:defRPr sz="1200">
                <a:solidFill>
                  <a:srgbClr val="898989"/>
                </a:solidFill>
              </a:defRPr>
            </a:lvl3pPr>
            <a:lvl4pPr indent="-228600" lvl="3" marL="1828800" algn="l">
              <a:spcBef>
                <a:spcPts val="800"/>
              </a:spcBef>
              <a:spcAft>
                <a:spcPts val="0"/>
              </a:spcAft>
              <a:buSzPts val="800"/>
              <a:buNone/>
              <a:defRPr sz="1100">
                <a:solidFill>
                  <a:srgbClr val="898989"/>
                </a:solidFill>
              </a:defRPr>
            </a:lvl4pPr>
            <a:lvl5pPr indent="-228600" lvl="4" marL="2286000" algn="l">
              <a:spcBef>
                <a:spcPts val="800"/>
              </a:spcBef>
              <a:spcAft>
                <a:spcPts val="0"/>
              </a:spcAft>
              <a:buSzPts val="800"/>
              <a:buNone/>
              <a:defRPr sz="1100">
                <a:solidFill>
                  <a:srgbClr val="898989"/>
                </a:solidFill>
              </a:defRPr>
            </a:lvl5pPr>
            <a:lvl6pPr indent="-228600" lvl="5" marL="2743200" algn="l">
              <a:spcBef>
                <a:spcPts val="800"/>
              </a:spcBef>
              <a:spcAft>
                <a:spcPts val="0"/>
              </a:spcAft>
              <a:buSzPts val="800"/>
              <a:buNone/>
              <a:defRPr sz="1100">
                <a:solidFill>
                  <a:srgbClr val="898989"/>
                </a:solidFill>
              </a:defRPr>
            </a:lvl6pPr>
            <a:lvl7pPr indent="-228600" lvl="6" marL="3200400" algn="l">
              <a:spcBef>
                <a:spcPts val="800"/>
              </a:spcBef>
              <a:spcAft>
                <a:spcPts val="0"/>
              </a:spcAft>
              <a:buSzPts val="800"/>
              <a:buNone/>
              <a:defRPr sz="1100">
                <a:solidFill>
                  <a:srgbClr val="898989"/>
                </a:solidFill>
              </a:defRPr>
            </a:lvl7pPr>
            <a:lvl8pPr indent="-228600" lvl="7" marL="3657600" algn="l">
              <a:spcBef>
                <a:spcPts val="800"/>
              </a:spcBef>
              <a:spcAft>
                <a:spcPts val="0"/>
              </a:spcAft>
              <a:buSzPts val="800"/>
              <a:buNone/>
              <a:defRPr sz="1100">
                <a:solidFill>
                  <a:srgbClr val="898989"/>
                </a:solidFill>
              </a:defRPr>
            </a:lvl8pPr>
            <a:lvl9pPr indent="-228600" lvl="8" marL="4114800" algn="l">
              <a:spcBef>
                <a:spcPts val="800"/>
              </a:spcBef>
              <a:spcAft>
                <a:spcPts val="0"/>
              </a:spcAft>
              <a:buSzPts val="800"/>
              <a:buNone/>
              <a:defRPr sz="1100">
                <a:solidFill>
                  <a:srgbClr val="898989"/>
                </a:solidFill>
              </a:defRPr>
            </a:lvl9pPr>
          </a:lstStyle>
          <a:p/>
        </p:txBody>
      </p:sp>
      <p:sp>
        <p:nvSpPr>
          <p:cNvPr id="99" name="Google Shape;99;p14"/>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14"/>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14"/>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ри колонки">
  <p:cSld name="Три колонки">
    <p:spTree>
      <p:nvGrpSpPr>
        <p:cNvPr id="102" name="Shape 102"/>
        <p:cNvGrpSpPr/>
        <p:nvPr/>
      </p:nvGrpSpPr>
      <p:grpSpPr>
        <a:xfrm>
          <a:off x="0" y="0"/>
          <a:ext cx="0" cy="0"/>
          <a:chOff x="0" y="0"/>
          <a:chExt cx="0" cy="0"/>
        </a:xfrm>
      </p:grpSpPr>
      <p:sp>
        <p:nvSpPr>
          <p:cNvPr id="103" name="Google Shape;103;p15"/>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3200"/>
              <a:buFont typeface="Century Gothic"/>
              <a:buNone/>
              <a:defRPr sz="32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15"/>
          <p:cNvSpPr txBox="1"/>
          <p:nvPr>
            <p:ph idx="1" type="body"/>
          </p:nvPr>
        </p:nvSpPr>
        <p:spPr>
          <a:xfrm>
            <a:off x="474710" y="1485900"/>
            <a:ext cx="22101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solidFill>
                  <a:schemeClr val="dk2"/>
                </a:solidFill>
              </a:defRPr>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05" name="Google Shape;105;p15"/>
          <p:cNvSpPr txBox="1"/>
          <p:nvPr>
            <p:ph idx="2" type="body"/>
          </p:nvPr>
        </p:nvSpPr>
        <p:spPr>
          <a:xfrm>
            <a:off x="489347" y="2000250"/>
            <a:ext cx="2195400" cy="26919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106" name="Google Shape;106;p15"/>
          <p:cNvSpPr txBox="1"/>
          <p:nvPr>
            <p:ph idx="3" type="body"/>
          </p:nvPr>
        </p:nvSpPr>
        <p:spPr>
          <a:xfrm>
            <a:off x="2912744" y="1485900"/>
            <a:ext cx="22023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solidFill>
                  <a:schemeClr val="dk2"/>
                </a:solidFill>
              </a:defRPr>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07" name="Google Shape;107;p15"/>
          <p:cNvSpPr txBox="1"/>
          <p:nvPr>
            <p:ph idx="4" type="body"/>
          </p:nvPr>
        </p:nvSpPr>
        <p:spPr>
          <a:xfrm>
            <a:off x="2904830" y="2000250"/>
            <a:ext cx="2210100" cy="26919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108" name="Google Shape;108;p15"/>
          <p:cNvSpPr txBox="1"/>
          <p:nvPr>
            <p:ph idx="5" type="body"/>
          </p:nvPr>
        </p:nvSpPr>
        <p:spPr>
          <a:xfrm>
            <a:off x="5343525" y="1485900"/>
            <a:ext cx="21990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solidFill>
                  <a:schemeClr val="dk2"/>
                </a:solidFill>
              </a:defRPr>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09" name="Google Shape;109;p15"/>
          <p:cNvSpPr txBox="1"/>
          <p:nvPr>
            <p:ph idx="6" type="body"/>
          </p:nvPr>
        </p:nvSpPr>
        <p:spPr>
          <a:xfrm>
            <a:off x="5343525" y="2000250"/>
            <a:ext cx="2199000" cy="26919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cxnSp>
        <p:nvCxnSpPr>
          <p:cNvPr id="110" name="Google Shape;110;p15"/>
          <p:cNvCxnSpPr/>
          <p:nvPr/>
        </p:nvCxnSpPr>
        <p:spPr>
          <a:xfrm>
            <a:off x="2794607" y="1600200"/>
            <a:ext cx="0" cy="2971800"/>
          </a:xfrm>
          <a:prstGeom prst="straightConnector1">
            <a:avLst/>
          </a:prstGeom>
          <a:noFill/>
          <a:ln cap="flat" cmpd="sng" w="12700">
            <a:solidFill>
              <a:schemeClr val="dk2">
                <a:alpha val="40000"/>
              </a:schemeClr>
            </a:solidFill>
            <a:prstDash val="solid"/>
            <a:round/>
            <a:headEnd len="sm" w="sm" type="none"/>
            <a:tailEnd len="sm" w="sm" type="none"/>
          </a:ln>
        </p:spPr>
      </p:cxnSp>
      <p:cxnSp>
        <p:nvCxnSpPr>
          <p:cNvPr id="111" name="Google Shape;111;p15"/>
          <p:cNvCxnSpPr/>
          <p:nvPr/>
        </p:nvCxnSpPr>
        <p:spPr>
          <a:xfrm>
            <a:off x="5221670" y="1600200"/>
            <a:ext cx="0" cy="2975100"/>
          </a:xfrm>
          <a:prstGeom prst="straightConnector1">
            <a:avLst/>
          </a:prstGeom>
          <a:noFill/>
          <a:ln cap="flat" cmpd="sng" w="12700">
            <a:solidFill>
              <a:schemeClr val="dk2">
                <a:alpha val="40000"/>
              </a:schemeClr>
            </a:solidFill>
            <a:prstDash val="solid"/>
            <a:round/>
            <a:headEnd len="sm" w="sm" type="none"/>
            <a:tailEnd len="sm" w="sm" type="none"/>
          </a:ln>
        </p:spPr>
      </p:cxnSp>
      <p:sp>
        <p:nvSpPr>
          <p:cNvPr id="112" name="Google Shape;112;p15"/>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15"/>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15"/>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толбец с тремя рисунками">
  <p:cSld name="Столбец с тремя рисунками">
    <p:spTree>
      <p:nvGrpSpPr>
        <p:cNvPr id="115" name="Shape 115"/>
        <p:cNvGrpSpPr/>
        <p:nvPr/>
      </p:nvGrpSpPr>
      <p:grpSpPr>
        <a:xfrm>
          <a:off x="0" y="0"/>
          <a:ext cx="0" cy="0"/>
          <a:chOff x="0" y="0"/>
          <a:chExt cx="0" cy="0"/>
        </a:xfrm>
      </p:grpSpPr>
      <p:sp>
        <p:nvSpPr>
          <p:cNvPr id="116" name="Google Shape;116;p16"/>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3200"/>
              <a:buFont typeface="Century Gothic"/>
              <a:buNone/>
              <a:defRPr sz="32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16"/>
          <p:cNvSpPr txBox="1"/>
          <p:nvPr>
            <p:ph idx="1" type="body"/>
          </p:nvPr>
        </p:nvSpPr>
        <p:spPr>
          <a:xfrm>
            <a:off x="489347" y="3188212"/>
            <a:ext cx="22050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solidFill>
                  <a:schemeClr val="dk2"/>
                </a:solidFill>
              </a:defRPr>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18" name="Google Shape;118;p16"/>
          <p:cNvSpPr/>
          <p:nvPr>
            <p:ph idx="2" type="pic"/>
          </p:nvPr>
        </p:nvSpPr>
        <p:spPr>
          <a:xfrm>
            <a:off x="489347" y="1657350"/>
            <a:ext cx="2205000" cy="1143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16"/>
          <p:cNvSpPr txBox="1"/>
          <p:nvPr>
            <p:ph idx="3" type="body"/>
          </p:nvPr>
        </p:nvSpPr>
        <p:spPr>
          <a:xfrm>
            <a:off x="489347" y="3620408"/>
            <a:ext cx="2205000" cy="4944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120" name="Google Shape;120;p16"/>
          <p:cNvSpPr txBox="1"/>
          <p:nvPr>
            <p:ph idx="4" type="body"/>
          </p:nvPr>
        </p:nvSpPr>
        <p:spPr>
          <a:xfrm>
            <a:off x="2917031" y="3188212"/>
            <a:ext cx="21978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solidFill>
                  <a:schemeClr val="dk2"/>
                </a:solidFill>
              </a:defRPr>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21" name="Google Shape;121;p16"/>
          <p:cNvSpPr/>
          <p:nvPr>
            <p:ph idx="5" type="pic"/>
          </p:nvPr>
        </p:nvSpPr>
        <p:spPr>
          <a:xfrm>
            <a:off x="2917031" y="1657350"/>
            <a:ext cx="2197800" cy="1143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2" name="Google Shape;122;p16"/>
          <p:cNvSpPr txBox="1"/>
          <p:nvPr>
            <p:ph idx="6" type="body"/>
          </p:nvPr>
        </p:nvSpPr>
        <p:spPr>
          <a:xfrm>
            <a:off x="2916017" y="3620407"/>
            <a:ext cx="2200800" cy="4944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123" name="Google Shape;123;p16"/>
          <p:cNvSpPr txBox="1"/>
          <p:nvPr>
            <p:ph idx="7" type="body"/>
          </p:nvPr>
        </p:nvSpPr>
        <p:spPr>
          <a:xfrm>
            <a:off x="5343525" y="3188212"/>
            <a:ext cx="21990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solidFill>
                  <a:schemeClr val="dk2"/>
                </a:solidFill>
              </a:defRPr>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24" name="Google Shape;124;p16"/>
          <p:cNvSpPr/>
          <p:nvPr>
            <p:ph idx="8" type="pic"/>
          </p:nvPr>
        </p:nvSpPr>
        <p:spPr>
          <a:xfrm>
            <a:off x="5343524" y="1657350"/>
            <a:ext cx="2199000" cy="1143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5" name="Google Shape;125;p16"/>
          <p:cNvSpPr txBox="1"/>
          <p:nvPr>
            <p:ph idx="9" type="body"/>
          </p:nvPr>
        </p:nvSpPr>
        <p:spPr>
          <a:xfrm>
            <a:off x="5343431" y="3620406"/>
            <a:ext cx="2202000" cy="4944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cxnSp>
        <p:nvCxnSpPr>
          <p:cNvPr id="126" name="Google Shape;126;p16"/>
          <p:cNvCxnSpPr/>
          <p:nvPr/>
        </p:nvCxnSpPr>
        <p:spPr>
          <a:xfrm>
            <a:off x="2794607" y="1600200"/>
            <a:ext cx="0" cy="2971800"/>
          </a:xfrm>
          <a:prstGeom prst="straightConnector1">
            <a:avLst/>
          </a:prstGeom>
          <a:noFill/>
          <a:ln cap="flat" cmpd="sng" w="12700">
            <a:solidFill>
              <a:schemeClr val="dk2">
                <a:alpha val="40000"/>
              </a:schemeClr>
            </a:solidFill>
            <a:prstDash val="solid"/>
            <a:round/>
            <a:headEnd len="sm" w="sm" type="none"/>
            <a:tailEnd len="sm" w="sm" type="none"/>
          </a:ln>
        </p:spPr>
      </p:cxnSp>
      <p:cxnSp>
        <p:nvCxnSpPr>
          <p:cNvPr id="127" name="Google Shape;127;p16"/>
          <p:cNvCxnSpPr/>
          <p:nvPr/>
        </p:nvCxnSpPr>
        <p:spPr>
          <a:xfrm>
            <a:off x="5221670" y="1600200"/>
            <a:ext cx="0" cy="2975100"/>
          </a:xfrm>
          <a:prstGeom prst="straightConnector1">
            <a:avLst/>
          </a:prstGeom>
          <a:noFill/>
          <a:ln cap="flat" cmpd="sng" w="12700">
            <a:solidFill>
              <a:schemeClr val="dk2">
                <a:alpha val="40000"/>
              </a:schemeClr>
            </a:solidFill>
            <a:prstDash val="solid"/>
            <a:round/>
            <a:headEnd len="sm" w="sm" type="none"/>
            <a:tailEnd len="sm" w="sm" type="none"/>
          </a:ln>
        </p:spPr>
      </p:cxnSp>
      <p:sp>
        <p:nvSpPr>
          <p:cNvPr id="128" name="Google Shape;128;p16"/>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9" name="Google Shape;129;p16"/>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0" name="Google Shape;130;p16"/>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131" name="Shape 131"/>
        <p:cNvGrpSpPr/>
        <p:nvPr/>
      </p:nvGrpSpPr>
      <p:grpSpPr>
        <a:xfrm>
          <a:off x="0" y="0"/>
          <a:ext cx="0" cy="0"/>
          <a:chOff x="0" y="0"/>
          <a:chExt cx="0" cy="0"/>
        </a:xfrm>
      </p:grpSpPr>
      <p:sp>
        <p:nvSpPr>
          <p:cNvPr id="132" name="Google Shape;132;p17"/>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Clr>
                <a:schemeClr val="lt2"/>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17"/>
          <p:cNvSpPr txBox="1"/>
          <p:nvPr>
            <p:ph idx="1" type="body"/>
          </p:nvPr>
        </p:nvSpPr>
        <p:spPr>
          <a:xfrm rot="5400000">
            <a:off x="2609140" y="-241861"/>
            <a:ext cx="3146700" cy="670980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34" name="Google Shape;134;p17"/>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5" name="Google Shape;135;p17"/>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6" name="Google Shape;136;p17"/>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137" name="Shape 137"/>
        <p:cNvGrpSpPr/>
        <p:nvPr/>
      </p:nvGrpSpPr>
      <p:grpSpPr>
        <a:xfrm>
          <a:off x="0" y="0"/>
          <a:ext cx="0" cy="0"/>
          <a:chOff x="0" y="0"/>
          <a:chExt cx="0" cy="0"/>
        </a:xfrm>
      </p:grpSpPr>
      <p:sp>
        <p:nvSpPr>
          <p:cNvPr id="138" name="Google Shape;138;p18"/>
          <p:cNvSpPr txBox="1"/>
          <p:nvPr>
            <p:ph type="title"/>
          </p:nvPr>
        </p:nvSpPr>
        <p:spPr>
          <a:xfrm rot="5400000">
            <a:off x="4700560" y="1850110"/>
            <a:ext cx="4369500" cy="1314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Clr>
                <a:schemeClr val="lt2"/>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18"/>
          <p:cNvSpPr txBox="1"/>
          <p:nvPr>
            <p:ph idx="1" type="body"/>
          </p:nvPr>
        </p:nvSpPr>
        <p:spPr>
          <a:xfrm rot="5400000">
            <a:off x="1259709" y="-104840"/>
            <a:ext cx="4026600" cy="556740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40" name="Google Shape;140;p18"/>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 name="Google Shape;141;p18"/>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 name="Google Shape;142;p18"/>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3" name="Shape 143"/>
        <p:cNvGrpSpPr/>
        <p:nvPr/>
      </p:nvGrpSpPr>
      <p:grpSpPr>
        <a:xfrm>
          <a:off x="0" y="0"/>
          <a:ext cx="0" cy="0"/>
          <a:chOff x="0" y="0"/>
          <a:chExt cx="0" cy="0"/>
        </a:xfrm>
      </p:grpSpPr>
      <p:sp>
        <p:nvSpPr>
          <p:cNvPr id="144" name="Google Shape;144;p19"/>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lvl1pPr lvl="0" rtl="0">
              <a:spcBef>
                <a:spcPts val="0"/>
              </a:spcBef>
              <a:spcAft>
                <a:spcPts val="0"/>
              </a:spcAft>
              <a:buSzPts val="265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45" name="Google Shape;145;p19"/>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lvl1pPr indent="-304800" lvl="0" marL="457200" rtl="0">
              <a:spcBef>
                <a:spcPts val="800"/>
              </a:spcBef>
              <a:spcAft>
                <a:spcPts val="0"/>
              </a:spcAft>
              <a:buSzPts val="1200"/>
              <a:buChar char="►"/>
              <a:defRPr/>
            </a:lvl1pPr>
            <a:lvl2pPr indent="-298450" lvl="1" marL="914400" rtl="0">
              <a:spcBef>
                <a:spcPts val="800"/>
              </a:spcBef>
              <a:spcAft>
                <a:spcPts val="0"/>
              </a:spcAft>
              <a:buSzPts val="1100"/>
              <a:buChar char="►"/>
              <a:defRPr/>
            </a:lvl2pPr>
            <a:lvl3pPr indent="-292100" lvl="2" marL="1371600" rtl="0">
              <a:spcBef>
                <a:spcPts val="800"/>
              </a:spcBef>
              <a:spcAft>
                <a:spcPts val="0"/>
              </a:spcAft>
              <a:buSzPts val="1000"/>
              <a:buChar char="►"/>
              <a:defRPr/>
            </a:lvl3pPr>
            <a:lvl4pPr indent="-279400" lvl="3" marL="1828800" rtl="0">
              <a:spcBef>
                <a:spcPts val="800"/>
              </a:spcBef>
              <a:spcAft>
                <a:spcPts val="0"/>
              </a:spcAft>
              <a:buSzPts val="800"/>
              <a:buChar char="►"/>
              <a:defRPr/>
            </a:lvl4pPr>
            <a:lvl5pPr indent="-279400" lvl="4" marL="2286000" rtl="0">
              <a:spcBef>
                <a:spcPts val="800"/>
              </a:spcBef>
              <a:spcAft>
                <a:spcPts val="0"/>
              </a:spcAft>
              <a:buSzPts val="800"/>
              <a:buChar char="►"/>
              <a:defRPr/>
            </a:lvl5pPr>
            <a:lvl6pPr indent="-279400" lvl="5" marL="2743200" rtl="0">
              <a:spcBef>
                <a:spcPts val="800"/>
              </a:spcBef>
              <a:spcAft>
                <a:spcPts val="0"/>
              </a:spcAft>
              <a:buSzPts val="800"/>
              <a:buChar char="►"/>
              <a:defRPr/>
            </a:lvl6pPr>
            <a:lvl7pPr indent="-279400" lvl="6" marL="3200400" rtl="0">
              <a:spcBef>
                <a:spcPts val="800"/>
              </a:spcBef>
              <a:spcAft>
                <a:spcPts val="0"/>
              </a:spcAft>
              <a:buSzPts val="800"/>
              <a:buChar char="►"/>
              <a:defRPr/>
            </a:lvl7pPr>
            <a:lvl8pPr indent="-279400" lvl="7" marL="3657600" rtl="0">
              <a:spcBef>
                <a:spcPts val="800"/>
              </a:spcBef>
              <a:spcAft>
                <a:spcPts val="0"/>
              </a:spcAft>
              <a:buSzPts val="800"/>
              <a:buChar char="►"/>
              <a:defRPr/>
            </a:lvl8pPr>
            <a:lvl9pPr indent="-279400" lvl="8" marL="4114800" rtl="0">
              <a:spcBef>
                <a:spcPts val="800"/>
              </a:spcBef>
              <a:spcAft>
                <a:spcPts val="0"/>
              </a:spcAft>
              <a:buSzPts val="800"/>
              <a:buChar char="►"/>
              <a:defRPr/>
            </a:lvl9pPr>
          </a:lstStyle>
          <a:p/>
        </p:txBody>
      </p:sp>
      <p:sp>
        <p:nvSpPr>
          <p:cNvPr id="146" name="Google Shape;146;p19"/>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22" Type="http://schemas.openxmlformats.org/officeDocument/2006/relationships/slideLayout" Target="../slideLayouts/slideLayout18.xml"/><Relationship Id="rId10" Type="http://schemas.openxmlformats.org/officeDocument/2006/relationships/slideLayout" Target="../slideLayouts/slideLayout6.xml"/><Relationship Id="rId21" Type="http://schemas.openxmlformats.org/officeDocument/2006/relationships/slideLayout" Target="../slideLayouts/slideLayout17.xml"/><Relationship Id="rId13" Type="http://schemas.openxmlformats.org/officeDocument/2006/relationships/slideLayout" Target="../slideLayouts/slideLayout9.xml"/><Relationship Id="rId12" Type="http://schemas.openxmlformats.org/officeDocument/2006/relationships/slideLayout" Target="../slideLayouts/slideLayout8.xml"/><Relationship Id="rId23" Type="http://schemas.openxmlformats.org/officeDocument/2006/relationships/theme" Target="../theme/theme1.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3613" r="0" t="0"/>
          <a:stretch/>
        </p:blipFill>
        <p:spPr>
          <a:xfrm>
            <a:off x="0" y="2002264"/>
            <a:ext cx="3027758" cy="3141237"/>
          </a:xfrm>
          <a:prstGeom prst="rect">
            <a:avLst/>
          </a:prstGeom>
          <a:noFill/>
          <a:ln>
            <a:noFill/>
          </a:ln>
        </p:spPr>
      </p:pic>
      <p:pic>
        <p:nvPicPr>
          <p:cNvPr id="7" name="Google Shape;7;p1"/>
          <p:cNvPicPr preferRelativeResize="0"/>
          <p:nvPr/>
        </p:nvPicPr>
        <p:blipFill rotWithShape="1">
          <a:blip r:embed="rId2">
            <a:alphaModFix/>
          </a:blip>
          <a:srcRect b="0" l="35640" r="0" t="0"/>
          <a:stretch/>
        </p:blipFill>
        <p:spPr>
          <a:xfrm>
            <a:off x="0" y="2169260"/>
            <a:ext cx="1141809" cy="1774090"/>
          </a:xfrm>
          <a:prstGeom prst="rect">
            <a:avLst/>
          </a:prstGeom>
          <a:noFill/>
          <a:ln>
            <a:noFill/>
          </a:ln>
        </p:spPr>
      </p:pic>
      <p:sp>
        <p:nvSpPr>
          <p:cNvPr id="8" name="Google Shape;8;p1"/>
          <p:cNvSpPr/>
          <p:nvPr/>
        </p:nvSpPr>
        <p:spPr>
          <a:xfrm>
            <a:off x="6456759" y="1257300"/>
            <a:ext cx="2114700" cy="2114700"/>
          </a:xfrm>
          <a:prstGeom prst="ellipse">
            <a:avLst/>
          </a:prstGeom>
          <a:gradFill>
            <a:gsLst>
              <a:gs pos="0">
                <a:srgbClr val="FFFFFF">
                  <a:alpha val="6666"/>
                </a:srgbClr>
              </a:gs>
              <a:gs pos="36000">
                <a:srgbClr val="FFFFFF">
                  <a:alpha val="5882"/>
                </a:srgbClr>
              </a:gs>
              <a:gs pos="69000">
                <a:srgbClr val="FFFFFF">
                  <a:alpha val="0"/>
                </a:srgbClr>
              </a:gs>
              <a:gs pos="100000">
                <a:srgbClr val="FFFFFF">
                  <a:alpha val="0"/>
                </a:srgbClr>
              </a:gs>
            </a:gsLst>
            <a:path path="circle">
              <a:fillToRect b="50%" l="50%" r="50%" t="50%"/>
            </a:path>
            <a:tileRect/>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9" name="Google Shape;9;p1"/>
          <p:cNvPicPr preferRelativeResize="0"/>
          <p:nvPr/>
        </p:nvPicPr>
        <p:blipFill rotWithShape="1">
          <a:blip r:embed="rId3">
            <a:alphaModFix/>
          </a:blip>
          <a:srcRect b="0" l="0" r="0" t="28812"/>
          <a:stretch/>
        </p:blipFill>
        <p:spPr>
          <a:xfrm>
            <a:off x="5999559" y="0"/>
            <a:ext cx="1202541" cy="856055"/>
          </a:xfrm>
          <a:prstGeom prst="rect">
            <a:avLst/>
          </a:prstGeom>
          <a:noFill/>
          <a:ln>
            <a:noFill/>
          </a:ln>
        </p:spPr>
      </p:pic>
      <p:pic>
        <p:nvPicPr>
          <p:cNvPr id="10" name="Google Shape;10;p1"/>
          <p:cNvPicPr preferRelativeResize="0"/>
          <p:nvPr/>
        </p:nvPicPr>
        <p:blipFill rotWithShape="1">
          <a:blip r:embed="rId4">
            <a:alphaModFix/>
          </a:blip>
          <a:srcRect b="23320" l="0" r="0" t="0"/>
          <a:stretch/>
        </p:blipFill>
        <p:spPr>
          <a:xfrm>
            <a:off x="6454408" y="4572000"/>
            <a:ext cx="745300" cy="571500"/>
          </a:xfrm>
          <a:prstGeom prst="rect">
            <a:avLst/>
          </a:prstGeom>
          <a:noFill/>
          <a:ln>
            <a:noFill/>
          </a:ln>
        </p:spPr>
      </p:pic>
      <p:sp>
        <p:nvSpPr>
          <p:cNvPr id="11" name="Google Shape;11;p1"/>
          <p:cNvSpPr/>
          <p:nvPr/>
        </p:nvSpPr>
        <p:spPr>
          <a:xfrm>
            <a:off x="7828359" y="0"/>
            <a:ext cx="514500" cy="8574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 name="Google Shape;12;p1"/>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lt2"/>
              </a:buClr>
              <a:buSzPts val="2650"/>
              <a:buFont typeface="Century Gothic"/>
              <a:buNone/>
              <a:defRPr b="1" i="0" sz="265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100"/>
              <a:buNone/>
              <a:defRPr b="0" i="0" sz="1400" u="none" cap="none" strike="noStrike">
                <a:solidFill>
                  <a:schemeClr val="lt2"/>
                </a:solidFill>
              </a:defRPr>
            </a:lvl2pPr>
            <a:lvl3pPr lvl="2" marR="0" rtl="0" algn="l">
              <a:spcBef>
                <a:spcPts val="0"/>
              </a:spcBef>
              <a:spcAft>
                <a:spcPts val="0"/>
              </a:spcAft>
              <a:buSzPts val="1100"/>
              <a:buNone/>
              <a:defRPr b="0" i="0" sz="1400" u="none" cap="none" strike="noStrike">
                <a:solidFill>
                  <a:schemeClr val="lt2"/>
                </a:solidFill>
              </a:defRPr>
            </a:lvl3pPr>
            <a:lvl4pPr lvl="3" marR="0" rtl="0" algn="l">
              <a:spcBef>
                <a:spcPts val="0"/>
              </a:spcBef>
              <a:spcAft>
                <a:spcPts val="0"/>
              </a:spcAft>
              <a:buSzPts val="1100"/>
              <a:buNone/>
              <a:defRPr b="0" i="0" sz="1400" u="none" cap="none" strike="noStrike">
                <a:solidFill>
                  <a:schemeClr val="lt2"/>
                </a:solidFill>
              </a:defRPr>
            </a:lvl4pPr>
            <a:lvl5pPr lvl="4" marR="0" rtl="0" algn="l">
              <a:spcBef>
                <a:spcPts val="0"/>
              </a:spcBef>
              <a:spcAft>
                <a:spcPts val="0"/>
              </a:spcAft>
              <a:buSzPts val="1100"/>
              <a:buNone/>
              <a:defRPr b="0" i="0" sz="1400" u="none" cap="none" strike="noStrike">
                <a:solidFill>
                  <a:schemeClr val="lt2"/>
                </a:solidFill>
              </a:defRPr>
            </a:lvl5pPr>
            <a:lvl6pPr lvl="5" marR="0" rtl="0" algn="l">
              <a:spcBef>
                <a:spcPts val="0"/>
              </a:spcBef>
              <a:spcAft>
                <a:spcPts val="0"/>
              </a:spcAft>
              <a:buSzPts val="1100"/>
              <a:buNone/>
              <a:defRPr b="0" i="0" sz="1400" u="none" cap="none" strike="noStrike">
                <a:solidFill>
                  <a:schemeClr val="lt2"/>
                </a:solidFill>
              </a:defRPr>
            </a:lvl6pPr>
            <a:lvl7pPr lvl="6" marR="0" rtl="0" algn="l">
              <a:spcBef>
                <a:spcPts val="0"/>
              </a:spcBef>
              <a:spcAft>
                <a:spcPts val="0"/>
              </a:spcAft>
              <a:buSzPts val="1100"/>
              <a:buNone/>
              <a:defRPr b="0" i="0" sz="1400" u="none" cap="none" strike="noStrike">
                <a:solidFill>
                  <a:schemeClr val="lt2"/>
                </a:solidFill>
              </a:defRPr>
            </a:lvl7pPr>
            <a:lvl8pPr lvl="7" marR="0" rtl="0" algn="l">
              <a:spcBef>
                <a:spcPts val="0"/>
              </a:spcBef>
              <a:spcAft>
                <a:spcPts val="0"/>
              </a:spcAft>
              <a:buSzPts val="1100"/>
              <a:buNone/>
              <a:defRPr b="0" i="0" sz="1400" u="none" cap="none" strike="noStrike">
                <a:solidFill>
                  <a:schemeClr val="lt2"/>
                </a:solidFill>
              </a:defRPr>
            </a:lvl8pPr>
            <a:lvl9pPr lvl="8" marR="0" rtl="0" algn="l">
              <a:spcBef>
                <a:spcPts val="0"/>
              </a:spcBef>
              <a:spcAft>
                <a:spcPts val="0"/>
              </a:spcAft>
              <a:buSzPts val="1100"/>
              <a:buNone/>
              <a:defRPr b="0" i="0" sz="1400" u="none" cap="none" strike="noStrike">
                <a:solidFill>
                  <a:schemeClr val="lt2"/>
                </a:solidFill>
              </a:defRPr>
            </a:lvl9pPr>
          </a:lstStyle>
          <a:p/>
        </p:txBody>
      </p:sp>
      <p:sp>
        <p:nvSpPr>
          <p:cNvPr id="13" name="Google Shape;13;p1"/>
          <p:cNvSpPr txBox="1"/>
          <p:nvPr>
            <p:ph idx="1" type="body"/>
          </p:nvPr>
        </p:nvSpPr>
        <p:spPr>
          <a:xfrm>
            <a:off x="827484" y="1539689"/>
            <a:ext cx="6709800" cy="3146700"/>
          </a:xfrm>
          <a:prstGeom prst="rect">
            <a:avLst/>
          </a:prstGeom>
          <a:noFill/>
          <a:ln>
            <a:noFill/>
          </a:ln>
        </p:spPr>
        <p:txBody>
          <a:bodyPr anchorCtr="0" anchor="t" bIns="34275" lIns="68575" spcFirstLastPara="1" rIns="68575" wrap="square" tIns="34275">
            <a:normAutofit/>
          </a:bodyPr>
          <a:lstStyle>
            <a:lvl1pPr indent="-304800" lvl="0" marL="457200" marR="0" rtl="0" algn="l">
              <a:spcBef>
                <a:spcPts val="800"/>
              </a:spcBef>
              <a:spcAft>
                <a:spcPts val="0"/>
              </a:spcAft>
              <a:buClr>
                <a:schemeClr val="dk2"/>
              </a:buClr>
              <a:buSzPts val="1200"/>
              <a:buFont typeface="Noto Sans Symbols"/>
              <a:buChar char="►"/>
              <a:defRPr b="0" i="0" sz="1500" u="none" cap="none" strike="noStrike">
                <a:solidFill>
                  <a:schemeClr val="lt1"/>
                </a:solidFill>
                <a:latin typeface="Century Gothic"/>
                <a:ea typeface="Century Gothic"/>
                <a:cs typeface="Century Gothic"/>
                <a:sym typeface="Century Gothic"/>
              </a:defRPr>
            </a:lvl1pPr>
            <a:lvl2pPr indent="-298450" lvl="1" marL="914400" marR="0" rtl="0" algn="l">
              <a:spcBef>
                <a:spcPts val="800"/>
              </a:spcBef>
              <a:spcAft>
                <a:spcPts val="0"/>
              </a:spcAft>
              <a:buClr>
                <a:schemeClr val="dk2"/>
              </a:buClr>
              <a:buSzPts val="1100"/>
              <a:buFont typeface="Noto Sans Symbols"/>
              <a:buChar char="►"/>
              <a:defRPr b="0" i="0" sz="1400" u="none" cap="none" strike="noStrike">
                <a:solidFill>
                  <a:schemeClr val="lt1"/>
                </a:solidFill>
                <a:latin typeface="Century Gothic"/>
                <a:ea typeface="Century Gothic"/>
                <a:cs typeface="Century Gothic"/>
                <a:sym typeface="Century Gothic"/>
              </a:defRPr>
            </a:lvl2pPr>
            <a:lvl3pPr indent="-292100" lvl="2" marL="1371600" marR="0" rtl="0" algn="l">
              <a:spcBef>
                <a:spcPts val="800"/>
              </a:spcBef>
              <a:spcAft>
                <a:spcPts val="0"/>
              </a:spcAft>
              <a:buClr>
                <a:schemeClr val="dk2"/>
              </a:buClr>
              <a:buSzPts val="1000"/>
              <a:buFont typeface="Noto Sans Symbols"/>
              <a:buChar char="►"/>
              <a:defRPr b="0" i="0" sz="1200" u="none" cap="none" strike="noStrike">
                <a:solidFill>
                  <a:schemeClr val="lt1"/>
                </a:solidFill>
                <a:latin typeface="Century Gothic"/>
                <a:ea typeface="Century Gothic"/>
                <a:cs typeface="Century Gothic"/>
                <a:sym typeface="Century Gothic"/>
              </a:defRPr>
            </a:lvl3pPr>
            <a:lvl4pPr indent="-279400" lvl="3" marL="1828800" marR="0" rtl="0" algn="l">
              <a:spcBef>
                <a:spcPts val="800"/>
              </a:spcBef>
              <a:spcAft>
                <a:spcPts val="0"/>
              </a:spcAft>
              <a:buClr>
                <a:schemeClr val="dk2"/>
              </a:buClr>
              <a:buSzPts val="800"/>
              <a:buFont typeface="Noto Sans Symbols"/>
              <a:buChar char="►"/>
              <a:defRPr b="0" i="0" sz="1100" u="none" cap="none" strike="noStrike">
                <a:solidFill>
                  <a:schemeClr val="lt1"/>
                </a:solidFill>
                <a:latin typeface="Century Gothic"/>
                <a:ea typeface="Century Gothic"/>
                <a:cs typeface="Century Gothic"/>
                <a:sym typeface="Century Gothic"/>
              </a:defRPr>
            </a:lvl4pPr>
            <a:lvl5pPr indent="-279400" lvl="4" marL="2286000" marR="0" rtl="0" algn="l">
              <a:spcBef>
                <a:spcPts val="800"/>
              </a:spcBef>
              <a:spcAft>
                <a:spcPts val="0"/>
              </a:spcAft>
              <a:buClr>
                <a:schemeClr val="dk2"/>
              </a:buClr>
              <a:buSzPts val="800"/>
              <a:buFont typeface="Noto Sans Symbols"/>
              <a:buChar char="►"/>
              <a:defRPr b="0" i="0" sz="1100" u="none" cap="none" strike="noStrike">
                <a:solidFill>
                  <a:schemeClr val="lt1"/>
                </a:solidFill>
                <a:latin typeface="Century Gothic"/>
                <a:ea typeface="Century Gothic"/>
                <a:cs typeface="Century Gothic"/>
                <a:sym typeface="Century Gothic"/>
              </a:defRPr>
            </a:lvl5pPr>
            <a:lvl6pPr indent="-279400" lvl="5" marL="2743200" marR="0" rtl="0" algn="l">
              <a:spcBef>
                <a:spcPts val="800"/>
              </a:spcBef>
              <a:spcAft>
                <a:spcPts val="0"/>
              </a:spcAft>
              <a:buClr>
                <a:schemeClr val="dk2"/>
              </a:buClr>
              <a:buSzPts val="800"/>
              <a:buFont typeface="Noto Sans Symbols"/>
              <a:buChar char="►"/>
              <a:defRPr b="0" i="0" sz="1100" u="none" cap="none" strike="noStrike">
                <a:solidFill>
                  <a:schemeClr val="lt1"/>
                </a:solidFill>
                <a:latin typeface="Century Gothic"/>
                <a:ea typeface="Century Gothic"/>
                <a:cs typeface="Century Gothic"/>
                <a:sym typeface="Century Gothic"/>
              </a:defRPr>
            </a:lvl6pPr>
            <a:lvl7pPr indent="-279400" lvl="6" marL="3200400" marR="0" rtl="0" algn="l">
              <a:spcBef>
                <a:spcPts val="800"/>
              </a:spcBef>
              <a:spcAft>
                <a:spcPts val="0"/>
              </a:spcAft>
              <a:buClr>
                <a:schemeClr val="dk2"/>
              </a:buClr>
              <a:buSzPts val="800"/>
              <a:buFont typeface="Noto Sans Symbols"/>
              <a:buChar char="►"/>
              <a:defRPr b="0" i="0" sz="1100" u="none" cap="none" strike="noStrike">
                <a:solidFill>
                  <a:schemeClr val="lt1"/>
                </a:solidFill>
                <a:latin typeface="Century Gothic"/>
                <a:ea typeface="Century Gothic"/>
                <a:cs typeface="Century Gothic"/>
                <a:sym typeface="Century Gothic"/>
              </a:defRPr>
            </a:lvl7pPr>
            <a:lvl8pPr indent="-279400" lvl="7" marL="3657600" marR="0" rtl="0" algn="l">
              <a:spcBef>
                <a:spcPts val="800"/>
              </a:spcBef>
              <a:spcAft>
                <a:spcPts val="0"/>
              </a:spcAft>
              <a:buClr>
                <a:schemeClr val="dk2"/>
              </a:buClr>
              <a:buSzPts val="800"/>
              <a:buFont typeface="Noto Sans Symbols"/>
              <a:buChar char="►"/>
              <a:defRPr b="0" i="0" sz="1100" u="none" cap="none" strike="noStrike">
                <a:solidFill>
                  <a:schemeClr val="lt1"/>
                </a:solidFill>
                <a:latin typeface="Century Gothic"/>
                <a:ea typeface="Century Gothic"/>
                <a:cs typeface="Century Gothic"/>
                <a:sym typeface="Century Gothic"/>
              </a:defRPr>
            </a:lvl8pPr>
            <a:lvl9pPr indent="-279400" lvl="8" marL="4114800" marR="0" rtl="0" algn="l">
              <a:spcBef>
                <a:spcPts val="800"/>
              </a:spcBef>
              <a:spcAft>
                <a:spcPts val="0"/>
              </a:spcAft>
              <a:buClr>
                <a:schemeClr val="dk2"/>
              </a:buClr>
              <a:buSzPts val="800"/>
              <a:buFont typeface="Noto Sans Symbols"/>
              <a:buChar char="►"/>
              <a:defRPr b="0" i="0" sz="1100" u="none" cap="none" strike="noStrike">
                <a:solidFill>
                  <a:schemeClr val="lt1"/>
                </a:solidFill>
                <a:latin typeface="Century Gothic"/>
                <a:ea typeface="Century Gothic"/>
                <a:cs typeface="Century Gothic"/>
                <a:sym typeface="Century Gothic"/>
              </a:defRPr>
            </a:lvl9pPr>
          </a:lstStyle>
          <a:p/>
        </p:txBody>
      </p:sp>
      <p:sp>
        <p:nvSpPr>
          <p:cNvPr id="14" name="Google Shape;14;p1"/>
          <p:cNvSpPr txBox="1"/>
          <p:nvPr>
            <p:ph idx="10" type="dt"/>
          </p:nvPr>
        </p:nvSpPr>
        <p:spPr>
          <a:xfrm rot="5400000">
            <a:off x="7616804" y="1342951"/>
            <a:ext cx="742800" cy="2286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0" sz="800" u="none" cap="none" strike="noStrike">
                <a:solidFill>
                  <a:srgbClr val="898989"/>
                </a:solidFill>
                <a:latin typeface="Century Gothic"/>
                <a:ea typeface="Century Gothic"/>
                <a:cs typeface="Century Gothic"/>
                <a:sym typeface="Century Gothic"/>
              </a:defRPr>
            </a:lvl1pPr>
            <a:lvl2pPr lvl="1"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9pPr>
          </a:lstStyle>
          <a:p/>
        </p:txBody>
      </p:sp>
      <p:sp>
        <p:nvSpPr>
          <p:cNvPr id="15" name="Google Shape;15;p1"/>
          <p:cNvSpPr txBox="1"/>
          <p:nvPr>
            <p:ph idx="11" type="ftr"/>
          </p:nvPr>
        </p:nvSpPr>
        <p:spPr>
          <a:xfrm rot="5400000">
            <a:off x="6713753" y="2418900"/>
            <a:ext cx="2894700" cy="228600"/>
          </a:xfrm>
          <a:prstGeom prst="rect">
            <a:avLst/>
          </a:prstGeom>
          <a:noFill/>
          <a:ln>
            <a:noFill/>
          </a:ln>
        </p:spPr>
        <p:txBody>
          <a:bodyPr anchorCtr="0" anchor="b" bIns="34275" lIns="68575" spcFirstLastPara="1" rIns="68575" wrap="square" tIns="34275">
            <a:noAutofit/>
          </a:bodyPr>
          <a:lstStyle>
            <a:lvl1pPr lvl="0" marR="0" rtl="0" algn="l">
              <a:spcBef>
                <a:spcPts val="0"/>
              </a:spcBef>
              <a:spcAft>
                <a:spcPts val="0"/>
              </a:spcAft>
              <a:buSzPts val="1100"/>
              <a:buNone/>
              <a:defRPr b="0" i="0" sz="800" u="none" cap="none" strike="noStrike">
                <a:solidFill>
                  <a:srgbClr val="898989"/>
                </a:solidFill>
                <a:latin typeface="Century Gothic"/>
                <a:ea typeface="Century Gothic"/>
                <a:cs typeface="Century Gothic"/>
                <a:sym typeface="Century Gothic"/>
              </a:defRPr>
            </a:lvl1pPr>
            <a:lvl2pPr lvl="1"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100"/>
              <a:buNone/>
              <a:defRPr b="0" i="0" sz="1400" u="none" cap="none" strike="noStrike">
                <a:solidFill>
                  <a:schemeClr val="lt1"/>
                </a:solidFill>
                <a:latin typeface="Century Gothic"/>
                <a:ea typeface="Century Gothic"/>
                <a:cs typeface="Century Gothic"/>
                <a:sym typeface="Century Gothic"/>
              </a:defRPr>
            </a:lvl9pPr>
          </a:lstStyle>
          <a:p/>
        </p:txBody>
      </p:sp>
      <p:sp>
        <p:nvSpPr>
          <p:cNvPr id="16" name="Google Shape;16;p1"/>
          <p:cNvSpPr txBox="1"/>
          <p:nvPr>
            <p:ph idx="12" type="sldNum"/>
          </p:nvPr>
        </p:nvSpPr>
        <p:spPr>
          <a:xfrm>
            <a:off x="7764405" y="221797"/>
            <a:ext cx="628500" cy="575700"/>
          </a:xfrm>
          <a:prstGeom prst="rect">
            <a:avLst/>
          </a:prstGeom>
          <a:noFill/>
          <a:ln>
            <a:noFill/>
          </a:ln>
        </p:spPr>
        <p:txBody>
          <a:bodyPr anchorCtr="0" anchor="b" bIns="34275" lIns="68575" spcFirstLastPara="1" rIns="68575" wrap="square" tIns="34275">
            <a:noAutofit/>
          </a:bodyPr>
          <a:lstStyle>
            <a:lvl1pPr indent="0" lvl="0" marL="0" marR="0" rtl="0" algn="ctr">
              <a:spcBef>
                <a:spcPts val="0"/>
              </a:spcBef>
              <a:buNone/>
              <a:defRPr b="0" i="0" sz="2100" u="none" cap="none" strike="noStrike">
                <a:solidFill>
                  <a:srgbClr val="898989"/>
                </a:solidFill>
                <a:latin typeface="Century Gothic"/>
                <a:ea typeface="Century Gothic"/>
                <a:cs typeface="Century Gothic"/>
                <a:sym typeface="Century Gothic"/>
              </a:defRPr>
            </a:lvl1pPr>
            <a:lvl2pPr indent="0" lvl="1" marL="0" marR="0" rtl="0" algn="ctr">
              <a:spcBef>
                <a:spcPts val="0"/>
              </a:spcBef>
              <a:buNone/>
              <a:defRPr b="0" i="0" sz="2100" u="none" cap="none" strike="noStrike">
                <a:solidFill>
                  <a:srgbClr val="898989"/>
                </a:solidFill>
                <a:latin typeface="Century Gothic"/>
                <a:ea typeface="Century Gothic"/>
                <a:cs typeface="Century Gothic"/>
                <a:sym typeface="Century Gothic"/>
              </a:defRPr>
            </a:lvl2pPr>
            <a:lvl3pPr indent="0" lvl="2" marL="0" marR="0" rtl="0" algn="ctr">
              <a:spcBef>
                <a:spcPts val="0"/>
              </a:spcBef>
              <a:buNone/>
              <a:defRPr b="0" i="0" sz="2100" u="none" cap="none" strike="noStrike">
                <a:solidFill>
                  <a:srgbClr val="898989"/>
                </a:solidFill>
                <a:latin typeface="Century Gothic"/>
                <a:ea typeface="Century Gothic"/>
                <a:cs typeface="Century Gothic"/>
                <a:sym typeface="Century Gothic"/>
              </a:defRPr>
            </a:lvl3pPr>
            <a:lvl4pPr indent="0" lvl="3" marL="0" marR="0" rtl="0" algn="ctr">
              <a:spcBef>
                <a:spcPts val="0"/>
              </a:spcBef>
              <a:buNone/>
              <a:defRPr b="0" i="0" sz="2100" u="none" cap="none" strike="noStrike">
                <a:solidFill>
                  <a:srgbClr val="898989"/>
                </a:solidFill>
                <a:latin typeface="Century Gothic"/>
                <a:ea typeface="Century Gothic"/>
                <a:cs typeface="Century Gothic"/>
                <a:sym typeface="Century Gothic"/>
              </a:defRPr>
            </a:lvl4pPr>
            <a:lvl5pPr indent="0" lvl="4" marL="0" marR="0" rtl="0" algn="ctr">
              <a:spcBef>
                <a:spcPts val="0"/>
              </a:spcBef>
              <a:buNone/>
              <a:defRPr b="0" i="0" sz="2100" u="none" cap="none" strike="noStrike">
                <a:solidFill>
                  <a:srgbClr val="898989"/>
                </a:solidFill>
                <a:latin typeface="Century Gothic"/>
                <a:ea typeface="Century Gothic"/>
                <a:cs typeface="Century Gothic"/>
                <a:sym typeface="Century Gothic"/>
              </a:defRPr>
            </a:lvl5pPr>
            <a:lvl6pPr indent="0" lvl="5" marL="0" marR="0" rtl="0" algn="ctr">
              <a:spcBef>
                <a:spcPts val="0"/>
              </a:spcBef>
              <a:buNone/>
              <a:defRPr b="0" i="0" sz="2100" u="none" cap="none" strike="noStrike">
                <a:solidFill>
                  <a:srgbClr val="898989"/>
                </a:solidFill>
                <a:latin typeface="Century Gothic"/>
                <a:ea typeface="Century Gothic"/>
                <a:cs typeface="Century Gothic"/>
                <a:sym typeface="Century Gothic"/>
              </a:defRPr>
            </a:lvl6pPr>
            <a:lvl7pPr indent="0" lvl="6" marL="0" marR="0" rtl="0" algn="ctr">
              <a:spcBef>
                <a:spcPts val="0"/>
              </a:spcBef>
              <a:buNone/>
              <a:defRPr b="0" i="0" sz="2100" u="none" cap="none" strike="noStrike">
                <a:solidFill>
                  <a:srgbClr val="898989"/>
                </a:solidFill>
                <a:latin typeface="Century Gothic"/>
                <a:ea typeface="Century Gothic"/>
                <a:cs typeface="Century Gothic"/>
                <a:sym typeface="Century Gothic"/>
              </a:defRPr>
            </a:lvl7pPr>
            <a:lvl8pPr indent="0" lvl="7" marL="0" marR="0" rtl="0" algn="ctr">
              <a:spcBef>
                <a:spcPts val="0"/>
              </a:spcBef>
              <a:buNone/>
              <a:defRPr b="0" i="0" sz="2100" u="none" cap="none" strike="noStrike">
                <a:solidFill>
                  <a:srgbClr val="898989"/>
                </a:solidFill>
                <a:latin typeface="Century Gothic"/>
                <a:ea typeface="Century Gothic"/>
                <a:cs typeface="Century Gothic"/>
                <a:sym typeface="Century Gothic"/>
              </a:defRPr>
            </a:lvl8pPr>
            <a:lvl9pPr indent="0" lvl="8" marL="0" marR="0" rtl="0" algn="ctr">
              <a:spcBef>
                <a:spcPts val="0"/>
              </a:spcBef>
              <a:buNone/>
              <a:defRPr b="0" i="0" sz="2100" u="none" cap="none" strike="noStrike">
                <a:solidFill>
                  <a:srgbClr val="898989"/>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ph type="ctrTitle"/>
          </p:nvPr>
        </p:nvSpPr>
        <p:spPr>
          <a:xfrm>
            <a:off x="256050" y="111000"/>
            <a:ext cx="8069700" cy="16560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lang="ru" sz="2150"/>
              <a:t>КОМАНДЫ ПЕРЕДАЧИ УПРАВЛЕНИЯ. СПЕЦИАЛЬНЫЕ</a:t>
            </a:r>
            <a:endParaRPr sz="2150"/>
          </a:p>
          <a:p>
            <a:pPr indent="0" lvl="0" marL="0" rtl="0" algn="ctr">
              <a:spcBef>
                <a:spcPts val="0"/>
              </a:spcBef>
              <a:spcAft>
                <a:spcPts val="0"/>
              </a:spcAft>
              <a:buNone/>
            </a:pPr>
            <a:r>
              <a:rPr lang="ru" sz="2150"/>
              <a:t>КОМАНДЫ.</a:t>
            </a:r>
            <a:endParaRPr sz="2150"/>
          </a:p>
          <a:p>
            <a:pPr indent="0" lvl="0" marL="0" rtl="0" algn="ctr">
              <a:spcBef>
                <a:spcPts val="0"/>
              </a:spcBef>
              <a:spcAft>
                <a:spcPts val="0"/>
              </a:spcAft>
              <a:buNone/>
            </a:pPr>
            <a:r>
              <a:t/>
            </a:r>
            <a:endParaRPr sz="3250"/>
          </a:p>
        </p:txBody>
      </p:sp>
      <p:sp>
        <p:nvSpPr>
          <p:cNvPr id="152" name="Google Shape;152;p20"/>
          <p:cNvSpPr txBox="1"/>
          <p:nvPr>
            <p:ph idx="12" type="sldNum"/>
          </p:nvPr>
        </p:nvSpPr>
        <p:spPr>
          <a:xfrm>
            <a:off x="7764400" y="151300"/>
            <a:ext cx="628500" cy="4962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ru"/>
              <a:t>‹#›</a:t>
            </a:fld>
            <a:endParaRPr/>
          </a:p>
        </p:txBody>
      </p:sp>
      <p:pic>
        <p:nvPicPr>
          <p:cNvPr descr="Язык ассемблера. Особенности, макросы, формат операторов, псевдокоманды.  Часть 1." id="153" name="Google Shape;153;p20"/>
          <p:cNvPicPr preferRelativeResize="0"/>
          <p:nvPr/>
        </p:nvPicPr>
        <p:blipFill>
          <a:blip r:embed="rId3">
            <a:alphaModFix/>
          </a:blip>
          <a:stretch>
            <a:fillRect/>
          </a:stretch>
        </p:blipFill>
        <p:spPr>
          <a:xfrm>
            <a:off x="2488775" y="1505575"/>
            <a:ext cx="3512975" cy="2946951"/>
          </a:xfrm>
          <a:prstGeom prst="rect">
            <a:avLst/>
          </a:prstGeom>
          <a:noFill/>
          <a:ln>
            <a:noFill/>
          </a:ln>
        </p:spPr>
      </p:pic>
      <p:sp>
        <p:nvSpPr>
          <p:cNvPr id="154" name="Google Shape;154;p20"/>
          <p:cNvSpPr txBox="1"/>
          <p:nvPr/>
        </p:nvSpPr>
        <p:spPr>
          <a:xfrm>
            <a:off x="2908375" y="4117350"/>
            <a:ext cx="476400" cy="24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400">
                <a:solidFill>
                  <a:schemeClr val="lt1"/>
                </a:solidFill>
                <a:latin typeface="Century Gothic"/>
                <a:ea typeface="Century Gothic"/>
                <a:cs typeface="Century Gothic"/>
                <a:sym typeface="Century Gothic"/>
              </a:rPr>
              <a:t>jurasik</a:t>
            </a:r>
            <a:endParaRPr sz="100">
              <a:solidFill>
                <a:schemeClr val="lt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idx="12" type="sldNum"/>
          </p:nvPr>
        </p:nvSpPr>
        <p:spPr>
          <a:xfrm>
            <a:off x="7764400" y="0"/>
            <a:ext cx="628500" cy="6753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ru"/>
              <a:t>‹#›</a:t>
            </a:fld>
            <a:endParaRPr/>
          </a:p>
        </p:txBody>
      </p:sp>
      <p:sp>
        <p:nvSpPr>
          <p:cNvPr id="160" name="Google Shape;160;p21"/>
          <p:cNvSpPr txBox="1"/>
          <p:nvPr/>
        </p:nvSpPr>
        <p:spPr>
          <a:xfrm>
            <a:off x="351550" y="388525"/>
            <a:ext cx="67989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2600">
                <a:solidFill>
                  <a:schemeClr val="lt1"/>
                </a:solidFill>
                <a:latin typeface="Century Gothic"/>
                <a:ea typeface="Century Gothic"/>
                <a:cs typeface="Century Gothic"/>
                <a:sym typeface="Century Gothic"/>
              </a:rPr>
              <a:t>КОМАНДЫ ПЕРЕДАЧИ УПРАВЛЕНИЯ</a:t>
            </a:r>
            <a:endParaRPr b="1" sz="2600">
              <a:solidFill>
                <a:schemeClr val="lt1"/>
              </a:solidFill>
              <a:latin typeface="Century Gothic"/>
              <a:ea typeface="Century Gothic"/>
              <a:cs typeface="Century Gothic"/>
              <a:sym typeface="Century Gothic"/>
            </a:endParaRPr>
          </a:p>
        </p:txBody>
      </p:sp>
      <p:sp>
        <p:nvSpPr>
          <p:cNvPr id="161" name="Google Shape;161;p21"/>
          <p:cNvSpPr txBox="1"/>
          <p:nvPr/>
        </p:nvSpPr>
        <p:spPr>
          <a:xfrm>
            <a:off x="351550" y="1080475"/>
            <a:ext cx="7917000" cy="30909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ru" sz="1600">
                <a:solidFill>
                  <a:schemeClr val="lt1"/>
                </a:solidFill>
                <a:latin typeface="Century Gothic"/>
                <a:ea typeface="Century Gothic"/>
                <a:cs typeface="Century Gothic"/>
                <a:sym typeface="Century Gothic"/>
              </a:rPr>
              <a:t>Команды передачи управления можно разделить на 4 группы: </a:t>
            </a:r>
            <a:endParaRPr sz="1600">
              <a:solidFill>
                <a:schemeClr val="lt1"/>
              </a:solidFill>
              <a:latin typeface="Century Gothic"/>
              <a:ea typeface="Century Gothic"/>
              <a:cs typeface="Century Gothic"/>
              <a:sym typeface="Century Gothic"/>
            </a:endParaRPr>
          </a:p>
          <a:p>
            <a:pPr indent="0" lvl="0" marL="0" rtl="0" algn="l">
              <a:lnSpc>
                <a:spcPct val="120000"/>
              </a:lnSpc>
              <a:spcBef>
                <a:spcPts val="0"/>
              </a:spcBef>
              <a:spcAft>
                <a:spcPts val="0"/>
              </a:spcAft>
              <a:buNone/>
            </a:pPr>
            <a:r>
              <a:t/>
            </a:r>
            <a:endParaRPr sz="1600">
              <a:solidFill>
                <a:schemeClr val="lt1"/>
              </a:solidFill>
              <a:latin typeface="Century Gothic"/>
              <a:ea typeface="Century Gothic"/>
              <a:cs typeface="Century Gothic"/>
              <a:sym typeface="Century Gothic"/>
            </a:endParaRPr>
          </a:p>
          <a:p>
            <a:pPr indent="-330200" lvl="0" marL="457200" rtl="0" algn="l">
              <a:lnSpc>
                <a:spcPct val="120000"/>
              </a:lnSpc>
              <a:spcBef>
                <a:spcPts val="0"/>
              </a:spcBef>
              <a:spcAft>
                <a:spcPts val="0"/>
              </a:spcAft>
              <a:buClr>
                <a:schemeClr val="lt1"/>
              </a:buClr>
              <a:buSzPts val="1600"/>
              <a:buFont typeface="Century Gothic"/>
              <a:buChar char="-"/>
            </a:pPr>
            <a:r>
              <a:rPr lang="ru" sz="1600">
                <a:solidFill>
                  <a:schemeClr val="lt1"/>
                </a:solidFill>
                <a:latin typeface="Century Gothic"/>
                <a:ea typeface="Century Gothic"/>
                <a:cs typeface="Century Gothic"/>
                <a:sym typeface="Century Gothic"/>
              </a:rPr>
              <a:t>команды безусловного перехода (</a:t>
            </a:r>
            <a:r>
              <a:rPr b="1" lang="ru" sz="1600">
                <a:solidFill>
                  <a:schemeClr val="lt1"/>
                </a:solidFill>
                <a:latin typeface="Century Gothic"/>
                <a:ea typeface="Century Gothic"/>
                <a:cs typeface="Century Gothic"/>
                <a:sym typeface="Century Gothic"/>
              </a:rPr>
              <a:t>JMP</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BRA</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BRN</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NOP</a:t>
            </a:r>
            <a:r>
              <a:rPr lang="ru" sz="1600">
                <a:solidFill>
                  <a:schemeClr val="lt1"/>
                </a:solidFill>
                <a:latin typeface="Century Gothic"/>
                <a:ea typeface="Century Gothic"/>
                <a:cs typeface="Century Gothic"/>
                <a:sym typeface="Century Gothic"/>
              </a:rPr>
              <a:t>)</a:t>
            </a:r>
            <a:endParaRPr sz="1600">
              <a:solidFill>
                <a:schemeClr val="lt1"/>
              </a:solidFill>
              <a:latin typeface="Century Gothic"/>
              <a:ea typeface="Century Gothic"/>
              <a:cs typeface="Century Gothic"/>
              <a:sym typeface="Century Gothic"/>
            </a:endParaRPr>
          </a:p>
          <a:p>
            <a:pPr indent="0" lvl="0" marL="457200" rtl="0" algn="l">
              <a:lnSpc>
                <a:spcPct val="120000"/>
              </a:lnSpc>
              <a:spcBef>
                <a:spcPts val="0"/>
              </a:spcBef>
              <a:spcAft>
                <a:spcPts val="0"/>
              </a:spcAft>
              <a:buNone/>
            </a:pPr>
            <a:r>
              <a:t/>
            </a:r>
            <a:endParaRPr sz="1600">
              <a:solidFill>
                <a:schemeClr val="lt1"/>
              </a:solidFill>
              <a:latin typeface="Century Gothic"/>
              <a:ea typeface="Century Gothic"/>
              <a:cs typeface="Century Gothic"/>
              <a:sym typeface="Century Gothic"/>
            </a:endParaRPr>
          </a:p>
          <a:p>
            <a:pPr indent="-330200" lvl="0" marL="457200" rtl="0" algn="l">
              <a:lnSpc>
                <a:spcPct val="120000"/>
              </a:lnSpc>
              <a:spcBef>
                <a:spcPts val="0"/>
              </a:spcBef>
              <a:spcAft>
                <a:spcPts val="0"/>
              </a:spcAft>
              <a:buClr>
                <a:schemeClr val="lt1"/>
              </a:buClr>
              <a:buSzPts val="1600"/>
              <a:buFont typeface="Century Gothic"/>
              <a:buChar char="-"/>
            </a:pPr>
            <a:r>
              <a:rPr lang="ru" sz="1600">
                <a:solidFill>
                  <a:schemeClr val="lt1"/>
                </a:solidFill>
                <a:latin typeface="Century Gothic"/>
                <a:ea typeface="Century Gothic"/>
                <a:cs typeface="Century Gothic"/>
                <a:sym typeface="Century Gothic"/>
              </a:rPr>
              <a:t>команды работы с подпрограммами (</a:t>
            </a:r>
            <a:r>
              <a:rPr b="1" lang="ru" sz="1600">
                <a:solidFill>
                  <a:schemeClr val="lt1"/>
                </a:solidFill>
                <a:latin typeface="Century Gothic"/>
                <a:ea typeface="Century Gothic"/>
                <a:cs typeface="Century Gothic"/>
                <a:sym typeface="Century Gothic"/>
              </a:rPr>
              <a:t>JSR</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BSR</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RTS</a:t>
            </a:r>
            <a:r>
              <a:rPr lang="ru" sz="1600">
                <a:solidFill>
                  <a:schemeClr val="lt1"/>
                </a:solidFill>
                <a:latin typeface="Century Gothic"/>
                <a:ea typeface="Century Gothic"/>
                <a:cs typeface="Century Gothic"/>
                <a:sym typeface="Century Gothic"/>
              </a:rPr>
              <a:t>)</a:t>
            </a:r>
            <a:endParaRPr sz="1600">
              <a:solidFill>
                <a:schemeClr val="lt1"/>
              </a:solidFill>
              <a:latin typeface="Century Gothic"/>
              <a:ea typeface="Century Gothic"/>
              <a:cs typeface="Century Gothic"/>
              <a:sym typeface="Century Gothic"/>
            </a:endParaRPr>
          </a:p>
          <a:p>
            <a:pPr indent="0" lvl="0" marL="457200" rtl="0" algn="l">
              <a:lnSpc>
                <a:spcPct val="120000"/>
              </a:lnSpc>
              <a:spcBef>
                <a:spcPts val="0"/>
              </a:spcBef>
              <a:spcAft>
                <a:spcPts val="0"/>
              </a:spcAft>
              <a:buNone/>
            </a:pPr>
            <a:r>
              <a:t/>
            </a:r>
            <a:endParaRPr sz="1600">
              <a:solidFill>
                <a:schemeClr val="lt1"/>
              </a:solidFill>
              <a:latin typeface="Century Gothic"/>
              <a:ea typeface="Century Gothic"/>
              <a:cs typeface="Century Gothic"/>
              <a:sym typeface="Century Gothic"/>
            </a:endParaRPr>
          </a:p>
          <a:p>
            <a:pPr indent="-330200" lvl="0" marL="457200" rtl="0" algn="l">
              <a:lnSpc>
                <a:spcPct val="120000"/>
              </a:lnSpc>
              <a:spcBef>
                <a:spcPts val="0"/>
              </a:spcBef>
              <a:spcAft>
                <a:spcPts val="0"/>
              </a:spcAft>
              <a:buClr>
                <a:schemeClr val="lt1"/>
              </a:buClr>
              <a:buSzPts val="1600"/>
              <a:buFont typeface="Century Gothic"/>
              <a:buChar char="-"/>
            </a:pPr>
            <a:r>
              <a:rPr lang="ru" sz="1600">
                <a:solidFill>
                  <a:schemeClr val="lt1"/>
                </a:solidFill>
                <a:latin typeface="Century Gothic"/>
                <a:ea typeface="Century Gothic"/>
                <a:cs typeface="Century Gothic"/>
                <a:sym typeface="Century Gothic"/>
              </a:rPr>
              <a:t>команды условного перехода (</a:t>
            </a:r>
            <a:r>
              <a:rPr b="1" lang="ru" sz="1600">
                <a:solidFill>
                  <a:schemeClr val="lt1"/>
                </a:solidFill>
                <a:latin typeface="Century Gothic"/>
                <a:ea typeface="Century Gothic"/>
                <a:cs typeface="Century Gothic"/>
                <a:sym typeface="Century Gothic"/>
              </a:rPr>
              <a:t>BEQ</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BNE</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BMI</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BPL</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BCS</a:t>
            </a:r>
            <a:r>
              <a:rPr lang="ru" sz="1600">
                <a:solidFill>
                  <a:schemeClr val="lt1"/>
                </a:solidFill>
                <a:latin typeface="Century Gothic"/>
                <a:ea typeface="Century Gothic"/>
                <a:cs typeface="Century Gothic"/>
                <a:sym typeface="Century Gothic"/>
              </a:rPr>
              <a:t>/</a:t>
            </a:r>
            <a:r>
              <a:rPr b="1" lang="ru" sz="1600">
                <a:solidFill>
                  <a:schemeClr val="lt1"/>
                </a:solidFill>
                <a:latin typeface="Century Gothic"/>
                <a:ea typeface="Century Gothic"/>
                <a:cs typeface="Century Gothic"/>
                <a:sym typeface="Century Gothic"/>
              </a:rPr>
              <a:t>BLO</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BCC</a:t>
            </a:r>
            <a:r>
              <a:rPr lang="ru" sz="1600">
                <a:solidFill>
                  <a:schemeClr val="lt1"/>
                </a:solidFill>
                <a:latin typeface="Century Gothic"/>
                <a:ea typeface="Century Gothic"/>
                <a:cs typeface="Century Gothic"/>
                <a:sym typeface="Century Gothic"/>
              </a:rPr>
              <a:t>/</a:t>
            </a:r>
            <a:r>
              <a:rPr b="1" lang="ru" sz="1600">
                <a:solidFill>
                  <a:schemeClr val="lt1"/>
                </a:solidFill>
                <a:latin typeface="Century Gothic"/>
                <a:ea typeface="Century Gothic"/>
                <a:cs typeface="Century Gothic"/>
                <a:sym typeface="Century Gothic"/>
              </a:rPr>
              <a:t>BHS</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BVS</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BVC</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ВGТ</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BGE</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BLT</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BLE</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BLS</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BHI</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BRSET</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BRCLR</a:t>
            </a:r>
            <a:r>
              <a:rPr lang="ru" sz="1600">
                <a:solidFill>
                  <a:schemeClr val="lt1"/>
                </a:solidFill>
                <a:latin typeface="Century Gothic"/>
                <a:ea typeface="Century Gothic"/>
                <a:cs typeface="Century Gothic"/>
                <a:sym typeface="Century Gothic"/>
              </a:rPr>
              <a:t>)</a:t>
            </a:r>
            <a:endParaRPr sz="1600">
              <a:solidFill>
                <a:schemeClr val="lt1"/>
              </a:solidFill>
              <a:latin typeface="Century Gothic"/>
              <a:ea typeface="Century Gothic"/>
              <a:cs typeface="Century Gothic"/>
              <a:sym typeface="Century Gothic"/>
            </a:endParaRPr>
          </a:p>
          <a:p>
            <a:pPr indent="0" lvl="0" marL="457200" rtl="0" algn="l">
              <a:lnSpc>
                <a:spcPct val="120000"/>
              </a:lnSpc>
              <a:spcBef>
                <a:spcPts val="0"/>
              </a:spcBef>
              <a:spcAft>
                <a:spcPts val="0"/>
              </a:spcAft>
              <a:buNone/>
            </a:pPr>
            <a:r>
              <a:t/>
            </a:r>
            <a:endParaRPr sz="1600">
              <a:solidFill>
                <a:schemeClr val="lt1"/>
              </a:solidFill>
              <a:latin typeface="Century Gothic"/>
              <a:ea typeface="Century Gothic"/>
              <a:cs typeface="Century Gothic"/>
              <a:sym typeface="Century Gothic"/>
            </a:endParaRPr>
          </a:p>
          <a:p>
            <a:pPr indent="-330200" lvl="0" marL="457200" rtl="0" algn="l">
              <a:lnSpc>
                <a:spcPct val="120000"/>
              </a:lnSpc>
              <a:spcBef>
                <a:spcPts val="0"/>
              </a:spcBef>
              <a:spcAft>
                <a:spcPts val="0"/>
              </a:spcAft>
              <a:buClr>
                <a:schemeClr val="lt1"/>
              </a:buClr>
              <a:buSzPts val="1600"/>
              <a:buFont typeface="Century Gothic"/>
              <a:buChar char="-"/>
            </a:pPr>
            <a:r>
              <a:rPr lang="ru" sz="1600">
                <a:solidFill>
                  <a:schemeClr val="lt1"/>
                </a:solidFill>
                <a:latin typeface="Century Gothic"/>
                <a:ea typeface="Century Gothic"/>
                <a:cs typeface="Century Gothic"/>
                <a:sym typeface="Century Gothic"/>
              </a:rPr>
              <a:t>команды работы с прерываниями (</a:t>
            </a:r>
            <a:r>
              <a:rPr b="1" lang="ru" sz="1600">
                <a:solidFill>
                  <a:schemeClr val="lt1"/>
                </a:solidFill>
                <a:latin typeface="Century Gothic"/>
                <a:ea typeface="Century Gothic"/>
                <a:cs typeface="Century Gothic"/>
                <a:sym typeface="Century Gothic"/>
              </a:rPr>
              <a:t>SWI</a:t>
            </a:r>
            <a:r>
              <a:rPr lang="ru" sz="1600">
                <a:solidFill>
                  <a:schemeClr val="lt1"/>
                </a:solidFill>
                <a:latin typeface="Century Gothic"/>
                <a:ea typeface="Century Gothic"/>
                <a:cs typeface="Century Gothic"/>
                <a:sym typeface="Century Gothic"/>
              </a:rPr>
              <a:t>, </a:t>
            </a:r>
            <a:r>
              <a:rPr b="1" lang="ru" sz="1600">
                <a:solidFill>
                  <a:schemeClr val="lt1"/>
                </a:solidFill>
                <a:latin typeface="Century Gothic"/>
                <a:ea typeface="Century Gothic"/>
                <a:cs typeface="Century Gothic"/>
                <a:sym typeface="Century Gothic"/>
              </a:rPr>
              <a:t>RTI</a:t>
            </a:r>
            <a:r>
              <a:rPr lang="ru" sz="1600">
                <a:solidFill>
                  <a:schemeClr val="lt1"/>
                </a:solidFill>
                <a:latin typeface="Century Gothic"/>
                <a:ea typeface="Century Gothic"/>
                <a:cs typeface="Century Gothic"/>
                <a:sym typeface="Century Gothic"/>
              </a:rPr>
              <a:t>)</a:t>
            </a:r>
            <a:endParaRPr sz="160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Команды безусловного перехода </a:t>
            </a:r>
            <a:endParaRPr b="1" sz="2650"/>
          </a:p>
        </p:txBody>
      </p:sp>
      <p:sp>
        <p:nvSpPr>
          <p:cNvPr id="167" name="Google Shape;167;p22"/>
          <p:cNvSpPr txBox="1"/>
          <p:nvPr>
            <p:ph idx="1" type="body"/>
          </p:nvPr>
        </p:nvSpPr>
        <p:spPr>
          <a:xfrm>
            <a:off x="311700" y="1017725"/>
            <a:ext cx="8357100" cy="42531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ru" sz="1600"/>
              <a:t>Безусловные переходы</a:t>
            </a:r>
            <a:r>
              <a:rPr lang="ru"/>
              <a:t> позволяют программе продолжить исполнение с другой</a:t>
            </a:r>
            <a:endParaRPr/>
          </a:p>
          <a:p>
            <a:pPr indent="0" lvl="0" marL="0" rtl="0" algn="l">
              <a:spcBef>
                <a:spcPts val="800"/>
              </a:spcBef>
              <a:spcAft>
                <a:spcPts val="0"/>
              </a:spcAft>
              <a:buNone/>
            </a:pPr>
            <a:r>
              <a:rPr lang="ru"/>
              <a:t>точки в коде без проверки условий.</a:t>
            </a:r>
            <a:br>
              <a:rPr lang="ru"/>
            </a:br>
            <a:br>
              <a:rPr lang="ru"/>
            </a:br>
            <a:endParaRPr/>
          </a:p>
          <a:p>
            <a:pPr indent="0" lvl="0" marL="0" rtl="0" algn="l">
              <a:spcBef>
                <a:spcPts val="800"/>
              </a:spcBef>
              <a:spcAft>
                <a:spcPts val="0"/>
              </a:spcAft>
              <a:buNone/>
            </a:pPr>
            <a:r>
              <a:t/>
            </a:r>
            <a:endParaRPr b="1"/>
          </a:p>
          <a:p>
            <a:pPr indent="0" lvl="0" marL="0" rtl="0" algn="l">
              <a:spcBef>
                <a:spcPts val="800"/>
              </a:spcBef>
              <a:spcAft>
                <a:spcPts val="0"/>
              </a:spcAft>
              <a:buNone/>
            </a:pPr>
            <a:r>
              <a:t/>
            </a:r>
            <a:endParaRPr b="1"/>
          </a:p>
          <a:p>
            <a:pPr indent="0" lvl="0" marL="0" rtl="0" algn="l">
              <a:spcBef>
                <a:spcPts val="800"/>
              </a:spcBef>
              <a:spcAft>
                <a:spcPts val="0"/>
              </a:spcAft>
              <a:buNone/>
            </a:pPr>
            <a:r>
              <a:rPr b="1" lang="ru"/>
              <a:t>JMP</a:t>
            </a:r>
            <a:r>
              <a:rPr lang="ru"/>
              <a:t> (Jump) - Происходит переход к инструкции, хранящейся по эффективному</a:t>
            </a:r>
            <a:endParaRPr/>
          </a:p>
          <a:p>
            <a:pPr indent="0" lvl="0" marL="0" rtl="0" algn="l">
              <a:spcBef>
                <a:spcPts val="800"/>
              </a:spcBef>
              <a:spcAft>
                <a:spcPts val="0"/>
              </a:spcAft>
              <a:buNone/>
            </a:pPr>
            <a:r>
              <a:rPr lang="ru"/>
              <a:t>адресу. Эффективный адрес получается в соответствии с правилами для </a:t>
            </a:r>
            <a:r>
              <a:rPr b="1" lang="ru"/>
              <a:t>EXT</a:t>
            </a:r>
            <a:r>
              <a:rPr lang="ru"/>
              <a:t>ended </a:t>
            </a:r>
            <a:endParaRPr/>
          </a:p>
          <a:p>
            <a:pPr indent="0" lvl="0" marL="0" rtl="0" algn="l">
              <a:spcBef>
                <a:spcPts val="800"/>
              </a:spcBef>
              <a:spcAft>
                <a:spcPts val="0"/>
              </a:spcAft>
              <a:buNone/>
            </a:pPr>
            <a:r>
              <a:rPr lang="ru"/>
              <a:t>(расширенная) или </a:t>
            </a:r>
            <a:r>
              <a:rPr b="1" lang="ru"/>
              <a:t>IND</a:t>
            </a:r>
            <a:r>
              <a:rPr lang="ru"/>
              <a:t>exed (индексная) адресации.</a:t>
            </a:r>
            <a:endParaRPr/>
          </a:p>
        </p:txBody>
      </p:sp>
      <p:sp>
        <p:nvSpPr>
          <p:cNvPr id="168" name="Google Shape;168;p22"/>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
        <p:nvSpPr>
          <p:cNvPr id="169" name="Google Shape;169;p22"/>
          <p:cNvSpPr txBox="1"/>
          <p:nvPr/>
        </p:nvSpPr>
        <p:spPr>
          <a:xfrm>
            <a:off x="4883875" y="2120875"/>
            <a:ext cx="37146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lt1"/>
              </a:buClr>
              <a:buSzPts val="1500"/>
              <a:buFont typeface="Century Gothic"/>
              <a:buChar char="-"/>
            </a:pPr>
            <a:r>
              <a:rPr lang="ru" sz="1500">
                <a:solidFill>
                  <a:schemeClr val="lt1"/>
                </a:solidFill>
                <a:latin typeface="Century Gothic"/>
                <a:ea typeface="Century Gothic"/>
                <a:cs typeface="Century Gothic"/>
                <a:sym typeface="Century Gothic"/>
              </a:rPr>
              <a:t>не затрагиваются</a:t>
            </a:r>
            <a:endParaRPr sz="1500">
              <a:solidFill>
                <a:schemeClr val="lt1"/>
              </a:solidFill>
              <a:latin typeface="Century Gothic"/>
              <a:ea typeface="Century Gothic"/>
              <a:cs typeface="Century Gothic"/>
              <a:sym typeface="Century Gothic"/>
            </a:endParaRPr>
          </a:p>
        </p:txBody>
      </p:sp>
      <p:graphicFrame>
        <p:nvGraphicFramePr>
          <p:cNvPr id="170" name="Google Shape;170;p22"/>
          <p:cNvGraphicFramePr/>
          <p:nvPr/>
        </p:nvGraphicFramePr>
        <p:xfrm>
          <a:off x="400313" y="3951575"/>
          <a:ext cx="3000000" cy="3000000"/>
        </p:xfrm>
        <a:graphic>
          <a:graphicData uri="http://schemas.openxmlformats.org/drawingml/2006/table">
            <a:tbl>
              <a:tblPr>
                <a:noFill/>
                <a:tableStyleId>{3CDD9ACC-51E4-4121-A8ED-26EB5A1B6551}</a:tableStyleId>
              </a:tblPr>
              <a:tblGrid>
                <a:gridCol w="1089875"/>
                <a:gridCol w="1089875"/>
                <a:gridCol w="1089875"/>
                <a:gridCol w="1089875"/>
                <a:gridCol w="1089875"/>
                <a:gridCol w="1089875"/>
                <a:gridCol w="108987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EXT</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INH</a:t>
                      </a:r>
                      <a:endParaRPr b="1"/>
                    </a:p>
                  </a:txBody>
                  <a:tcPr marT="91425" marB="91425" marR="91425" marL="91425"/>
                </a:tc>
              </a:tr>
              <a:tr h="381000">
                <a:tc>
                  <a:txBody>
                    <a:bodyPr/>
                    <a:lstStyle/>
                    <a:p>
                      <a:pPr indent="0" lvl="0" marL="0" rtl="0" algn="ctr">
                        <a:spcBef>
                          <a:spcPts val="0"/>
                        </a:spcBef>
                        <a:spcAft>
                          <a:spcPts val="0"/>
                        </a:spcAft>
                        <a:buNone/>
                      </a:pPr>
                      <a:r>
                        <a:rPr b="1" lang="ru"/>
                        <a:t>Jump</a:t>
                      </a:r>
                      <a:endParaRPr b="1"/>
                    </a:p>
                  </a:txBody>
                  <a:tcPr marT="91425" marB="91425" marR="91425" marL="91425"/>
                </a:tc>
                <a:tc>
                  <a:txBody>
                    <a:bodyPr/>
                    <a:lstStyle/>
                    <a:p>
                      <a:pPr indent="0" lvl="0" marL="0" rtl="0" algn="ctr">
                        <a:spcBef>
                          <a:spcPts val="0"/>
                        </a:spcBef>
                        <a:spcAft>
                          <a:spcPts val="0"/>
                        </a:spcAft>
                        <a:buNone/>
                      </a:pPr>
                      <a:r>
                        <a:rPr b="1" lang="ru"/>
                        <a:t>JMP</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r>
            </a:tbl>
          </a:graphicData>
        </a:graphic>
      </p:graphicFrame>
      <p:cxnSp>
        <p:nvCxnSpPr>
          <p:cNvPr id="171" name="Google Shape;171;p22"/>
          <p:cNvCxnSpPr/>
          <p:nvPr/>
        </p:nvCxnSpPr>
        <p:spPr>
          <a:xfrm>
            <a:off x="1070500" y="4824300"/>
            <a:ext cx="764400" cy="764400"/>
          </a:xfrm>
          <a:prstGeom prst="straightConnector1">
            <a:avLst/>
          </a:prstGeom>
          <a:noFill/>
          <a:ln cap="flat" cmpd="sng" w="9525">
            <a:solidFill>
              <a:schemeClr val="dk2"/>
            </a:solidFill>
            <a:prstDash val="solid"/>
            <a:round/>
            <a:headEnd len="med" w="med" type="none"/>
            <a:tailEnd len="med" w="med" type="none"/>
          </a:ln>
        </p:spPr>
      </p:cxnSp>
      <p:graphicFrame>
        <p:nvGraphicFramePr>
          <p:cNvPr id="172" name="Google Shape;172;p22"/>
          <p:cNvGraphicFramePr/>
          <p:nvPr/>
        </p:nvGraphicFramePr>
        <p:xfrm>
          <a:off x="400325" y="1797325"/>
          <a:ext cx="3000000" cy="3000000"/>
        </p:xfrm>
        <a:graphic>
          <a:graphicData uri="http://schemas.openxmlformats.org/drawingml/2006/table">
            <a:tbl>
              <a:tblPr>
                <a:noFill/>
                <a:tableStyleId>{3CDD9ACC-51E4-4121-A8ED-26EB5A1B6551}</a:tableStyleId>
              </a:tblPr>
              <a:tblGrid>
                <a:gridCol w="535125"/>
                <a:gridCol w="535125"/>
                <a:gridCol w="535125"/>
                <a:gridCol w="535125"/>
                <a:gridCol w="535125"/>
                <a:gridCol w="535125"/>
                <a:gridCol w="535125"/>
                <a:gridCol w="535125"/>
              </a:tblGrid>
              <a:tr h="177025">
                <a:tc>
                  <a:txBody>
                    <a:bodyPr/>
                    <a:lstStyle/>
                    <a:p>
                      <a:pPr indent="0" lvl="0" marL="0" rtl="0" algn="ctr">
                        <a:spcBef>
                          <a:spcPts val="0"/>
                        </a:spcBef>
                        <a:spcAft>
                          <a:spcPts val="0"/>
                        </a:spcAft>
                        <a:buNone/>
                      </a:pPr>
                      <a:r>
                        <a:rPr b="1" lang="ru"/>
                        <a:t>S</a:t>
                      </a:r>
                      <a:endParaRPr b="1"/>
                    </a:p>
                  </a:txBody>
                  <a:tcPr marT="91425" marB="91425" marR="91425" marL="91425">
                    <a:lnB cap="flat" cmpd="sng" w="530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H</a:t>
                      </a:r>
                      <a:endParaRPr b="1"/>
                    </a:p>
                  </a:txBody>
                  <a:tcPr marT="91425" marB="91425" marR="91425" marL="91425"/>
                </a:tc>
                <a:tc>
                  <a:txBody>
                    <a:bodyPr/>
                    <a:lstStyle/>
                    <a:p>
                      <a:pPr indent="0" lvl="0" marL="0" rtl="0" algn="ctr">
                        <a:spcBef>
                          <a:spcPts val="0"/>
                        </a:spcBef>
                        <a:spcAft>
                          <a:spcPts val="0"/>
                        </a:spcAft>
                        <a:buNone/>
                      </a:pPr>
                      <a:r>
                        <a:rPr b="1" lang="ru"/>
                        <a:t>I</a:t>
                      </a:r>
                      <a:endParaRPr b="1"/>
                    </a:p>
                  </a:txBody>
                  <a:tcPr marT="91425" marB="91425" marR="91425" marL="91425"/>
                </a:tc>
                <a:tc>
                  <a:txBody>
                    <a:bodyPr/>
                    <a:lstStyle/>
                    <a:p>
                      <a:pPr indent="0" lvl="0" marL="0" rtl="0" algn="ctr">
                        <a:spcBef>
                          <a:spcPts val="0"/>
                        </a:spcBef>
                        <a:spcAft>
                          <a:spcPts val="0"/>
                        </a:spcAft>
                        <a:buNone/>
                      </a:pPr>
                      <a:r>
                        <a:rPr b="1" lang="ru"/>
                        <a:t>N</a:t>
                      </a:r>
                      <a:endParaRPr b="1"/>
                    </a:p>
                  </a:txBody>
                  <a:tcPr marT="91425" marB="91425" marR="91425" marL="91425"/>
                </a:tc>
                <a:tc>
                  <a:txBody>
                    <a:bodyPr/>
                    <a:lstStyle/>
                    <a:p>
                      <a:pPr indent="0" lvl="0" marL="0" rtl="0" algn="ctr">
                        <a:spcBef>
                          <a:spcPts val="0"/>
                        </a:spcBef>
                        <a:spcAft>
                          <a:spcPts val="0"/>
                        </a:spcAft>
                        <a:buNone/>
                      </a:pPr>
                      <a:r>
                        <a:rPr b="1" lang="ru"/>
                        <a:t>Z</a:t>
                      </a:r>
                      <a:endParaRPr b="1"/>
                    </a:p>
                  </a:txBody>
                  <a:tcPr marT="91425" marB="91425" marR="91425" marL="91425"/>
                </a:tc>
                <a:tc>
                  <a:txBody>
                    <a:bodyPr/>
                    <a:lstStyle/>
                    <a:p>
                      <a:pPr indent="0" lvl="0" marL="0" rtl="0" algn="ctr">
                        <a:spcBef>
                          <a:spcPts val="0"/>
                        </a:spcBef>
                        <a:spcAft>
                          <a:spcPts val="0"/>
                        </a:spcAft>
                        <a:buNone/>
                      </a:pPr>
                      <a:r>
                        <a:rPr b="1" lang="ru"/>
                        <a:t>V</a:t>
                      </a:r>
                      <a:endParaRPr b="1"/>
                    </a:p>
                  </a:txBody>
                  <a:tcPr marT="91425" marB="91425" marR="91425" marL="91425"/>
                </a:tc>
                <a:tc>
                  <a:txBody>
                    <a:bodyPr/>
                    <a:lstStyle/>
                    <a:p>
                      <a:pPr indent="0" lvl="0" marL="0" rtl="0" algn="ctr">
                        <a:spcBef>
                          <a:spcPts val="0"/>
                        </a:spcBef>
                        <a:spcAft>
                          <a:spcPts val="0"/>
                        </a:spcAft>
                        <a:buNone/>
                      </a:pPr>
                      <a:r>
                        <a:rPr b="1" lang="ru"/>
                        <a:t>C</a:t>
                      </a:r>
                      <a:endParaRPr b="1"/>
                    </a:p>
                  </a:txBody>
                  <a:tcPr marT="91425" marB="91425" marR="91425" marL="91425"/>
                </a:tc>
              </a:tr>
              <a:tr h="170225">
                <a:tc>
                  <a:txBody>
                    <a:bodyPr/>
                    <a:lstStyle/>
                    <a:p>
                      <a:pPr indent="0" lvl="0" marL="0" rtl="0" algn="ctr">
                        <a:lnSpc>
                          <a:spcPct val="115000"/>
                        </a:lnSpc>
                        <a:spcBef>
                          <a:spcPts val="0"/>
                        </a:spcBef>
                        <a:spcAft>
                          <a:spcPts val="0"/>
                        </a:spcAft>
                        <a:buNone/>
                      </a:pPr>
                      <a:r>
                        <a:rPr b="1" lang="ru" sz="1050">
                          <a:solidFill>
                            <a:srgbClr val="333333"/>
                          </a:solidFill>
                          <a:highlight>
                            <a:srgbClr val="FFFFFF"/>
                          </a:highlight>
                        </a:rPr>
                        <a:t>—</a:t>
                      </a:r>
                      <a:endParaRPr sz="1050">
                        <a:solidFill>
                          <a:srgbClr val="333333"/>
                        </a:solidFill>
                        <a:highlight>
                          <a:srgbClr val="FFFFFF"/>
                        </a:highlight>
                      </a:endParaRPr>
                    </a:p>
                  </a:txBody>
                  <a:tcPr marT="73350" marB="60000" marR="133350" marL="133350" anchor="ctr">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2"/>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lnL cap="flat" cmpd="sng" w="5300">
                      <a:solidFill>
                        <a:schemeClr val="lt1"/>
                      </a:solidFill>
                      <a:prstDash val="solid"/>
                      <a:round/>
                      <a:headEnd len="sm" w="sm" type="none"/>
                      <a:tailEnd len="sm" w="sm" type="none"/>
                    </a:lnL>
                  </a:tcPr>
                </a:tc>
                <a:tc>
                  <a:txBody>
                    <a:bodyPr/>
                    <a:lstStyle/>
                    <a:p>
                      <a:pPr indent="0" lvl="0" marL="0" rtl="0" algn="ctr">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idx="1" type="body"/>
          </p:nvPr>
        </p:nvSpPr>
        <p:spPr>
          <a:xfrm>
            <a:off x="311700" y="270900"/>
            <a:ext cx="8520600" cy="4776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ru" sz="1400"/>
              <a:t>BRA (Rel) </a:t>
            </a:r>
            <a:r>
              <a:rPr lang="ru" sz="1400"/>
              <a:t>(Branch Always) - выполняет безусловный переход на адрес, </a:t>
            </a:r>
            <a:endParaRPr sz="1400"/>
          </a:p>
          <a:p>
            <a:pPr indent="0" lvl="0" marL="0" rtl="0" algn="l">
              <a:spcBef>
                <a:spcPts val="800"/>
              </a:spcBef>
              <a:spcAft>
                <a:spcPts val="0"/>
              </a:spcAft>
              <a:buNone/>
            </a:pPr>
            <a:r>
              <a:rPr lang="ru" sz="1400"/>
              <a:t>указанный в формуле. Относительное смещение (Rel) хранится как число </a:t>
            </a:r>
            <a:endParaRPr sz="1400"/>
          </a:p>
          <a:p>
            <a:pPr indent="0" lvl="0" marL="0" rtl="0" algn="l">
              <a:spcBef>
                <a:spcPts val="800"/>
              </a:spcBef>
              <a:spcAft>
                <a:spcPts val="0"/>
              </a:spcAft>
              <a:buNone/>
            </a:pPr>
            <a:r>
              <a:rPr lang="ru" sz="1400"/>
              <a:t>со знаком (двухбайтовое дополнение) во втором байте машинного кода, </a:t>
            </a:r>
            <a:endParaRPr sz="1400"/>
          </a:p>
          <a:p>
            <a:pPr indent="0" lvl="0" marL="0" rtl="0" algn="l">
              <a:spcBef>
                <a:spcPts val="800"/>
              </a:spcBef>
              <a:spcAft>
                <a:spcPts val="0"/>
              </a:spcAft>
              <a:buNone/>
            </a:pPr>
            <a:r>
              <a:rPr lang="ru" sz="1400"/>
              <a:t>соответствующего инструкции перехода.</a:t>
            </a:r>
            <a:endParaRPr sz="1400"/>
          </a:p>
          <a:p>
            <a:pPr indent="0" lvl="0" marL="0" rtl="0" algn="l">
              <a:spcBef>
                <a:spcPts val="800"/>
              </a:spcBef>
              <a:spcAft>
                <a:spcPts val="0"/>
              </a:spcAft>
              <a:buNone/>
            </a:pPr>
            <a:r>
              <a:t/>
            </a:r>
            <a:endParaRPr sz="1400"/>
          </a:p>
          <a:p>
            <a:pPr indent="0" lvl="0" marL="0" rtl="0" algn="l">
              <a:spcBef>
                <a:spcPts val="800"/>
              </a:spcBef>
              <a:spcAft>
                <a:spcPts val="0"/>
              </a:spcAft>
              <a:buNone/>
            </a:pPr>
            <a:r>
              <a:rPr b="1" lang="ru" sz="1400"/>
              <a:t>Relative Addressing Mode </a:t>
            </a:r>
            <a:r>
              <a:rPr lang="ru" sz="1400"/>
              <a:t>(REL) - Режим относительной адресации.</a:t>
            </a:r>
            <a:endParaRPr sz="1400"/>
          </a:p>
          <a:p>
            <a:pPr indent="0" lvl="0" marL="0" rtl="0" algn="l">
              <a:spcBef>
                <a:spcPts val="800"/>
              </a:spcBef>
              <a:spcAft>
                <a:spcPts val="0"/>
              </a:spcAft>
              <a:buNone/>
            </a:pPr>
            <a:r>
              <a:t/>
            </a:r>
            <a:endParaRPr sz="1400"/>
          </a:p>
          <a:p>
            <a:pPr indent="0" lvl="0" marL="0" rtl="0" algn="l">
              <a:spcBef>
                <a:spcPts val="800"/>
              </a:spcBef>
              <a:spcAft>
                <a:spcPts val="0"/>
              </a:spcAft>
              <a:buNone/>
            </a:pPr>
            <a:r>
              <a:rPr lang="ru" sz="1400"/>
              <a:t>Принципы работы:</a:t>
            </a:r>
            <a:endParaRPr sz="1400"/>
          </a:p>
          <a:p>
            <a:pPr indent="0" lvl="0" marL="0" rtl="0" algn="l">
              <a:spcBef>
                <a:spcPts val="800"/>
              </a:spcBef>
              <a:spcAft>
                <a:spcPts val="0"/>
              </a:spcAft>
              <a:buNone/>
            </a:pPr>
            <a:r>
              <a:rPr lang="ru" sz="1400"/>
              <a:t>В исходной программе адрес назначения для любой команды перехода указывается</a:t>
            </a:r>
            <a:endParaRPr sz="1400"/>
          </a:p>
          <a:p>
            <a:pPr indent="0" lvl="0" marL="0" rtl="0" algn="l">
              <a:spcBef>
                <a:spcPts val="800"/>
              </a:spcBef>
              <a:spcAft>
                <a:spcPts val="0"/>
              </a:spcAft>
              <a:buNone/>
            </a:pPr>
            <a:r>
              <a:rPr lang="ru" sz="1400"/>
              <a:t>абсолютным значением. Это может быть числовое значение, символ или выражение,</a:t>
            </a:r>
            <a:endParaRPr sz="1400"/>
          </a:p>
          <a:p>
            <a:pPr indent="0" lvl="0" marL="0" rtl="0" algn="l">
              <a:spcBef>
                <a:spcPts val="800"/>
              </a:spcBef>
              <a:spcAft>
                <a:spcPts val="0"/>
              </a:spcAft>
              <a:buNone/>
            </a:pPr>
            <a:r>
              <a:rPr lang="ru" sz="1400"/>
              <a:t>которое ассемблер может численно оценить.</a:t>
            </a:r>
            <a:endParaRPr sz="1400"/>
          </a:p>
          <a:p>
            <a:pPr indent="0" lvl="0" marL="0" rtl="0" algn="l">
              <a:spcBef>
                <a:spcPts val="800"/>
              </a:spcBef>
              <a:spcAft>
                <a:spcPts val="0"/>
              </a:spcAft>
              <a:buNone/>
            </a:pPr>
            <a:r>
              <a:rPr lang="ru" sz="1400"/>
              <a:t>Ассемблер вычисляет относительный адрес (</a:t>
            </a:r>
            <a:r>
              <a:rPr b="1" lang="ru" sz="1400"/>
              <a:t>Rel</a:t>
            </a:r>
            <a:r>
              <a:rPr lang="ru" sz="1400"/>
              <a:t>), используя абсолютный адрес и текущее</a:t>
            </a:r>
            <a:endParaRPr sz="1400"/>
          </a:p>
          <a:p>
            <a:pPr indent="0" lvl="0" marL="0" rtl="0" algn="l">
              <a:spcBef>
                <a:spcPts val="800"/>
              </a:spcBef>
              <a:spcAft>
                <a:spcPts val="0"/>
              </a:spcAft>
              <a:buNone/>
            </a:pPr>
            <a:r>
              <a:rPr lang="ru" sz="1400"/>
              <a:t>значение счетчика расположения.</a:t>
            </a:r>
            <a:endParaRPr sz="1400"/>
          </a:p>
          <a:p>
            <a:pPr indent="0" lvl="0" marL="0" rtl="0" algn="l">
              <a:spcBef>
                <a:spcPts val="800"/>
              </a:spcBef>
              <a:spcAft>
                <a:spcPts val="0"/>
              </a:spcAft>
              <a:buNone/>
            </a:pPr>
            <a:r>
              <a:rPr lang="ru" sz="1400"/>
              <a:t>Команда </a:t>
            </a:r>
            <a:r>
              <a:rPr b="1" lang="ru" sz="1400"/>
              <a:t>BRA</a:t>
            </a:r>
            <a:r>
              <a:rPr lang="ru" sz="1400"/>
              <a:t> используется для перехода на новый участок кода, игнорируя условия,</a:t>
            </a:r>
            <a:endParaRPr sz="1400"/>
          </a:p>
          <a:p>
            <a:pPr indent="0" lvl="0" marL="0" rtl="0" algn="l">
              <a:spcBef>
                <a:spcPts val="800"/>
              </a:spcBef>
              <a:spcAft>
                <a:spcPts val="0"/>
              </a:spcAft>
              <a:buNone/>
            </a:pPr>
            <a:r>
              <a:rPr lang="ru" sz="1400"/>
              <a:t>позволяя программе продолжить выполнение с другой точки.</a:t>
            </a:r>
            <a:endParaRPr sz="1400"/>
          </a:p>
          <a:p>
            <a:pPr indent="0" lvl="0" marL="0" rtl="0" algn="l">
              <a:spcBef>
                <a:spcPts val="800"/>
              </a:spcBef>
              <a:spcAft>
                <a:spcPts val="0"/>
              </a:spcAft>
              <a:buNone/>
            </a:pPr>
            <a:r>
              <a:t/>
            </a:r>
            <a:endParaRPr sz="1400"/>
          </a:p>
        </p:txBody>
      </p:sp>
      <p:sp>
        <p:nvSpPr>
          <p:cNvPr id="178" name="Google Shape;178;p23"/>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txBox="1"/>
          <p:nvPr>
            <p:ph idx="1" type="body"/>
          </p:nvPr>
        </p:nvSpPr>
        <p:spPr>
          <a:xfrm>
            <a:off x="311700" y="270900"/>
            <a:ext cx="8520600" cy="4991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ru" sz="1400"/>
              <a:t>BRN </a:t>
            </a:r>
            <a:r>
              <a:rPr lang="ru" sz="1400"/>
              <a:t>(Branch Never) - никогда не выполняет переход. </a:t>
            </a:r>
            <a:endParaRPr sz="1400"/>
          </a:p>
          <a:p>
            <a:pPr indent="0" lvl="0" marL="0" rtl="0" algn="l">
              <a:spcBef>
                <a:spcPts val="800"/>
              </a:spcBef>
              <a:spcAft>
                <a:spcPts val="0"/>
              </a:spcAft>
              <a:buNone/>
            </a:pPr>
            <a:r>
              <a:rPr lang="ru" sz="1400"/>
              <a:t>По сути, это инструкция,эквивалентная двухбайтовой команде </a:t>
            </a:r>
            <a:r>
              <a:rPr b="1" lang="ru" sz="1400"/>
              <a:t>NOP</a:t>
            </a:r>
            <a:r>
              <a:rPr lang="ru" sz="1400"/>
              <a:t> (no operation),</a:t>
            </a:r>
            <a:endParaRPr sz="1400"/>
          </a:p>
          <a:p>
            <a:pPr indent="0" lvl="0" marL="0" rtl="0" algn="l">
              <a:spcBef>
                <a:spcPts val="800"/>
              </a:spcBef>
              <a:spcAft>
                <a:spcPts val="0"/>
              </a:spcAft>
              <a:buNone/>
            </a:pPr>
            <a:r>
              <a:rPr lang="ru" sz="1400"/>
              <a:t>выполнение которой занимает три цикла.</a:t>
            </a:r>
            <a:endParaRPr sz="1400"/>
          </a:p>
          <a:p>
            <a:pPr indent="0" lvl="0" marL="0" rtl="0" algn="l">
              <a:spcBef>
                <a:spcPts val="800"/>
              </a:spcBef>
              <a:spcAft>
                <a:spcPts val="0"/>
              </a:spcAft>
              <a:buNone/>
            </a:pPr>
            <a:r>
              <a:t/>
            </a:r>
            <a:endParaRPr sz="1400"/>
          </a:p>
          <a:p>
            <a:pPr indent="0" lvl="0" marL="0" rtl="0" algn="l">
              <a:spcBef>
                <a:spcPts val="800"/>
              </a:spcBef>
              <a:spcAft>
                <a:spcPts val="0"/>
              </a:spcAft>
              <a:buNone/>
            </a:pPr>
            <a:r>
              <a:rPr lang="ru" sz="1400"/>
              <a:t>Принципы работы:</a:t>
            </a:r>
            <a:endParaRPr sz="1400"/>
          </a:p>
          <a:p>
            <a:pPr indent="0" lvl="0" marL="0" rtl="0" algn="l">
              <a:spcBef>
                <a:spcPts val="800"/>
              </a:spcBef>
              <a:spcAft>
                <a:spcPts val="0"/>
              </a:spcAft>
              <a:buNone/>
            </a:pPr>
            <a:r>
              <a:rPr lang="ru" sz="1400"/>
              <a:t>Команда включена в набор инструкций как дополнение к команде </a:t>
            </a:r>
            <a:r>
              <a:rPr b="1" lang="ru" sz="1400"/>
              <a:t>BRA</a:t>
            </a:r>
            <a:r>
              <a:rPr lang="ru" sz="1400"/>
              <a:t>. Полезна при</a:t>
            </a:r>
            <a:endParaRPr sz="1400"/>
          </a:p>
          <a:p>
            <a:pPr indent="0" lvl="0" marL="0" rtl="0" algn="l">
              <a:spcBef>
                <a:spcPts val="800"/>
              </a:spcBef>
              <a:spcAft>
                <a:spcPts val="0"/>
              </a:spcAft>
              <a:buNone/>
            </a:pPr>
            <a:r>
              <a:rPr lang="ru" sz="1400"/>
              <a:t>отладке программы, так как позволяет нейтрализовать эффект другой команды перехода,</a:t>
            </a:r>
            <a:endParaRPr sz="1400"/>
          </a:p>
          <a:p>
            <a:pPr indent="0" lvl="0" marL="0" rtl="0" algn="l">
              <a:spcBef>
                <a:spcPts val="800"/>
              </a:spcBef>
              <a:spcAft>
                <a:spcPts val="0"/>
              </a:spcAft>
              <a:buNone/>
            </a:pPr>
            <a:r>
              <a:rPr lang="ru" sz="1400"/>
              <a:t>не изменяя байт смещения.</a:t>
            </a:r>
            <a:endParaRPr sz="1400"/>
          </a:p>
          <a:p>
            <a:pPr indent="0" lvl="0" marL="0" rtl="0" algn="l">
              <a:spcBef>
                <a:spcPts val="800"/>
              </a:spcBef>
              <a:spcAft>
                <a:spcPts val="0"/>
              </a:spcAft>
              <a:buNone/>
            </a:pPr>
            <a:r>
              <a:t/>
            </a:r>
            <a:endParaRPr sz="1400"/>
          </a:p>
          <a:p>
            <a:pPr indent="0" lvl="0" marL="0" rtl="0" algn="l">
              <a:spcBef>
                <a:spcPts val="800"/>
              </a:spcBef>
              <a:spcAft>
                <a:spcPts val="0"/>
              </a:spcAft>
              <a:buNone/>
            </a:pPr>
            <a:r>
              <a:rPr lang="ru" sz="1400"/>
              <a:t>Наличие такой команды также полезно при реализации компиляторов. Команда </a:t>
            </a:r>
            <a:r>
              <a:rPr b="1" lang="ru" sz="1400"/>
              <a:t>BRN</a:t>
            </a:r>
            <a:r>
              <a:rPr lang="ru" sz="1400"/>
              <a:t> может</a:t>
            </a:r>
            <a:endParaRPr sz="1400"/>
          </a:p>
          <a:p>
            <a:pPr indent="0" lvl="0" marL="0" rtl="0" algn="l">
              <a:spcBef>
                <a:spcPts val="800"/>
              </a:spcBef>
              <a:spcAft>
                <a:spcPts val="0"/>
              </a:spcAft>
              <a:buNone/>
            </a:pPr>
            <a:r>
              <a:rPr lang="ru" sz="1400"/>
              <a:t>использоваться для временной деактивации переходов, что особенно удобно в процессе</a:t>
            </a:r>
            <a:endParaRPr sz="1400"/>
          </a:p>
          <a:p>
            <a:pPr indent="0" lvl="0" marL="0" rtl="0" algn="l">
              <a:spcBef>
                <a:spcPts val="800"/>
              </a:spcBef>
              <a:spcAft>
                <a:spcPts val="0"/>
              </a:spcAft>
              <a:buNone/>
            </a:pPr>
            <a:r>
              <a:rPr lang="ru" sz="1400"/>
              <a:t>разработки и тестирования программ.</a:t>
            </a:r>
            <a:endParaRPr sz="1400"/>
          </a:p>
          <a:p>
            <a:pPr indent="0" lvl="0" marL="0" rtl="0" algn="l">
              <a:spcBef>
                <a:spcPts val="800"/>
              </a:spcBef>
              <a:spcAft>
                <a:spcPts val="0"/>
              </a:spcAft>
              <a:buNone/>
            </a:pPr>
            <a:r>
              <a:t/>
            </a:r>
            <a:endParaRPr sz="1400"/>
          </a:p>
        </p:txBody>
      </p:sp>
      <p:sp>
        <p:nvSpPr>
          <p:cNvPr id="184" name="Google Shape;184;p24"/>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185" name="Google Shape;185;p24"/>
          <p:cNvGraphicFramePr/>
          <p:nvPr/>
        </p:nvGraphicFramePr>
        <p:xfrm>
          <a:off x="1354575" y="4058125"/>
          <a:ext cx="3000000" cy="3000000"/>
        </p:xfrm>
        <a:graphic>
          <a:graphicData uri="http://schemas.openxmlformats.org/drawingml/2006/table">
            <a:tbl>
              <a:tblPr>
                <a:noFill/>
                <a:tableStyleId>{3CDD9ACC-51E4-4121-A8ED-26EB5A1B6551}</a:tableStyleId>
              </a:tblPr>
              <a:tblGrid>
                <a:gridCol w="1153550"/>
                <a:gridCol w="1153550"/>
                <a:gridCol w="1153550"/>
                <a:gridCol w="1153550"/>
                <a:gridCol w="1153550"/>
                <a:gridCol w="1153550"/>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r>
              <a:tr h="381000">
                <a:tc>
                  <a:txBody>
                    <a:bodyPr/>
                    <a:lstStyle/>
                    <a:p>
                      <a:pPr indent="0" lvl="0" marL="0" rtl="0" algn="ctr">
                        <a:spcBef>
                          <a:spcPts val="0"/>
                        </a:spcBef>
                        <a:spcAft>
                          <a:spcPts val="0"/>
                        </a:spcAft>
                        <a:buNone/>
                      </a:pPr>
                      <a:r>
                        <a:rPr b="1" lang="ru"/>
                        <a:t>Branch Never</a:t>
                      </a:r>
                      <a:endParaRPr b="1"/>
                    </a:p>
                  </a:txBody>
                  <a:tcPr marT="91425" marB="91425" marR="91425" marL="91425"/>
                </a:tc>
                <a:tc>
                  <a:txBody>
                    <a:bodyPr/>
                    <a:lstStyle/>
                    <a:p>
                      <a:pPr indent="0" lvl="0" marL="0" rtl="0" algn="ctr">
                        <a:spcBef>
                          <a:spcPts val="0"/>
                        </a:spcBef>
                        <a:spcAft>
                          <a:spcPts val="0"/>
                        </a:spcAft>
                        <a:buNone/>
                      </a:pPr>
                      <a:r>
                        <a:rPr b="1" lang="ru"/>
                        <a:t>BRN</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idx="1" type="body"/>
          </p:nvPr>
        </p:nvSpPr>
        <p:spPr>
          <a:xfrm>
            <a:off x="311700" y="270900"/>
            <a:ext cx="8520600" cy="4991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ru" sz="1400"/>
              <a:t>NOP</a:t>
            </a:r>
            <a:r>
              <a:rPr b="1" lang="ru" sz="1400"/>
              <a:t> </a:t>
            </a:r>
            <a:r>
              <a:rPr lang="ru" sz="1400"/>
              <a:t>(</a:t>
            </a:r>
            <a:r>
              <a:rPr lang="ru" sz="1400"/>
              <a:t>No Operation (2-cycle delay)</a:t>
            </a:r>
            <a:r>
              <a:rPr lang="ru" sz="1400"/>
              <a:t> - </a:t>
            </a:r>
            <a:r>
              <a:rPr lang="ru" sz="1400"/>
              <a:t>используется для создания небольших </a:t>
            </a:r>
            <a:endParaRPr sz="1400"/>
          </a:p>
          <a:p>
            <a:pPr indent="0" lvl="0" marL="0" rtl="0" algn="l">
              <a:spcBef>
                <a:spcPts val="800"/>
              </a:spcBef>
              <a:spcAft>
                <a:spcPts val="0"/>
              </a:spcAft>
              <a:buNone/>
            </a:pPr>
            <a:r>
              <a:rPr lang="ru" sz="1400"/>
              <a:t>задержек в потоке программы. Она полезна для соответствия временным </a:t>
            </a:r>
            <a:endParaRPr sz="1400"/>
          </a:p>
          <a:p>
            <a:pPr indent="0" lvl="0" marL="0" rtl="0" algn="l">
              <a:spcBef>
                <a:spcPts val="800"/>
              </a:spcBef>
              <a:spcAft>
                <a:spcPts val="0"/>
              </a:spcAft>
              <a:buNone/>
            </a:pPr>
            <a:r>
              <a:rPr lang="ru" sz="1400"/>
              <a:t>требованиям медленных периферийных устройств. Включение команд </a:t>
            </a:r>
            <a:r>
              <a:rPr b="1" lang="ru"/>
              <a:t>NOP</a:t>
            </a:r>
            <a:r>
              <a:rPr lang="ru" sz="1400"/>
              <a:t> в циклы </a:t>
            </a:r>
            <a:endParaRPr sz="1400"/>
          </a:p>
          <a:p>
            <a:pPr indent="0" lvl="0" marL="0" rtl="0" algn="l">
              <a:spcBef>
                <a:spcPts val="800"/>
              </a:spcBef>
              <a:spcAft>
                <a:spcPts val="0"/>
              </a:spcAft>
              <a:buNone/>
            </a:pPr>
            <a:r>
              <a:rPr lang="ru" sz="1400"/>
              <a:t>позволяет создавать более длительные задержки. Это однобайтовая инструкция, которая</a:t>
            </a:r>
            <a:endParaRPr sz="1400"/>
          </a:p>
          <a:p>
            <a:pPr indent="0" lvl="0" marL="0" rtl="0" algn="l">
              <a:spcBef>
                <a:spcPts val="800"/>
              </a:spcBef>
              <a:spcAft>
                <a:spcPts val="0"/>
              </a:spcAft>
              <a:buNone/>
            </a:pPr>
            <a:r>
              <a:rPr lang="ru" sz="1400"/>
              <a:t>увеличивает только счетчик команд.</a:t>
            </a:r>
            <a:endParaRPr sz="1400"/>
          </a:p>
          <a:p>
            <a:pPr indent="0" lvl="0" marL="0" rtl="0" algn="l">
              <a:spcBef>
                <a:spcPts val="800"/>
              </a:spcBef>
              <a:spcAft>
                <a:spcPts val="0"/>
              </a:spcAft>
              <a:buNone/>
            </a:pPr>
            <a:r>
              <a:t/>
            </a:r>
            <a:endParaRPr sz="1400"/>
          </a:p>
          <a:p>
            <a:pPr indent="0" lvl="0" marL="0" rtl="0" algn="l">
              <a:spcBef>
                <a:spcPts val="800"/>
              </a:spcBef>
              <a:spcAft>
                <a:spcPts val="0"/>
              </a:spcAft>
              <a:buNone/>
            </a:pPr>
            <a:r>
              <a:rPr lang="ru" sz="1400"/>
              <a:t>Принципы работы:</a:t>
            </a:r>
            <a:endParaRPr sz="1400"/>
          </a:p>
          <a:p>
            <a:pPr indent="0" lvl="0" marL="0" rtl="0" algn="l">
              <a:spcBef>
                <a:spcPts val="800"/>
              </a:spcBef>
              <a:spcAft>
                <a:spcPts val="0"/>
              </a:spcAft>
              <a:buNone/>
            </a:pPr>
            <a:r>
              <a:rPr b="1" lang="ru" sz="1400"/>
              <a:t>Отладка</a:t>
            </a:r>
            <a:r>
              <a:rPr lang="ru" sz="1400"/>
              <a:t>: Часто в процессе отладки команды заменяются на </a:t>
            </a:r>
            <a:r>
              <a:rPr b="1" lang="ru" sz="1400"/>
              <a:t>NOP</a:t>
            </a:r>
            <a:r>
              <a:rPr lang="ru" sz="1400"/>
              <a:t>, чтобы эффективно</a:t>
            </a:r>
            <a:endParaRPr sz="1400"/>
          </a:p>
          <a:p>
            <a:pPr indent="0" lvl="0" marL="0" rtl="0" algn="l">
              <a:spcBef>
                <a:spcPts val="800"/>
              </a:spcBef>
              <a:spcAft>
                <a:spcPts val="0"/>
              </a:spcAft>
              <a:buNone/>
            </a:pPr>
            <a:r>
              <a:rPr lang="ru" sz="1400"/>
              <a:t>удалить ненужную инструкцию, не перестраивая остальную часть программы. С помощью</a:t>
            </a:r>
            <a:endParaRPr sz="1400"/>
          </a:p>
          <a:p>
            <a:pPr indent="0" lvl="0" marL="0" rtl="0" algn="l">
              <a:spcBef>
                <a:spcPts val="800"/>
              </a:spcBef>
              <a:spcAft>
                <a:spcPts val="0"/>
              </a:spcAft>
              <a:buNone/>
            </a:pPr>
            <a:r>
              <a:rPr lang="ru" sz="1400"/>
              <a:t>функции изменения памяти в отладчике инструкцию можно легко удалить и восстановить</a:t>
            </a:r>
            <a:endParaRPr sz="1400"/>
          </a:p>
          <a:p>
            <a:pPr indent="0" lvl="0" marL="0" rtl="0" algn="l">
              <a:spcBef>
                <a:spcPts val="800"/>
              </a:spcBef>
              <a:spcAft>
                <a:spcPts val="0"/>
              </a:spcAft>
              <a:buNone/>
            </a:pPr>
            <a:r>
              <a:rPr lang="ru" sz="1400"/>
              <a:t>для наблюдения за эффектом.</a:t>
            </a:r>
            <a:endParaRPr sz="1400"/>
          </a:p>
          <a:p>
            <a:pPr indent="0" lvl="0" marL="0" rtl="0" algn="l">
              <a:spcBef>
                <a:spcPts val="800"/>
              </a:spcBef>
              <a:spcAft>
                <a:spcPts val="0"/>
              </a:spcAft>
              <a:buNone/>
            </a:pPr>
            <a:r>
              <a:rPr b="1" lang="ru" sz="1400"/>
              <a:t>Тонкая настройка</a:t>
            </a:r>
            <a:r>
              <a:rPr lang="ru" sz="1400"/>
              <a:t>: Иногда требуется точно настроить задержки в различных ветвях</a:t>
            </a:r>
            <a:endParaRPr sz="1400"/>
          </a:p>
          <a:p>
            <a:pPr indent="0" lvl="0" marL="0" rtl="0" algn="l">
              <a:spcBef>
                <a:spcPts val="800"/>
              </a:spcBef>
              <a:spcAft>
                <a:spcPts val="0"/>
              </a:spcAft>
              <a:buNone/>
            </a:pPr>
            <a:r>
              <a:rPr lang="ru" sz="1400"/>
              <a:t>программы. В таких случаях может быть полезно использовать команду </a:t>
            </a:r>
            <a:r>
              <a:rPr b="1" lang="ru" sz="1400"/>
              <a:t>BRN</a:t>
            </a:r>
            <a:r>
              <a:rPr lang="ru" sz="1400"/>
              <a:t> как</a:t>
            </a:r>
            <a:endParaRPr sz="1400"/>
          </a:p>
          <a:p>
            <a:pPr indent="0" lvl="0" marL="0" rtl="0" algn="l">
              <a:spcBef>
                <a:spcPts val="800"/>
              </a:spcBef>
              <a:spcAft>
                <a:spcPts val="0"/>
              </a:spcAft>
              <a:buNone/>
            </a:pPr>
            <a:r>
              <a:rPr lang="ru" sz="1400"/>
              <a:t>трехцикловый </a:t>
            </a:r>
            <a:r>
              <a:rPr b="1" lang="ru" sz="1400"/>
              <a:t>NOP</a:t>
            </a:r>
            <a:r>
              <a:rPr lang="ru" sz="1400"/>
              <a:t>. Также можно использовать разные режимы адресации для изменения</a:t>
            </a:r>
            <a:endParaRPr sz="1400"/>
          </a:p>
          <a:p>
            <a:pPr indent="0" lvl="0" marL="0" rtl="0" algn="l">
              <a:spcBef>
                <a:spcPts val="800"/>
              </a:spcBef>
              <a:spcAft>
                <a:spcPts val="0"/>
              </a:spcAft>
              <a:buNone/>
            </a:pPr>
            <a:r>
              <a:rPr lang="ru" sz="1400"/>
              <a:t>времени выполнения без изменения функциональности программы.</a:t>
            </a:r>
            <a:endParaRPr sz="1400"/>
          </a:p>
        </p:txBody>
      </p:sp>
      <p:sp>
        <p:nvSpPr>
          <p:cNvPr id="191" name="Google Shape;191;p25"/>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192" name="Google Shape;192;p25"/>
          <p:cNvGraphicFramePr/>
          <p:nvPr/>
        </p:nvGraphicFramePr>
        <p:xfrm>
          <a:off x="4175175" y="1637350"/>
          <a:ext cx="3000000" cy="3000000"/>
        </p:xfrm>
        <a:graphic>
          <a:graphicData uri="http://schemas.openxmlformats.org/drawingml/2006/table">
            <a:tbl>
              <a:tblPr>
                <a:noFill/>
                <a:tableStyleId>{3CDD9ACC-51E4-4121-A8ED-26EB5A1B6551}</a:tableStyleId>
              </a:tblPr>
              <a:tblGrid>
                <a:gridCol w="1304825"/>
                <a:gridCol w="1304825"/>
                <a:gridCol w="1304825"/>
              </a:tblGrid>
              <a:tr h="359150">
                <a:tc>
                  <a:txBody>
                    <a:bodyPr/>
                    <a:lstStyle/>
                    <a:p>
                      <a:pPr indent="0" lvl="0" marL="0" rtl="0" algn="ctr">
                        <a:spcBef>
                          <a:spcPts val="0"/>
                        </a:spcBef>
                        <a:spcAft>
                          <a:spcPts val="0"/>
                        </a:spcAft>
                        <a:buNone/>
                      </a:pPr>
                      <a:r>
                        <a:rPr b="1" lang="ru" sz="1000"/>
                        <a:t>Function</a:t>
                      </a:r>
                      <a:endParaRPr b="1" sz="1000"/>
                    </a:p>
                  </a:txBody>
                  <a:tcPr marT="91425" marB="91425" marR="91425" marL="91425"/>
                </a:tc>
                <a:tc>
                  <a:txBody>
                    <a:bodyPr/>
                    <a:lstStyle/>
                    <a:p>
                      <a:pPr indent="0" lvl="0" marL="0" rtl="0" algn="ctr">
                        <a:spcBef>
                          <a:spcPts val="0"/>
                        </a:spcBef>
                        <a:spcAft>
                          <a:spcPts val="0"/>
                        </a:spcAft>
                        <a:buNone/>
                      </a:pPr>
                      <a:r>
                        <a:rPr b="1" lang="ru" sz="1000"/>
                        <a:t>Mnemonic</a:t>
                      </a:r>
                      <a:endParaRPr b="1" sz="1000"/>
                    </a:p>
                  </a:txBody>
                  <a:tcPr marT="91425" marB="91425" marR="91425" marL="91425"/>
                </a:tc>
                <a:tc>
                  <a:txBody>
                    <a:bodyPr/>
                    <a:lstStyle/>
                    <a:p>
                      <a:pPr indent="0" lvl="0" marL="0" rtl="0" algn="ctr">
                        <a:spcBef>
                          <a:spcPts val="0"/>
                        </a:spcBef>
                        <a:spcAft>
                          <a:spcPts val="0"/>
                        </a:spcAft>
                        <a:buNone/>
                      </a:pPr>
                      <a:r>
                        <a:rPr b="1" lang="ru" sz="1000"/>
                        <a:t>INH</a:t>
                      </a:r>
                      <a:endParaRPr b="1" sz="1000"/>
                    </a:p>
                  </a:txBody>
                  <a:tcPr marT="91425" marB="91425" marR="91425" marL="91425"/>
                </a:tc>
              </a:tr>
              <a:tr h="382750">
                <a:tc>
                  <a:txBody>
                    <a:bodyPr/>
                    <a:lstStyle/>
                    <a:p>
                      <a:pPr indent="0" lvl="0" marL="0" rtl="0" algn="ctr">
                        <a:spcBef>
                          <a:spcPts val="0"/>
                        </a:spcBef>
                        <a:spcAft>
                          <a:spcPts val="0"/>
                        </a:spcAft>
                        <a:buNone/>
                      </a:pPr>
                      <a:r>
                        <a:rPr b="1" lang="ru" sz="1000"/>
                        <a:t>No Operation (2-cycle delay)</a:t>
                      </a:r>
                      <a:endParaRPr b="1" sz="1000"/>
                    </a:p>
                  </a:txBody>
                  <a:tcPr marT="91425" marB="91425" marR="91425" marL="91425"/>
                </a:tc>
                <a:tc>
                  <a:txBody>
                    <a:bodyPr/>
                    <a:lstStyle/>
                    <a:p>
                      <a:pPr indent="0" lvl="0" marL="0" rtl="0" algn="ctr">
                        <a:spcBef>
                          <a:spcPts val="0"/>
                        </a:spcBef>
                        <a:spcAft>
                          <a:spcPts val="0"/>
                        </a:spcAft>
                        <a:buNone/>
                      </a:pPr>
                      <a:r>
                        <a:rPr b="1" lang="ru" sz="1000"/>
                        <a:t>BRN</a:t>
                      </a:r>
                      <a:endParaRPr b="1" sz="1000"/>
                    </a:p>
                  </a:txBody>
                  <a:tcPr marT="91425" marB="91425" marR="91425" marL="91425"/>
                </a:tc>
                <a:tc>
                  <a:txBody>
                    <a:bodyPr/>
                    <a:lstStyle/>
                    <a:p>
                      <a:pPr indent="0" lvl="0" marL="0" rtl="0" algn="ctr">
                        <a:spcBef>
                          <a:spcPts val="0"/>
                        </a:spcBef>
                        <a:spcAft>
                          <a:spcPts val="0"/>
                        </a:spcAft>
                        <a:buNone/>
                      </a:pPr>
                      <a:r>
                        <a:rPr b="1" lang="ru" sz="1000"/>
                        <a:t>X</a:t>
                      </a:r>
                      <a:endParaRPr b="1" sz="1000"/>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Команды условного перехода </a:t>
            </a:r>
            <a:endParaRPr b="1" sz="2650"/>
          </a:p>
        </p:txBody>
      </p:sp>
      <p:sp>
        <p:nvSpPr>
          <p:cNvPr id="198" name="Google Shape;198;p26"/>
          <p:cNvSpPr txBox="1"/>
          <p:nvPr>
            <p:ph idx="1" type="body"/>
          </p:nvPr>
        </p:nvSpPr>
        <p:spPr>
          <a:xfrm>
            <a:off x="311700" y="1222575"/>
            <a:ext cx="8341200" cy="3434400"/>
          </a:xfrm>
          <a:prstGeom prst="rect">
            <a:avLst/>
          </a:prstGeom>
        </p:spPr>
        <p:txBody>
          <a:bodyPr anchorCtr="0" anchor="t" bIns="34275" lIns="68575" spcFirstLastPara="1" rIns="68575" wrap="square" tIns="34275">
            <a:normAutofit lnSpcReduction="10000"/>
          </a:bodyPr>
          <a:lstStyle/>
          <a:p>
            <a:pPr indent="0" lvl="0" marL="0" rtl="0" algn="l">
              <a:spcBef>
                <a:spcPts val="800"/>
              </a:spcBef>
              <a:spcAft>
                <a:spcPts val="0"/>
              </a:spcAft>
              <a:buNone/>
            </a:pPr>
            <a:r>
              <a:rPr lang="ru"/>
              <a:t>Команды условного перехода изменяют последовательность выполнения</a:t>
            </a:r>
            <a:endParaRPr/>
          </a:p>
          <a:p>
            <a:pPr indent="0" lvl="0" marL="0" rtl="0" algn="l">
              <a:spcBef>
                <a:spcPts val="800"/>
              </a:spcBef>
              <a:spcAft>
                <a:spcPts val="0"/>
              </a:spcAft>
              <a:buNone/>
            </a:pPr>
            <a:r>
              <a:rPr lang="ru"/>
              <a:t>программы на основе состояния флагов процессора. Они позволяют</a:t>
            </a:r>
            <a:endParaRPr/>
          </a:p>
          <a:p>
            <a:pPr indent="0" lvl="0" marL="0" rtl="0" algn="l">
              <a:spcBef>
                <a:spcPts val="800"/>
              </a:spcBef>
              <a:spcAft>
                <a:spcPts val="0"/>
              </a:spcAft>
              <a:buNone/>
            </a:pPr>
            <a:r>
              <a:rPr lang="ru"/>
              <a:t>программам реагировать на различные условия, такие как равенство, большее или</a:t>
            </a:r>
            <a:endParaRPr/>
          </a:p>
          <a:p>
            <a:pPr indent="0" lvl="0" marL="0" rtl="0" algn="l">
              <a:spcBef>
                <a:spcPts val="800"/>
              </a:spcBef>
              <a:spcAft>
                <a:spcPts val="0"/>
              </a:spcAft>
              <a:buNone/>
            </a:pPr>
            <a:r>
              <a:rPr lang="ru"/>
              <a:t>меньшее значение.</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Команды условного перехода широко используются в циклах, условных</a:t>
            </a:r>
            <a:endParaRPr/>
          </a:p>
          <a:p>
            <a:pPr indent="0" lvl="0" marL="0" rtl="0" algn="l">
              <a:spcBef>
                <a:spcPts val="800"/>
              </a:spcBef>
              <a:spcAft>
                <a:spcPts val="0"/>
              </a:spcAft>
              <a:buNone/>
            </a:pPr>
            <a:r>
              <a:rPr lang="ru"/>
              <a:t>конструкциях и обработке ошибок.</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Управляют логикой выполнения циклов for, while, и конструкций if-else.</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
        <p:nvSpPr>
          <p:cNvPr id="199" name="Google Shape;199;p26"/>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00" name="Google Shape;200;p26"/>
          <p:cNvGraphicFramePr/>
          <p:nvPr/>
        </p:nvGraphicFramePr>
        <p:xfrm>
          <a:off x="368475" y="4209825"/>
          <a:ext cx="3000000" cy="3000000"/>
        </p:xfrm>
        <a:graphic>
          <a:graphicData uri="http://schemas.openxmlformats.org/drawingml/2006/table">
            <a:tbl>
              <a:tblPr>
                <a:noFill/>
                <a:tableStyleId>{3CDD9ACC-51E4-4121-A8ED-26EB5A1B6551}</a:tableStyleId>
              </a:tblPr>
              <a:tblGrid>
                <a:gridCol w="535125"/>
                <a:gridCol w="535125"/>
                <a:gridCol w="535125"/>
                <a:gridCol w="535125"/>
                <a:gridCol w="535125"/>
                <a:gridCol w="535125"/>
                <a:gridCol w="535125"/>
                <a:gridCol w="535125"/>
              </a:tblGrid>
              <a:tr h="177025">
                <a:tc>
                  <a:txBody>
                    <a:bodyPr/>
                    <a:lstStyle/>
                    <a:p>
                      <a:pPr indent="0" lvl="0" marL="0" rtl="0" algn="ctr">
                        <a:spcBef>
                          <a:spcPts val="0"/>
                        </a:spcBef>
                        <a:spcAft>
                          <a:spcPts val="0"/>
                        </a:spcAft>
                        <a:buNone/>
                      </a:pPr>
                      <a:r>
                        <a:rPr b="1" lang="ru"/>
                        <a:t>S</a:t>
                      </a:r>
                      <a:endParaRPr b="1"/>
                    </a:p>
                  </a:txBody>
                  <a:tcPr marT="91425" marB="91425" marR="91425" marL="91425">
                    <a:lnB cap="flat" cmpd="sng" w="530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H</a:t>
                      </a:r>
                      <a:endParaRPr b="1"/>
                    </a:p>
                  </a:txBody>
                  <a:tcPr marT="91425" marB="91425" marR="91425" marL="91425"/>
                </a:tc>
                <a:tc>
                  <a:txBody>
                    <a:bodyPr/>
                    <a:lstStyle/>
                    <a:p>
                      <a:pPr indent="0" lvl="0" marL="0" rtl="0" algn="ctr">
                        <a:spcBef>
                          <a:spcPts val="0"/>
                        </a:spcBef>
                        <a:spcAft>
                          <a:spcPts val="0"/>
                        </a:spcAft>
                        <a:buNone/>
                      </a:pPr>
                      <a:r>
                        <a:rPr b="1" lang="ru"/>
                        <a:t>I</a:t>
                      </a:r>
                      <a:endParaRPr b="1"/>
                    </a:p>
                  </a:txBody>
                  <a:tcPr marT="91425" marB="91425" marR="91425" marL="91425"/>
                </a:tc>
                <a:tc>
                  <a:txBody>
                    <a:bodyPr/>
                    <a:lstStyle/>
                    <a:p>
                      <a:pPr indent="0" lvl="0" marL="0" rtl="0" algn="ctr">
                        <a:spcBef>
                          <a:spcPts val="0"/>
                        </a:spcBef>
                        <a:spcAft>
                          <a:spcPts val="0"/>
                        </a:spcAft>
                        <a:buNone/>
                      </a:pPr>
                      <a:r>
                        <a:rPr b="1" lang="ru"/>
                        <a:t>N</a:t>
                      </a:r>
                      <a:endParaRPr b="1"/>
                    </a:p>
                  </a:txBody>
                  <a:tcPr marT="91425" marB="91425" marR="91425" marL="91425"/>
                </a:tc>
                <a:tc>
                  <a:txBody>
                    <a:bodyPr/>
                    <a:lstStyle/>
                    <a:p>
                      <a:pPr indent="0" lvl="0" marL="0" rtl="0" algn="ctr">
                        <a:spcBef>
                          <a:spcPts val="0"/>
                        </a:spcBef>
                        <a:spcAft>
                          <a:spcPts val="0"/>
                        </a:spcAft>
                        <a:buNone/>
                      </a:pPr>
                      <a:r>
                        <a:rPr b="1" lang="ru"/>
                        <a:t>Z</a:t>
                      </a:r>
                      <a:endParaRPr b="1"/>
                    </a:p>
                  </a:txBody>
                  <a:tcPr marT="91425" marB="91425" marR="91425" marL="91425"/>
                </a:tc>
                <a:tc>
                  <a:txBody>
                    <a:bodyPr/>
                    <a:lstStyle/>
                    <a:p>
                      <a:pPr indent="0" lvl="0" marL="0" rtl="0" algn="ctr">
                        <a:spcBef>
                          <a:spcPts val="0"/>
                        </a:spcBef>
                        <a:spcAft>
                          <a:spcPts val="0"/>
                        </a:spcAft>
                        <a:buNone/>
                      </a:pPr>
                      <a:r>
                        <a:rPr b="1" lang="ru"/>
                        <a:t>V</a:t>
                      </a:r>
                      <a:endParaRPr b="1"/>
                    </a:p>
                  </a:txBody>
                  <a:tcPr marT="91425" marB="91425" marR="91425" marL="91425"/>
                </a:tc>
                <a:tc>
                  <a:txBody>
                    <a:bodyPr/>
                    <a:lstStyle/>
                    <a:p>
                      <a:pPr indent="0" lvl="0" marL="0" rtl="0" algn="ctr">
                        <a:spcBef>
                          <a:spcPts val="0"/>
                        </a:spcBef>
                        <a:spcAft>
                          <a:spcPts val="0"/>
                        </a:spcAft>
                        <a:buNone/>
                      </a:pPr>
                      <a:r>
                        <a:rPr b="1" lang="ru"/>
                        <a:t>C</a:t>
                      </a:r>
                      <a:endParaRPr b="1"/>
                    </a:p>
                  </a:txBody>
                  <a:tcPr marT="91425" marB="91425" marR="91425" marL="91425"/>
                </a:tc>
              </a:tr>
              <a:tr h="170225">
                <a:tc>
                  <a:txBody>
                    <a:bodyPr/>
                    <a:lstStyle/>
                    <a:p>
                      <a:pPr indent="0" lvl="0" marL="0" rtl="0" algn="ctr">
                        <a:lnSpc>
                          <a:spcPct val="115000"/>
                        </a:lnSpc>
                        <a:spcBef>
                          <a:spcPts val="0"/>
                        </a:spcBef>
                        <a:spcAft>
                          <a:spcPts val="0"/>
                        </a:spcAft>
                        <a:buNone/>
                      </a:pPr>
                      <a:r>
                        <a:rPr b="1" lang="ru" sz="1050">
                          <a:solidFill>
                            <a:srgbClr val="333333"/>
                          </a:solidFill>
                          <a:highlight>
                            <a:srgbClr val="FFFFFF"/>
                          </a:highlight>
                        </a:rPr>
                        <a:t>—</a:t>
                      </a:r>
                      <a:endParaRPr sz="1050">
                        <a:solidFill>
                          <a:srgbClr val="333333"/>
                        </a:solidFill>
                        <a:highlight>
                          <a:srgbClr val="FFFFFF"/>
                        </a:highlight>
                      </a:endParaRPr>
                    </a:p>
                  </a:txBody>
                  <a:tcPr marT="73350" marB="60000" marR="133350" marL="133350" anchor="ctr">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2"/>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lnL cap="flat" cmpd="sng" w="5300">
                      <a:solidFill>
                        <a:schemeClr val="lt1"/>
                      </a:solidFill>
                      <a:prstDash val="solid"/>
                      <a:round/>
                      <a:headEnd len="sm" w="sm" type="none"/>
                      <a:tailEnd len="sm" w="sm" type="none"/>
                    </a:lnL>
                  </a:tcPr>
                </a:tc>
                <a:tc>
                  <a:txBody>
                    <a:bodyPr/>
                    <a:lstStyle/>
                    <a:p>
                      <a:pPr indent="0" lvl="0" marL="0" rtl="0" algn="ctr">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c>
                  <a:txBody>
                    <a:bodyPr/>
                    <a:lstStyle/>
                    <a:p>
                      <a:pPr indent="0" lvl="0" marL="0" rtl="0" algn="ctr">
                        <a:lnSpc>
                          <a:spcPct val="115000"/>
                        </a:lnSpc>
                        <a:spcBef>
                          <a:spcPts val="0"/>
                        </a:spcBef>
                        <a:spcAft>
                          <a:spcPts val="0"/>
                        </a:spcAft>
                        <a:buNone/>
                      </a:pPr>
                      <a:r>
                        <a:rPr b="1" lang="ru" sz="1050">
                          <a:solidFill>
                            <a:srgbClr val="333333"/>
                          </a:solidFill>
                          <a:highlight>
                            <a:schemeClr val="dk1"/>
                          </a:highlight>
                        </a:rPr>
                        <a:t>—</a:t>
                      </a:r>
                      <a:endParaRPr b="1"/>
                    </a:p>
                  </a:txBody>
                  <a:tcPr marT="91425" marB="91425" marR="91425" marL="91425"/>
                </a:tc>
              </a:tr>
            </a:tbl>
          </a:graphicData>
        </a:graphic>
      </p:graphicFrame>
      <p:sp>
        <p:nvSpPr>
          <p:cNvPr id="201" name="Google Shape;201;p26"/>
          <p:cNvSpPr txBox="1"/>
          <p:nvPr/>
        </p:nvSpPr>
        <p:spPr>
          <a:xfrm>
            <a:off x="4899800" y="4533375"/>
            <a:ext cx="37146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lt1"/>
              </a:buClr>
              <a:buSzPts val="1500"/>
              <a:buFont typeface="Century Gothic"/>
              <a:buChar char="-"/>
            </a:pPr>
            <a:r>
              <a:rPr lang="ru" sz="1500">
                <a:solidFill>
                  <a:schemeClr val="lt1"/>
                </a:solidFill>
                <a:latin typeface="Century Gothic"/>
                <a:ea typeface="Century Gothic"/>
                <a:cs typeface="Century Gothic"/>
                <a:sym typeface="Century Gothic"/>
              </a:rPr>
              <a:t>не затрагиваются</a:t>
            </a:r>
            <a:endParaRPr sz="150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BEQ </a:t>
            </a:r>
            <a:r>
              <a:rPr lang="ru"/>
              <a:t>(Branch If Zero Equal) - выполняет условный переход на адрес, </a:t>
            </a:r>
            <a:endParaRPr/>
          </a:p>
          <a:p>
            <a:pPr indent="0" lvl="0" marL="0" rtl="0" algn="l">
              <a:spcBef>
                <a:spcPts val="800"/>
              </a:spcBef>
              <a:spcAft>
                <a:spcPts val="0"/>
              </a:spcAft>
              <a:buNone/>
            </a:pPr>
            <a:r>
              <a:rPr lang="ru"/>
              <a:t>указанный в формуле, если установлен флаг </a:t>
            </a:r>
            <a:r>
              <a:rPr b="1" lang="ru"/>
              <a:t>Z</a:t>
            </a:r>
            <a:r>
              <a:rPr lang="ru"/>
              <a:t> (Zero) в регистре </a:t>
            </a:r>
            <a:endParaRPr/>
          </a:p>
          <a:p>
            <a:pPr indent="0" lvl="0" marL="0" rtl="0" algn="l">
              <a:spcBef>
                <a:spcPts val="800"/>
              </a:spcBef>
              <a:spcAft>
                <a:spcPts val="0"/>
              </a:spcAft>
              <a:buNone/>
            </a:pPr>
            <a:r>
              <a:rPr b="1" lang="ru"/>
              <a:t>CCR</a:t>
            </a:r>
            <a:r>
              <a:rPr lang="ru"/>
              <a:t> (Condition Code Register). Относительное смещение (Rel) хранится как число со</a:t>
            </a:r>
            <a:endParaRPr/>
          </a:p>
          <a:p>
            <a:pPr indent="0" lvl="0" marL="0" rtl="0" algn="l">
              <a:spcBef>
                <a:spcPts val="800"/>
              </a:spcBef>
              <a:spcAft>
                <a:spcPts val="0"/>
              </a:spcAft>
              <a:buNone/>
            </a:pPr>
            <a:r>
              <a:rPr lang="ru"/>
              <a:t>знаком (двухбайтовое дополнение) во втором байте машинного кода,</a:t>
            </a:r>
            <a:endParaRPr/>
          </a:p>
          <a:p>
            <a:pPr indent="0" lvl="0" marL="0" rtl="0" algn="l">
              <a:spcBef>
                <a:spcPts val="800"/>
              </a:spcBef>
              <a:spcAft>
                <a:spcPts val="0"/>
              </a:spcAft>
              <a:buNone/>
            </a:pPr>
            <a:r>
              <a:rPr lang="ru"/>
              <a:t>соответствующего инструкции перехода. </a:t>
            </a:r>
            <a:r>
              <a:rPr b="1" lang="ru"/>
              <a:t>BEQ</a:t>
            </a:r>
            <a:r>
              <a:rPr lang="ru"/>
              <a:t> позволяет программе изменить ход</a:t>
            </a:r>
            <a:endParaRPr/>
          </a:p>
          <a:p>
            <a:pPr indent="0" lvl="0" marL="0" rtl="0" algn="l">
              <a:spcBef>
                <a:spcPts val="800"/>
              </a:spcBef>
              <a:spcAft>
                <a:spcPts val="0"/>
              </a:spcAft>
              <a:buNone/>
            </a:pPr>
            <a:r>
              <a:rPr lang="ru"/>
              <a:t>выполнения и перейти к другой части кода, если условие равно нулю, что может быть</a:t>
            </a:r>
            <a:endParaRPr/>
          </a:p>
          <a:p>
            <a:pPr indent="0" lvl="0" marL="0" rtl="0" algn="l">
              <a:spcBef>
                <a:spcPts val="800"/>
              </a:spcBef>
              <a:spcAft>
                <a:spcPts val="0"/>
              </a:spcAft>
              <a:buNone/>
            </a:pPr>
            <a:r>
              <a:rPr lang="ru"/>
              <a:t>полезно для реализации циклов и условных конструкций.</a:t>
            </a:r>
            <a:endParaRPr/>
          </a:p>
        </p:txBody>
      </p:sp>
      <p:sp>
        <p:nvSpPr>
          <p:cNvPr id="207" name="Google Shape;207;p27"/>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08" name="Google Shape;208;p27"/>
          <p:cNvGraphicFramePr/>
          <p:nvPr/>
        </p:nvGraphicFramePr>
        <p:xfrm>
          <a:off x="568525" y="3123500"/>
          <a:ext cx="3000000" cy="3000000"/>
        </p:xfrm>
        <a:graphic>
          <a:graphicData uri="http://schemas.openxmlformats.org/drawingml/2006/table">
            <a:tbl>
              <a:tblPr>
                <a:noFill/>
                <a:tableStyleId>{3CDD9ACC-51E4-4121-A8ED-26EB5A1B6551}</a:tableStyleId>
              </a:tblPr>
              <a:tblGrid>
                <a:gridCol w="1127925"/>
                <a:gridCol w="1127925"/>
                <a:gridCol w="1127925"/>
                <a:gridCol w="1127925"/>
                <a:gridCol w="1127925"/>
                <a:gridCol w="1127925"/>
                <a:gridCol w="112792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Equal Zero</a:t>
                      </a:r>
                      <a:endParaRPr b="1"/>
                    </a:p>
                  </a:txBody>
                  <a:tcPr marT="91425" marB="91425" marR="91425" marL="91425"/>
                </a:tc>
                <a:tc>
                  <a:txBody>
                    <a:bodyPr/>
                    <a:lstStyle/>
                    <a:p>
                      <a:pPr indent="0" lvl="0" marL="0" rtl="0" algn="ctr">
                        <a:spcBef>
                          <a:spcPts val="0"/>
                        </a:spcBef>
                        <a:spcAft>
                          <a:spcPts val="0"/>
                        </a:spcAft>
                        <a:buNone/>
                      </a:pPr>
                      <a:r>
                        <a:rPr b="1" lang="ru"/>
                        <a:t>BEQ</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Z = 1 ?</a:t>
                      </a:r>
                      <a:endParaRPr b="1"/>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BNE</a:t>
            </a:r>
            <a:r>
              <a:rPr b="1" lang="ru"/>
              <a:t> </a:t>
            </a:r>
            <a:r>
              <a:rPr lang="ru"/>
              <a:t>(Branch If Not Equal) - выполняет условный переход на адрес, указанный</a:t>
            </a:r>
            <a:endParaRPr/>
          </a:p>
          <a:p>
            <a:pPr indent="0" lvl="0" marL="0" rtl="0" algn="l">
              <a:spcBef>
                <a:spcPts val="800"/>
              </a:spcBef>
              <a:spcAft>
                <a:spcPts val="0"/>
              </a:spcAft>
              <a:buNone/>
            </a:pPr>
            <a:r>
              <a:rPr lang="ru"/>
              <a:t>в формуле, если флаг </a:t>
            </a:r>
            <a:r>
              <a:rPr b="1" lang="ru"/>
              <a:t>Z</a:t>
            </a:r>
            <a:r>
              <a:rPr lang="ru"/>
              <a:t> (Zero) в регистре </a:t>
            </a:r>
            <a:r>
              <a:rPr b="1" lang="ru"/>
              <a:t>CCR </a:t>
            </a:r>
            <a:r>
              <a:rPr lang="ru"/>
              <a:t>сброшен. Инструкция BNE </a:t>
            </a:r>
            <a:endParaRPr/>
          </a:p>
          <a:p>
            <a:pPr indent="0" lvl="0" marL="0" rtl="0" algn="l">
              <a:spcBef>
                <a:spcPts val="800"/>
              </a:spcBef>
              <a:spcAft>
                <a:spcPts val="0"/>
              </a:spcAft>
              <a:buNone/>
            </a:pPr>
            <a:r>
              <a:rPr lang="ru"/>
              <a:t>проверяет состояние флага Z в регистре CCR. Если флаг сброшен (Z = 0), это </a:t>
            </a:r>
            <a:endParaRPr/>
          </a:p>
          <a:p>
            <a:pPr indent="0" lvl="0" marL="0" rtl="0" algn="l">
              <a:spcBef>
                <a:spcPts val="800"/>
              </a:spcBef>
              <a:spcAft>
                <a:spcPts val="0"/>
              </a:spcAft>
              <a:buNone/>
            </a:pPr>
            <a:r>
              <a:rPr lang="ru"/>
              <a:t>означает, что результат предыдущей операции не равен нулю, и выполняется </a:t>
            </a:r>
            <a:endParaRPr/>
          </a:p>
          <a:p>
            <a:pPr indent="0" lvl="0" marL="0" rtl="0" algn="l">
              <a:spcBef>
                <a:spcPts val="800"/>
              </a:spcBef>
              <a:spcAft>
                <a:spcPts val="0"/>
              </a:spcAft>
              <a:buNone/>
            </a:pPr>
            <a:r>
              <a:rPr lang="ru"/>
              <a:t>переход.</a:t>
            </a:r>
            <a:endParaRPr/>
          </a:p>
          <a:p>
            <a:pPr indent="0" lvl="0" marL="0" rtl="0" algn="l">
              <a:spcBef>
                <a:spcPts val="800"/>
              </a:spcBef>
              <a:spcAft>
                <a:spcPts val="0"/>
              </a:spcAft>
              <a:buNone/>
            </a:pPr>
            <a:r>
              <a:t/>
            </a:r>
            <a:endParaRPr/>
          </a:p>
          <a:p>
            <a:pPr indent="0" lvl="0" marL="0" rtl="0" algn="l">
              <a:spcBef>
                <a:spcPts val="800"/>
              </a:spcBef>
              <a:spcAft>
                <a:spcPts val="0"/>
              </a:spcAft>
              <a:buNone/>
            </a:pPr>
            <a:r>
              <a:rPr b="1" lang="ru"/>
              <a:t>BNE</a:t>
            </a:r>
            <a:r>
              <a:rPr lang="ru"/>
              <a:t> позволяет программе изменить ход выполнения и перейти к другой части кода, </a:t>
            </a:r>
            <a:endParaRPr/>
          </a:p>
          <a:p>
            <a:pPr indent="0" lvl="0" marL="0" rtl="0" algn="l">
              <a:spcBef>
                <a:spcPts val="800"/>
              </a:spcBef>
              <a:spcAft>
                <a:spcPts val="0"/>
              </a:spcAft>
              <a:buNone/>
            </a:pPr>
            <a:r>
              <a:rPr lang="ru"/>
              <a:t>если результат последней операции не равен нулю.</a:t>
            </a:r>
            <a:endParaRPr/>
          </a:p>
        </p:txBody>
      </p:sp>
      <p:sp>
        <p:nvSpPr>
          <p:cNvPr id="214" name="Google Shape;214;p28"/>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15" name="Google Shape;215;p28"/>
          <p:cNvGraphicFramePr/>
          <p:nvPr/>
        </p:nvGraphicFramePr>
        <p:xfrm>
          <a:off x="568525" y="3123500"/>
          <a:ext cx="3000000" cy="3000000"/>
        </p:xfrm>
        <a:graphic>
          <a:graphicData uri="http://schemas.openxmlformats.org/drawingml/2006/table">
            <a:tbl>
              <a:tblPr>
                <a:noFill/>
                <a:tableStyleId>{3CDD9ACC-51E4-4121-A8ED-26EB5A1B6551}</a:tableStyleId>
              </a:tblPr>
              <a:tblGrid>
                <a:gridCol w="1127925"/>
                <a:gridCol w="1127925"/>
                <a:gridCol w="1127925"/>
                <a:gridCol w="1127925"/>
                <a:gridCol w="1127925"/>
                <a:gridCol w="1127925"/>
                <a:gridCol w="112792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Not Equal</a:t>
                      </a:r>
                      <a:endParaRPr b="1"/>
                    </a:p>
                  </a:txBody>
                  <a:tcPr marT="91425" marB="91425" marR="91425" marL="91425"/>
                </a:tc>
                <a:tc>
                  <a:txBody>
                    <a:bodyPr/>
                    <a:lstStyle/>
                    <a:p>
                      <a:pPr indent="0" lvl="0" marL="0" rtl="0" algn="ctr">
                        <a:spcBef>
                          <a:spcPts val="0"/>
                        </a:spcBef>
                        <a:spcAft>
                          <a:spcPts val="0"/>
                        </a:spcAft>
                        <a:buNone/>
                      </a:pPr>
                      <a:r>
                        <a:rPr b="1" lang="ru"/>
                        <a:t>BNE</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Z = 0 ?</a:t>
                      </a:r>
                      <a:endParaRPr b="1"/>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BMI</a:t>
            </a:r>
            <a:r>
              <a:rPr b="1" lang="ru"/>
              <a:t> </a:t>
            </a:r>
            <a:r>
              <a:rPr lang="ru"/>
              <a:t>(Branch if Minus) - </a:t>
            </a:r>
            <a:r>
              <a:rPr lang="ru"/>
              <a:t>выполняет условный переход на адрес, </a:t>
            </a:r>
            <a:endParaRPr/>
          </a:p>
          <a:p>
            <a:pPr indent="0" lvl="0" marL="0" rtl="0" algn="l">
              <a:spcBef>
                <a:spcPts val="800"/>
              </a:spcBef>
              <a:spcAft>
                <a:spcPts val="0"/>
              </a:spcAft>
              <a:buNone/>
            </a:pPr>
            <a:r>
              <a:rPr lang="ru"/>
              <a:t>указанный в формуле, если установлен флаг </a:t>
            </a:r>
            <a:r>
              <a:rPr b="1" lang="ru"/>
              <a:t>N</a:t>
            </a:r>
            <a:r>
              <a:rPr lang="ru"/>
              <a:t> (Negative) в регистре </a:t>
            </a:r>
            <a:r>
              <a:rPr b="1" lang="ru"/>
              <a:t>CCR</a:t>
            </a:r>
            <a:r>
              <a:rPr lang="ru"/>
              <a:t>. </a:t>
            </a:r>
            <a:endParaRPr/>
          </a:p>
          <a:p>
            <a:pPr indent="0" lvl="0" marL="0" rtl="0" algn="l">
              <a:spcBef>
                <a:spcPts val="800"/>
              </a:spcBef>
              <a:spcAft>
                <a:spcPts val="0"/>
              </a:spcAft>
              <a:buNone/>
            </a:pPr>
            <a:r>
              <a:rPr lang="ru"/>
              <a:t>Относительное смещение (</a:t>
            </a:r>
            <a:r>
              <a:rPr b="1" lang="ru"/>
              <a:t>Rel</a:t>
            </a:r>
            <a:r>
              <a:rPr lang="ru"/>
              <a:t>) хранится как число со знаком (двухбайтовое</a:t>
            </a:r>
            <a:endParaRPr/>
          </a:p>
          <a:p>
            <a:pPr indent="0" lvl="0" marL="0" rtl="0" algn="l">
              <a:spcBef>
                <a:spcPts val="800"/>
              </a:spcBef>
              <a:spcAft>
                <a:spcPts val="0"/>
              </a:spcAft>
              <a:buNone/>
            </a:pPr>
            <a:r>
              <a:rPr lang="ru"/>
              <a:t>дополнение) во втором байте машинного кода, соответствующего инструкции</a:t>
            </a:r>
            <a:endParaRPr/>
          </a:p>
          <a:p>
            <a:pPr indent="0" lvl="0" marL="0" rtl="0" algn="l">
              <a:spcBef>
                <a:spcPts val="800"/>
              </a:spcBef>
              <a:spcAft>
                <a:spcPts val="0"/>
              </a:spcAft>
              <a:buNone/>
            </a:pPr>
            <a:r>
              <a:rPr lang="ru"/>
              <a:t>перехода.</a:t>
            </a:r>
            <a:endParaRPr/>
          </a:p>
          <a:p>
            <a:pPr indent="0" lvl="0" marL="0" rtl="0" algn="l">
              <a:spcBef>
                <a:spcPts val="800"/>
              </a:spcBef>
              <a:spcAft>
                <a:spcPts val="0"/>
              </a:spcAft>
              <a:buNone/>
            </a:pPr>
            <a:r>
              <a:t/>
            </a:r>
            <a:endParaRPr/>
          </a:p>
          <a:p>
            <a:pPr indent="0" lvl="0" marL="0" rtl="0" algn="l">
              <a:spcBef>
                <a:spcPts val="800"/>
              </a:spcBef>
              <a:spcAft>
                <a:spcPts val="0"/>
              </a:spcAft>
              <a:buNone/>
            </a:pPr>
            <a:r>
              <a:rPr b="1" lang="ru"/>
              <a:t>BMI</a:t>
            </a:r>
            <a:r>
              <a:rPr lang="ru"/>
              <a:t> </a:t>
            </a:r>
            <a:r>
              <a:rPr lang="ru"/>
              <a:t>позволяет программе изменить ход выполнения и перейти к другой части кода,</a:t>
            </a:r>
            <a:endParaRPr/>
          </a:p>
          <a:p>
            <a:pPr indent="0" lvl="0" marL="0" rtl="0" algn="l">
              <a:spcBef>
                <a:spcPts val="800"/>
              </a:spcBef>
              <a:spcAft>
                <a:spcPts val="0"/>
              </a:spcAft>
              <a:buNone/>
            </a:pPr>
            <a:r>
              <a:rPr lang="ru"/>
              <a:t>если результат последней операции был отрицательным.</a:t>
            </a:r>
            <a:r>
              <a:rPr lang="ru"/>
              <a:t>.</a:t>
            </a:r>
            <a:endParaRPr/>
          </a:p>
        </p:txBody>
      </p:sp>
      <p:sp>
        <p:nvSpPr>
          <p:cNvPr id="221" name="Google Shape;221;p29"/>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22" name="Google Shape;222;p29"/>
          <p:cNvGraphicFramePr/>
          <p:nvPr/>
        </p:nvGraphicFramePr>
        <p:xfrm>
          <a:off x="568525" y="3123500"/>
          <a:ext cx="3000000" cy="3000000"/>
        </p:xfrm>
        <a:graphic>
          <a:graphicData uri="http://schemas.openxmlformats.org/drawingml/2006/table">
            <a:tbl>
              <a:tblPr>
                <a:noFill/>
                <a:tableStyleId>{3CDD9ACC-51E4-4121-A8ED-26EB5A1B6551}</a:tableStyleId>
              </a:tblPr>
              <a:tblGrid>
                <a:gridCol w="1127925"/>
                <a:gridCol w="1127925"/>
                <a:gridCol w="1127925"/>
                <a:gridCol w="1127925"/>
                <a:gridCol w="1127925"/>
                <a:gridCol w="1127925"/>
                <a:gridCol w="112792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Minus</a:t>
                      </a:r>
                      <a:endParaRPr b="1"/>
                    </a:p>
                  </a:txBody>
                  <a:tcPr marT="91425" marB="91425" marR="91425" marL="91425"/>
                </a:tc>
                <a:tc>
                  <a:txBody>
                    <a:bodyPr/>
                    <a:lstStyle/>
                    <a:p>
                      <a:pPr indent="0" lvl="0" marL="0" rtl="0" algn="ctr">
                        <a:spcBef>
                          <a:spcPts val="0"/>
                        </a:spcBef>
                        <a:spcAft>
                          <a:spcPts val="0"/>
                        </a:spcAft>
                        <a:buNone/>
                      </a:pPr>
                      <a:r>
                        <a:rPr b="1" lang="ru"/>
                        <a:t>BMI</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N</a:t>
                      </a:r>
                      <a:r>
                        <a:rPr b="1" lang="ru"/>
                        <a:t> = 1 ?</a:t>
                      </a:r>
                      <a:endParaRPr b="1"/>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BPL</a:t>
            </a:r>
            <a:r>
              <a:rPr b="1" lang="ru"/>
              <a:t> </a:t>
            </a:r>
            <a:r>
              <a:rPr lang="ru"/>
              <a:t>(Branch if Plus) - аналогично </a:t>
            </a:r>
            <a:r>
              <a:rPr b="1" lang="ru"/>
              <a:t>BMI</a:t>
            </a:r>
            <a:r>
              <a:rPr lang="ru"/>
              <a:t>, но выполняет условный переход на </a:t>
            </a:r>
            <a:endParaRPr/>
          </a:p>
          <a:p>
            <a:pPr indent="0" lvl="0" marL="0" rtl="0" algn="l">
              <a:spcBef>
                <a:spcPts val="800"/>
              </a:spcBef>
              <a:spcAft>
                <a:spcPts val="0"/>
              </a:spcAft>
              <a:buNone/>
            </a:pPr>
            <a:r>
              <a:rPr lang="ru"/>
              <a:t>адрес, указанный в формуле, если </a:t>
            </a:r>
            <a:r>
              <a:rPr b="1" lang="ru"/>
              <a:t>НЕ</a:t>
            </a:r>
            <a:r>
              <a:rPr lang="ru"/>
              <a:t> установлен флаг </a:t>
            </a:r>
            <a:r>
              <a:rPr b="1" lang="ru"/>
              <a:t>N</a:t>
            </a:r>
            <a:r>
              <a:rPr lang="ru"/>
              <a:t> (Negative) в </a:t>
            </a:r>
            <a:endParaRPr/>
          </a:p>
          <a:p>
            <a:pPr indent="0" lvl="0" marL="0" rtl="0" algn="l">
              <a:spcBef>
                <a:spcPts val="800"/>
              </a:spcBef>
              <a:spcAft>
                <a:spcPts val="0"/>
              </a:spcAft>
              <a:buNone/>
            </a:pPr>
            <a:r>
              <a:rPr lang="ru"/>
              <a:t>регистре </a:t>
            </a:r>
            <a:r>
              <a:rPr b="1" lang="ru"/>
              <a:t>CCR</a:t>
            </a:r>
            <a:r>
              <a:rPr lang="ru"/>
              <a:t>. </a:t>
            </a:r>
            <a:endParaRPr/>
          </a:p>
        </p:txBody>
      </p:sp>
      <p:sp>
        <p:nvSpPr>
          <p:cNvPr id="228" name="Google Shape;228;p30"/>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29" name="Google Shape;229;p30"/>
          <p:cNvGraphicFramePr/>
          <p:nvPr/>
        </p:nvGraphicFramePr>
        <p:xfrm>
          <a:off x="576500" y="1881400"/>
          <a:ext cx="3000000" cy="3000000"/>
        </p:xfrm>
        <a:graphic>
          <a:graphicData uri="http://schemas.openxmlformats.org/drawingml/2006/table">
            <a:tbl>
              <a:tblPr>
                <a:noFill/>
                <a:tableStyleId>{3CDD9ACC-51E4-4121-A8ED-26EB5A1B6551}</a:tableStyleId>
              </a:tblPr>
              <a:tblGrid>
                <a:gridCol w="1127925"/>
                <a:gridCol w="1127925"/>
                <a:gridCol w="1127925"/>
                <a:gridCol w="1127925"/>
                <a:gridCol w="1127925"/>
                <a:gridCol w="1127925"/>
                <a:gridCol w="112792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Plus</a:t>
                      </a:r>
                      <a:endParaRPr b="1"/>
                    </a:p>
                  </a:txBody>
                  <a:tcPr marT="91425" marB="91425" marR="91425" marL="91425"/>
                </a:tc>
                <a:tc>
                  <a:txBody>
                    <a:bodyPr/>
                    <a:lstStyle/>
                    <a:p>
                      <a:pPr indent="0" lvl="0" marL="0" rtl="0" algn="ctr">
                        <a:spcBef>
                          <a:spcPts val="0"/>
                        </a:spcBef>
                        <a:spcAft>
                          <a:spcPts val="0"/>
                        </a:spcAft>
                        <a:buNone/>
                      </a:pPr>
                      <a:r>
                        <a:rPr b="1" lang="ru"/>
                        <a:t>BMI</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N = 0 ?</a:t>
                      </a:r>
                      <a:endParaRPr b="1"/>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BCS / BLO </a:t>
            </a:r>
            <a:r>
              <a:rPr lang="ru"/>
              <a:t>(Branch if Carry Set / Branch if Lower) - выполняет условный переход </a:t>
            </a:r>
            <a:endParaRPr/>
          </a:p>
          <a:p>
            <a:pPr indent="0" lvl="0" marL="0" rtl="0" algn="l">
              <a:spcBef>
                <a:spcPts val="800"/>
              </a:spcBef>
              <a:spcAft>
                <a:spcPts val="0"/>
              </a:spcAft>
              <a:buNone/>
            </a:pPr>
            <a:r>
              <a:rPr lang="ru"/>
              <a:t>на адрес, указанный в формуле, если установлен флаг </a:t>
            </a:r>
            <a:r>
              <a:rPr b="1" lang="ru"/>
              <a:t>C</a:t>
            </a:r>
            <a:r>
              <a:rPr lang="ru"/>
              <a:t> (Carry) </a:t>
            </a:r>
            <a:endParaRPr/>
          </a:p>
          <a:p>
            <a:pPr indent="0" lvl="0" marL="0" rtl="0" algn="l">
              <a:spcBef>
                <a:spcPts val="800"/>
              </a:spcBef>
              <a:spcAft>
                <a:spcPts val="0"/>
              </a:spcAft>
              <a:buNone/>
            </a:pPr>
            <a:r>
              <a:rPr lang="ru"/>
              <a:t>в регистре </a:t>
            </a:r>
            <a:r>
              <a:rPr b="1" lang="ru"/>
              <a:t>CCR</a:t>
            </a:r>
            <a:r>
              <a:rPr lang="ru"/>
              <a:t>.</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Проверяет состояние флага </a:t>
            </a:r>
            <a:r>
              <a:rPr b="1" lang="ru"/>
              <a:t>C</a:t>
            </a:r>
            <a:r>
              <a:rPr lang="ru"/>
              <a:t> в регистре </a:t>
            </a:r>
            <a:r>
              <a:rPr b="1" lang="ru"/>
              <a:t>CCR</a:t>
            </a:r>
            <a:r>
              <a:rPr lang="ru"/>
              <a:t>. Если флаг установлен (</a:t>
            </a:r>
            <a:r>
              <a:rPr b="1" lang="ru"/>
              <a:t>C</a:t>
            </a:r>
            <a:r>
              <a:rPr lang="ru"/>
              <a:t> = 1), это</a:t>
            </a:r>
            <a:endParaRPr/>
          </a:p>
          <a:p>
            <a:pPr indent="0" lvl="0" marL="0" rtl="0" algn="l">
              <a:spcBef>
                <a:spcPts val="800"/>
              </a:spcBef>
              <a:spcAft>
                <a:spcPts val="0"/>
              </a:spcAft>
              <a:buNone/>
            </a:pPr>
            <a:r>
              <a:rPr lang="ru"/>
              <a:t>означает, что произошло перенесение (или заимствование) в результате </a:t>
            </a:r>
            <a:endParaRPr/>
          </a:p>
          <a:p>
            <a:pPr indent="0" lvl="0" marL="0" rtl="0" algn="l">
              <a:spcBef>
                <a:spcPts val="800"/>
              </a:spcBef>
              <a:spcAft>
                <a:spcPts val="0"/>
              </a:spcAft>
              <a:buNone/>
            </a:pPr>
            <a:r>
              <a:rPr lang="ru"/>
              <a:t>предыдущей операции, и выполняется переход.</a:t>
            </a:r>
            <a:endParaRPr b="1"/>
          </a:p>
        </p:txBody>
      </p:sp>
      <p:sp>
        <p:nvSpPr>
          <p:cNvPr id="235" name="Google Shape;235;p31"/>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36" name="Google Shape;236;p31"/>
          <p:cNvGraphicFramePr/>
          <p:nvPr/>
        </p:nvGraphicFramePr>
        <p:xfrm>
          <a:off x="510000" y="3123500"/>
          <a:ext cx="3000000" cy="3000000"/>
        </p:xfrm>
        <a:graphic>
          <a:graphicData uri="http://schemas.openxmlformats.org/drawingml/2006/table">
            <a:tbl>
              <a:tblPr>
                <a:noFill/>
                <a:tableStyleId>{3CDD9ACC-51E4-4121-A8ED-26EB5A1B6551}</a:tableStyleId>
              </a:tblPr>
              <a:tblGrid>
                <a:gridCol w="1149525"/>
                <a:gridCol w="1149525"/>
                <a:gridCol w="1149525"/>
                <a:gridCol w="1149525"/>
                <a:gridCol w="1149525"/>
                <a:gridCol w="1149525"/>
                <a:gridCol w="114952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Carry Set</a:t>
                      </a:r>
                      <a:endParaRPr b="1"/>
                    </a:p>
                  </a:txBody>
                  <a:tcPr marT="91425" marB="91425" marR="91425" marL="91425"/>
                </a:tc>
                <a:tc>
                  <a:txBody>
                    <a:bodyPr/>
                    <a:lstStyle/>
                    <a:p>
                      <a:pPr indent="0" lvl="0" marL="0" rtl="0" algn="ctr">
                        <a:spcBef>
                          <a:spcPts val="0"/>
                        </a:spcBef>
                        <a:spcAft>
                          <a:spcPts val="0"/>
                        </a:spcAft>
                        <a:buNone/>
                      </a:pPr>
                      <a:r>
                        <a:rPr b="1" lang="ru"/>
                        <a:t>BCS</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C</a:t>
                      </a:r>
                      <a:r>
                        <a:rPr b="1" lang="ru"/>
                        <a:t> = 1 ?</a:t>
                      </a:r>
                      <a:endParaRPr b="1"/>
                    </a:p>
                  </a:txBody>
                  <a:tcPr marT="91425" marB="91425" marR="91425" marL="91425"/>
                </a:tc>
              </a:tr>
              <a:tr h="381000">
                <a:tc>
                  <a:txBody>
                    <a:bodyPr/>
                    <a:lstStyle/>
                    <a:p>
                      <a:pPr indent="0" lvl="0" marL="0" rtl="0" algn="ctr">
                        <a:spcBef>
                          <a:spcPts val="0"/>
                        </a:spcBef>
                        <a:spcAft>
                          <a:spcPts val="0"/>
                        </a:spcAft>
                        <a:buNone/>
                      </a:pPr>
                      <a:r>
                        <a:rPr b="1" lang="ru"/>
                        <a:t>Branch if Lower</a:t>
                      </a:r>
                      <a:endParaRPr b="1"/>
                    </a:p>
                  </a:txBody>
                  <a:tcPr marT="91425" marB="91425" marR="91425" marL="91425"/>
                </a:tc>
                <a:tc>
                  <a:txBody>
                    <a:bodyPr/>
                    <a:lstStyle/>
                    <a:p>
                      <a:pPr indent="0" lvl="0" marL="0" rtl="0" algn="ctr">
                        <a:spcBef>
                          <a:spcPts val="0"/>
                        </a:spcBef>
                        <a:spcAft>
                          <a:spcPts val="0"/>
                        </a:spcAft>
                        <a:buNone/>
                      </a:pPr>
                      <a:r>
                        <a:rPr b="1" lang="ru"/>
                        <a:t>BLO</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Unsigned &lt;</a:t>
                      </a:r>
                      <a:endParaRPr b="1"/>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BCC / BHS</a:t>
            </a:r>
            <a:r>
              <a:rPr lang="ru"/>
              <a:t>(Branch if Carry Clear / </a:t>
            </a:r>
            <a:r>
              <a:rPr lang="ru"/>
              <a:t>Branch if Higher or Same</a:t>
            </a:r>
            <a:r>
              <a:rPr lang="ru"/>
              <a:t>) - выполняет </a:t>
            </a:r>
            <a:endParaRPr/>
          </a:p>
          <a:p>
            <a:pPr indent="0" lvl="0" marL="0" rtl="0" algn="l">
              <a:spcBef>
                <a:spcPts val="800"/>
              </a:spcBef>
              <a:spcAft>
                <a:spcPts val="0"/>
              </a:spcAft>
              <a:buNone/>
            </a:pPr>
            <a:r>
              <a:rPr lang="ru"/>
              <a:t>условный переход на адрес, указанный в формуле, если </a:t>
            </a:r>
            <a:r>
              <a:rPr b="1" lang="ru"/>
              <a:t>НЕ</a:t>
            </a:r>
            <a:r>
              <a:rPr lang="ru"/>
              <a:t> установлен </a:t>
            </a:r>
            <a:endParaRPr/>
          </a:p>
          <a:p>
            <a:pPr indent="0" lvl="0" marL="0" rtl="0" algn="l">
              <a:spcBef>
                <a:spcPts val="800"/>
              </a:spcBef>
              <a:spcAft>
                <a:spcPts val="0"/>
              </a:spcAft>
              <a:buNone/>
            </a:pPr>
            <a:r>
              <a:rPr lang="ru"/>
              <a:t>флаг </a:t>
            </a:r>
            <a:r>
              <a:rPr b="1" lang="ru"/>
              <a:t>C</a:t>
            </a:r>
            <a:r>
              <a:rPr lang="ru"/>
              <a:t> (Carry) в регистре </a:t>
            </a:r>
            <a:r>
              <a:rPr b="1" lang="ru"/>
              <a:t>CCR</a:t>
            </a:r>
            <a:r>
              <a:rPr lang="ru"/>
              <a:t>.</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Проверяет состояние флага </a:t>
            </a:r>
            <a:r>
              <a:rPr b="1" lang="ru"/>
              <a:t>C</a:t>
            </a:r>
            <a:r>
              <a:rPr lang="ru"/>
              <a:t> в регистре </a:t>
            </a:r>
            <a:r>
              <a:rPr b="1" lang="ru"/>
              <a:t>CCR</a:t>
            </a:r>
            <a:r>
              <a:rPr lang="ru"/>
              <a:t>. Если флаг установлен (</a:t>
            </a:r>
            <a:r>
              <a:rPr b="1" lang="ru"/>
              <a:t>C</a:t>
            </a:r>
            <a:r>
              <a:rPr lang="ru"/>
              <a:t> = 0) -  </a:t>
            </a:r>
            <a:endParaRPr/>
          </a:p>
          <a:p>
            <a:pPr indent="0" lvl="0" marL="0" rtl="0" algn="l">
              <a:spcBef>
                <a:spcPts val="800"/>
              </a:spcBef>
              <a:spcAft>
                <a:spcPts val="0"/>
              </a:spcAft>
              <a:buNone/>
            </a:pPr>
            <a:r>
              <a:rPr lang="ru"/>
              <a:t>выполняется переход.</a:t>
            </a:r>
            <a:endParaRPr/>
          </a:p>
          <a:p>
            <a:pPr indent="0" lvl="0" marL="0" rtl="0" algn="l">
              <a:spcBef>
                <a:spcPts val="800"/>
              </a:spcBef>
              <a:spcAft>
                <a:spcPts val="0"/>
              </a:spcAft>
              <a:buNone/>
            </a:pPr>
            <a:r>
              <a:t/>
            </a:r>
            <a:endParaRPr b="1"/>
          </a:p>
        </p:txBody>
      </p:sp>
      <p:sp>
        <p:nvSpPr>
          <p:cNvPr id="242" name="Google Shape;242;p32"/>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43" name="Google Shape;243;p32"/>
          <p:cNvGraphicFramePr/>
          <p:nvPr/>
        </p:nvGraphicFramePr>
        <p:xfrm>
          <a:off x="454275" y="2571750"/>
          <a:ext cx="3000000" cy="3000000"/>
        </p:xfrm>
        <a:graphic>
          <a:graphicData uri="http://schemas.openxmlformats.org/drawingml/2006/table">
            <a:tbl>
              <a:tblPr>
                <a:noFill/>
                <a:tableStyleId>{3CDD9ACC-51E4-4121-A8ED-26EB5A1B6551}</a:tableStyleId>
              </a:tblPr>
              <a:tblGrid>
                <a:gridCol w="1149525"/>
                <a:gridCol w="1149525"/>
                <a:gridCol w="1149525"/>
                <a:gridCol w="1149525"/>
                <a:gridCol w="1149525"/>
                <a:gridCol w="1149525"/>
                <a:gridCol w="114952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Carry Clear</a:t>
                      </a:r>
                      <a:endParaRPr b="1"/>
                    </a:p>
                  </a:txBody>
                  <a:tcPr marT="91425" marB="91425" marR="91425" marL="91425"/>
                </a:tc>
                <a:tc>
                  <a:txBody>
                    <a:bodyPr/>
                    <a:lstStyle/>
                    <a:p>
                      <a:pPr indent="0" lvl="0" marL="0" rtl="0" algn="ctr">
                        <a:spcBef>
                          <a:spcPts val="0"/>
                        </a:spcBef>
                        <a:spcAft>
                          <a:spcPts val="0"/>
                        </a:spcAft>
                        <a:buNone/>
                      </a:pPr>
                      <a:r>
                        <a:rPr b="1" lang="ru"/>
                        <a:t>BCC</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C = 0 ?</a:t>
                      </a:r>
                      <a:endParaRPr b="1"/>
                    </a:p>
                  </a:txBody>
                  <a:tcPr marT="91425" marB="91425" marR="91425" marL="91425"/>
                </a:tc>
              </a:tr>
              <a:tr h="381000">
                <a:tc>
                  <a:txBody>
                    <a:bodyPr/>
                    <a:lstStyle/>
                    <a:p>
                      <a:pPr indent="0" lvl="0" marL="0" rtl="0" algn="ctr">
                        <a:spcBef>
                          <a:spcPts val="0"/>
                        </a:spcBef>
                        <a:spcAft>
                          <a:spcPts val="0"/>
                        </a:spcAft>
                        <a:buNone/>
                      </a:pPr>
                      <a:r>
                        <a:rPr b="1" lang="ru"/>
                        <a:t>Branch if Higher or Same</a:t>
                      </a:r>
                      <a:endParaRPr b="1"/>
                    </a:p>
                  </a:txBody>
                  <a:tcPr marT="91425" marB="91425" marR="91425" marL="91425"/>
                </a:tc>
                <a:tc>
                  <a:txBody>
                    <a:bodyPr/>
                    <a:lstStyle/>
                    <a:p>
                      <a:pPr indent="0" lvl="0" marL="0" rtl="0" algn="ctr">
                        <a:spcBef>
                          <a:spcPts val="0"/>
                        </a:spcBef>
                        <a:spcAft>
                          <a:spcPts val="0"/>
                        </a:spcAft>
                        <a:buNone/>
                      </a:pPr>
                      <a:r>
                        <a:rPr b="1" lang="ru"/>
                        <a:t>BHS</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Unsigned ≥</a:t>
                      </a:r>
                      <a:endParaRPr b="1"/>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body"/>
          </p:nvPr>
        </p:nvSpPr>
        <p:spPr>
          <a:xfrm>
            <a:off x="311688" y="357575"/>
            <a:ext cx="8520600" cy="4219200"/>
          </a:xfrm>
          <a:prstGeom prst="rect">
            <a:avLst/>
          </a:prstGeom>
        </p:spPr>
        <p:txBody>
          <a:bodyPr anchorCtr="0" anchor="t" bIns="34275" lIns="68575" spcFirstLastPara="1" rIns="68575" wrap="square" tIns="34275">
            <a:normAutofit fontScale="85000" lnSpcReduction="20000"/>
          </a:bodyPr>
          <a:lstStyle/>
          <a:p>
            <a:pPr indent="0" lvl="0" marL="0" rtl="0" algn="l">
              <a:spcBef>
                <a:spcPts val="800"/>
              </a:spcBef>
              <a:spcAft>
                <a:spcPts val="0"/>
              </a:spcAft>
              <a:buNone/>
            </a:pPr>
            <a:r>
              <a:rPr b="1" lang="ru"/>
              <a:t>BVS</a:t>
            </a:r>
            <a:r>
              <a:rPr b="1" lang="ru"/>
              <a:t> / BVO</a:t>
            </a:r>
            <a:r>
              <a:rPr lang="ru"/>
              <a:t>(</a:t>
            </a:r>
            <a:r>
              <a:rPr lang="ru"/>
              <a:t>Branch if Overflow Set / Branch if Overflow Clear</a:t>
            </a:r>
            <a:r>
              <a:rPr lang="ru"/>
              <a:t>) - </a:t>
            </a:r>
            <a:r>
              <a:rPr lang="ru"/>
              <a:t>выполняет условный </a:t>
            </a:r>
            <a:endParaRPr/>
          </a:p>
          <a:p>
            <a:pPr indent="0" lvl="0" marL="0" rtl="0" algn="l">
              <a:spcBef>
                <a:spcPts val="800"/>
              </a:spcBef>
              <a:spcAft>
                <a:spcPts val="0"/>
              </a:spcAft>
              <a:buNone/>
            </a:pPr>
            <a:r>
              <a:rPr lang="ru"/>
              <a:t>переход на адрес, указанный в формуле, если установлен / не установлен флаг </a:t>
            </a:r>
            <a:endParaRPr/>
          </a:p>
          <a:p>
            <a:pPr indent="0" lvl="0" marL="0" rtl="0" algn="l">
              <a:spcBef>
                <a:spcPts val="800"/>
              </a:spcBef>
              <a:spcAft>
                <a:spcPts val="0"/>
              </a:spcAft>
              <a:buNone/>
            </a:pPr>
            <a:r>
              <a:rPr b="1" lang="ru"/>
              <a:t>V</a:t>
            </a:r>
            <a:r>
              <a:rPr lang="ru"/>
              <a:t> (Overflow) в регистре </a:t>
            </a:r>
            <a:r>
              <a:rPr b="1" lang="ru"/>
              <a:t>CCR</a:t>
            </a:r>
            <a:r>
              <a:rPr lang="ru"/>
              <a:t>.</a:t>
            </a:r>
            <a:endParaRPr/>
          </a:p>
          <a:p>
            <a:pPr indent="0" lvl="0" marL="0" rtl="0" algn="l">
              <a:spcBef>
                <a:spcPts val="800"/>
              </a:spcBef>
              <a:spcAft>
                <a:spcPts val="0"/>
              </a:spcAft>
              <a:buNone/>
            </a:pPr>
            <a:r>
              <a:rPr lang="ru"/>
              <a:t>Это используется после операций с числами в формате с двумя дополнениями, </a:t>
            </a:r>
            <a:endParaRPr/>
          </a:p>
          <a:p>
            <a:pPr indent="0" lvl="0" marL="0" rtl="0" algn="l">
              <a:spcBef>
                <a:spcPts val="800"/>
              </a:spcBef>
              <a:spcAft>
                <a:spcPts val="0"/>
              </a:spcAft>
              <a:buNone/>
            </a:pPr>
            <a:r>
              <a:rPr lang="ru"/>
              <a:t>чтобы проверить, произошло ли переполнение.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В исходной программе адрес назначения для команды </a:t>
            </a:r>
            <a:r>
              <a:rPr b="1" lang="ru"/>
              <a:t>BVS</a:t>
            </a:r>
            <a:r>
              <a:rPr lang="ru"/>
              <a:t> указывается абсолютным</a:t>
            </a:r>
            <a:endParaRPr/>
          </a:p>
          <a:p>
            <a:pPr indent="0" lvl="0" marL="0" rtl="0" algn="l">
              <a:spcBef>
                <a:spcPts val="800"/>
              </a:spcBef>
              <a:spcAft>
                <a:spcPts val="0"/>
              </a:spcAft>
              <a:buNone/>
            </a:pPr>
            <a:r>
              <a:rPr lang="ru"/>
              <a:t>значением. Это может быть числовое значение, символ или выражение, которое</a:t>
            </a:r>
            <a:endParaRPr/>
          </a:p>
          <a:p>
            <a:pPr indent="0" lvl="0" marL="0" rtl="0" algn="l">
              <a:spcBef>
                <a:spcPts val="800"/>
              </a:spcBef>
              <a:spcAft>
                <a:spcPts val="0"/>
              </a:spcAft>
              <a:buNone/>
            </a:pPr>
            <a:r>
              <a:rPr lang="ru"/>
              <a:t>ассемблер может численно оценить. </a:t>
            </a:r>
            <a:endParaRPr/>
          </a:p>
          <a:p>
            <a:pPr indent="0" lvl="0" marL="0" rtl="0" algn="l">
              <a:spcBef>
                <a:spcPts val="800"/>
              </a:spcBef>
              <a:spcAft>
                <a:spcPts val="0"/>
              </a:spcAft>
              <a:buNone/>
            </a:pPr>
            <a:r>
              <a:rPr lang="ru"/>
              <a:t>Ассемблер вычисляет относительный адрес (Rel), используя абсолютный адрес и текущее </a:t>
            </a:r>
            <a:endParaRPr/>
          </a:p>
          <a:p>
            <a:pPr indent="0" lvl="0" marL="0" rtl="0" algn="l">
              <a:spcBef>
                <a:spcPts val="800"/>
              </a:spcBef>
              <a:spcAft>
                <a:spcPts val="0"/>
              </a:spcAft>
              <a:buNone/>
            </a:pPr>
            <a:r>
              <a:rPr lang="ru"/>
              <a:t>значение счетчика расположения.</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b="1"/>
          </a:p>
        </p:txBody>
      </p:sp>
      <p:sp>
        <p:nvSpPr>
          <p:cNvPr id="249" name="Google Shape;249;p33"/>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50" name="Google Shape;250;p33"/>
          <p:cNvGraphicFramePr/>
          <p:nvPr/>
        </p:nvGraphicFramePr>
        <p:xfrm>
          <a:off x="311700" y="3187200"/>
          <a:ext cx="3000000" cy="3000000"/>
        </p:xfrm>
        <a:graphic>
          <a:graphicData uri="http://schemas.openxmlformats.org/drawingml/2006/table">
            <a:tbl>
              <a:tblPr>
                <a:noFill/>
                <a:tableStyleId>{3CDD9ACC-51E4-4121-A8ED-26EB5A1B6551}</a:tableStyleId>
              </a:tblPr>
              <a:tblGrid>
                <a:gridCol w="1603375"/>
                <a:gridCol w="695675"/>
                <a:gridCol w="1149525"/>
                <a:gridCol w="1165450"/>
                <a:gridCol w="1133600"/>
                <a:gridCol w="1149525"/>
                <a:gridCol w="1149525"/>
              </a:tblGrid>
              <a:tr h="381000">
                <a:tc>
                  <a:txBody>
                    <a:bodyPr/>
                    <a:lstStyle/>
                    <a:p>
                      <a:pPr indent="0" lvl="0" marL="0" rtl="0" algn="ctr">
                        <a:spcBef>
                          <a:spcPts val="0"/>
                        </a:spcBef>
                        <a:spcAft>
                          <a:spcPts val="0"/>
                        </a:spcAft>
                        <a:buNone/>
                      </a:pPr>
                      <a:r>
                        <a:rPr b="1" lang="ru" sz="1200"/>
                        <a:t>Function</a:t>
                      </a:r>
                      <a:endParaRPr b="1" sz="1200"/>
                    </a:p>
                  </a:txBody>
                  <a:tcPr marT="91425" marB="91425" marR="91425" marL="91425"/>
                </a:tc>
                <a:tc>
                  <a:txBody>
                    <a:bodyPr/>
                    <a:lstStyle/>
                    <a:p>
                      <a:pPr indent="0" lvl="0" marL="0" rtl="0" algn="ctr">
                        <a:spcBef>
                          <a:spcPts val="0"/>
                        </a:spcBef>
                        <a:spcAft>
                          <a:spcPts val="0"/>
                        </a:spcAft>
                        <a:buNone/>
                      </a:pPr>
                      <a:r>
                        <a:rPr b="1" lang="ru" sz="1200"/>
                        <a:t>Mnemonic</a:t>
                      </a:r>
                      <a:endParaRPr b="1" sz="1200"/>
                    </a:p>
                  </a:txBody>
                  <a:tcPr marT="91425" marB="91425" marR="91425" marL="91425"/>
                </a:tc>
                <a:tc>
                  <a:txBody>
                    <a:bodyPr/>
                    <a:lstStyle/>
                    <a:p>
                      <a:pPr indent="0" lvl="0" marL="0" rtl="0" algn="ctr">
                        <a:spcBef>
                          <a:spcPts val="0"/>
                        </a:spcBef>
                        <a:spcAft>
                          <a:spcPts val="0"/>
                        </a:spcAft>
                        <a:buNone/>
                      </a:pPr>
                      <a:r>
                        <a:rPr b="1" lang="ru" sz="1200"/>
                        <a:t>REL</a:t>
                      </a:r>
                      <a:endParaRPr b="1" sz="1200"/>
                    </a:p>
                  </a:txBody>
                  <a:tcPr marT="91425" marB="91425" marR="91425" marL="91425"/>
                </a:tc>
                <a:tc>
                  <a:txBody>
                    <a:bodyPr/>
                    <a:lstStyle/>
                    <a:p>
                      <a:pPr indent="0" lvl="0" marL="0" rtl="0" algn="ctr">
                        <a:spcBef>
                          <a:spcPts val="0"/>
                        </a:spcBef>
                        <a:spcAft>
                          <a:spcPts val="0"/>
                        </a:spcAft>
                        <a:buNone/>
                      </a:pPr>
                      <a:r>
                        <a:rPr b="1" lang="ru" sz="1200"/>
                        <a:t>DIR</a:t>
                      </a:r>
                      <a:endParaRPr b="1" sz="1200"/>
                    </a:p>
                  </a:txBody>
                  <a:tcPr marT="91425" marB="91425" marR="91425" marL="91425"/>
                </a:tc>
                <a:tc>
                  <a:txBody>
                    <a:bodyPr/>
                    <a:lstStyle/>
                    <a:p>
                      <a:pPr indent="0" lvl="0" marL="0" rtl="0" algn="ctr">
                        <a:spcBef>
                          <a:spcPts val="0"/>
                        </a:spcBef>
                        <a:spcAft>
                          <a:spcPts val="0"/>
                        </a:spcAft>
                        <a:buNone/>
                      </a:pPr>
                      <a:r>
                        <a:rPr b="1" lang="ru" sz="1200"/>
                        <a:t>INDX</a:t>
                      </a:r>
                      <a:endParaRPr b="1" sz="1200"/>
                    </a:p>
                  </a:txBody>
                  <a:tcPr marT="91425" marB="91425" marR="91425" marL="91425"/>
                </a:tc>
                <a:tc>
                  <a:txBody>
                    <a:bodyPr/>
                    <a:lstStyle/>
                    <a:p>
                      <a:pPr indent="0" lvl="0" marL="0" rtl="0" algn="ctr">
                        <a:spcBef>
                          <a:spcPts val="0"/>
                        </a:spcBef>
                        <a:spcAft>
                          <a:spcPts val="0"/>
                        </a:spcAft>
                        <a:buNone/>
                      </a:pPr>
                      <a:r>
                        <a:rPr b="1" lang="ru" sz="1200"/>
                        <a:t>INDY</a:t>
                      </a:r>
                      <a:endParaRPr b="1" sz="1200"/>
                    </a:p>
                  </a:txBody>
                  <a:tcPr marT="91425" marB="91425" marR="91425" marL="91425"/>
                </a:tc>
                <a:tc>
                  <a:txBody>
                    <a:bodyPr/>
                    <a:lstStyle/>
                    <a:p>
                      <a:pPr indent="0" lvl="0" marL="0" rtl="0" algn="ctr">
                        <a:spcBef>
                          <a:spcPts val="0"/>
                        </a:spcBef>
                        <a:spcAft>
                          <a:spcPts val="0"/>
                        </a:spcAft>
                        <a:buNone/>
                      </a:pPr>
                      <a:r>
                        <a:rPr b="1" lang="ru" sz="1200"/>
                        <a:t>Comments</a:t>
                      </a:r>
                      <a:endParaRPr b="1" sz="1200"/>
                    </a:p>
                  </a:txBody>
                  <a:tcPr marT="91425" marB="91425" marR="91425" marL="91425"/>
                </a:tc>
              </a:tr>
              <a:tr h="381000">
                <a:tc>
                  <a:txBody>
                    <a:bodyPr/>
                    <a:lstStyle/>
                    <a:p>
                      <a:pPr indent="0" lvl="0" marL="0" rtl="0" algn="ctr">
                        <a:spcBef>
                          <a:spcPts val="0"/>
                        </a:spcBef>
                        <a:spcAft>
                          <a:spcPts val="0"/>
                        </a:spcAft>
                        <a:buNone/>
                      </a:pPr>
                      <a:r>
                        <a:rPr b="1" lang="ru" sz="1200"/>
                        <a:t>Branch if Overflow Set</a:t>
                      </a:r>
                      <a:endParaRPr b="1" sz="1200"/>
                    </a:p>
                  </a:txBody>
                  <a:tcPr marT="91425" marB="91425" marR="91425" marL="91425"/>
                </a:tc>
                <a:tc>
                  <a:txBody>
                    <a:bodyPr/>
                    <a:lstStyle/>
                    <a:p>
                      <a:pPr indent="0" lvl="0" marL="0" rtl="0" algn="ctr">
                        <a:spcBef>
                          <a:spcPts val="0"/>
                        </a:spcBef>
                        <a:spcAft>
                          <a:spcPts val="0"/>
                        </a:spcAft>
                        <a:buNone/>
                      </a:pPr>
                      <a:r>
                        <a:rPr b="1" lang="ru" sz="1200"/>
                        <a:t>BVS</a:t>
                      </a:r>
                      <a:endParaRPr b="1" sz="1200"/>
                    </a:p>
                  </a:txBody>
                  <a:tcPr marT="91425" marB="91425" marR="91425" marL="91425"/>
                </a:tc>
                <a:tc>
                  <a:txBody>
                    <a:bodyPr/>
                    <a:lstStyle/>
                    <a:p>
                      <a:pPr indent="0" lvl="0" marL="0" rtl="0" algn="ctr">
                        <a:spcBef>
                          <a:spcPts val="0"/>
                        </a:spcBef>
                        <a:spcAft>
                          <a:spcPts val="0"/>
                        </a:spcAft>
                        <a:buNone/>
                      </a:pPr>
                      <a:r>
                        <a:rPr b="1" lang="ru" sz="1200"/>
                        <a:t>X</a:t>
                      </a:r>
                      <a:endParaRPr b="1" sz="1200"/>
                    </a:p>
                  </a:txBody>
                  <a:tcPr marT="91425" marB="91425" marR="91425" marL="91425"/>
                </a:tc>
                <a:tc>
                  <a:txBody>
                    <a:bodyPr/>
                    <a:lstStyle/>
                    <a:p>
                      <a:pPr indent="0" lvl="0" marL="0" rtl="0" algn="ctr">
                        <a:spcBef>
                          <a:spcPts val="0"/>
                        </a:spcBef>
                        <a:spcAft>
                          <a:spcPts val="0"/>
                        </a:spcAft>
                        <a:buNone/>
                      </a:pPr>
                      <a:r>
                        <a:t/>
                      </a:r>
                      <a:endParaRPr b="1" sz="1200"/>
                    </a:p>
                  </a:txBody>
                  <a:tcPr marT="91425" marB="91425" marR="91425" marL="91425"/>
                </a:tc>
                <a:tc>
                  <a:txBody>
                    <a:bodyPr/>
                    <a:lstStyle/>
                    <a:p>
                      <a:pPr indent="0" lvl="0" marL="0" rtl="0" algn="ctr">
                        <a:spcBef>
                          <a:spcPts val="0"/>
                        </a:spcBef>
                        <a:spcAft>
                          <a:spcPts val="0"/>
                        </a:spcAft>
                        <a:buNone/>
                      </a:pPr>
                      <a:r>
                        <a:t/>
                      </a:r>
                      <a:endParaRPr b="1" sz="1200"/>
                    </a:p>
                  </a:txBody>
                  <a:tcPr marT="91425" marB="91425" marR="91425" marL="91425"/>
                </a:tc>
                <a:tc>
                  <a:txBody>
                    <a:bodyPr/>
                    <a:lstStyle/>
                    <a:p>
                      <a:pPr indent="0" lvl="0" marL="0" rtl="0" algn="ctr">
                        <a:spcBef>
                          <a:spcPts val="0"/>
                        </a:spcBef>
                        <a:spcAft>
                          <a:spcPts val="0"/>
                        </a:spcAft>
                        <a:buNone/>
                      </a:pPr>
                      <a:r>
                        <a:t/>
                      </a:r>
                      <a:endParaRPr b="1" sz="1200"/>
                    </a:p>
                  </a:txBody>
                  <a:tcPr marT="91425" marB="91425" marR="91425" marL="91425"/>
                </a:tc>
                <a:tc>
                  <a:txBody>
                    <a:bodyPr/>
                    <a:lstStyle/>
                    <a:p>
                      <a:pPr indent="0" lvl="0" marL="0" rtl="0" algn="ctr">
                        <a:spcBef>
                          <a:spcPts val="0"/>
                        </a:spcBef>
                        <a:spcAft>
                          <a:spcPts val="0"/>
                        </a:spcAft>
                        <a:buNone/>
                      </a:pPr>
                      <a:r>
                        <a:rPr b="1" lang="ru" sz="1200"/>
                        <a:t>V = 1 ?</a:t>
                      </a:r>
                      <a:endParaRPr b="1" sz="1200"/>
                    </a:p>
                  </a:txBody>
                  <a:tcPr marT="91425" marB="91425" marR="91425" marL="91425"/>
                </a:tc>
              </a:tr>
              <a:tr h="381000">
                <a:tc>
                  <a:txBody>
                    <a:bodyPr/>
                    <a:lstStyle/>
                    <a:p>
                      <a:pPr indent="0" lvl="0" marL="0" rtl="0" algn="ctr">
                        <a:spcBef>
                          <a:spcPts val="0"/>
                        </a:spcBef>
                        <a:spcAft>
                          <a:spcPts val="0"/>
                        </a:spcAft>
                        <a:buNone/>
                      </a:pPr>
                      <a:r>
                        <a:rPr b="1" lang="ru" sz="1200"/>
                        <a:t>Branch if Overflow Clear</a:t>
                      </a:r>
                      <a:endParaRPr b="1" sz="1200"/>
                    </a:p>
                  </a:txBody>
                  <a:tcPr marT="91425" marB="91425" marR="91425" marL="91425"/>
                </a:tc>
                <a:tc>
                  <a:txBody>
                    <a:bodyPr/>
                    <a:lstStyle/>
                    <a:p>
                      <a:pPr indent="0" lvl="0" marL="0" rtl="0" algn="ctr">
                        <a:spcBef>
                          <a:spcPts val="0"/>
                        </a:spcBef>
                        <a:spcAft>
                          <a:spcPts val="0"/>
                        </a:spcAft>
                        <a:buNone/>
                      </a:pPr>
                      <a:r>
                        <a:rPr b="1" lang="ru" sz="1200"/>
                        <a:t>BVC</a:t>
                      </a:r>
                      <a:endParaRPr b="1" sz="1200"/>
                    </a:p>
                  </a:txBody>
                  <a:tcPr marT="91425" marB="91425" marR="91425" marL="91425"/>
                </a:tc>
                <a:tc>
                  <a:txBody>
                    <a:bodyPr/>
                    <a:lstStyle/>
                    <a:p>
                      <a:pPr indent="0" lvl="0" marL="0" rtl="0" algn="ctr">
                        <a:spcBef>
                          <a:spcPts val="0"/>
                        </a:spcBef>
                        <a:spcAft>
                          <a:spcPts val="0"/>
                        </a:spcAft>
                        <a:buNone/>
                      </a:pPr>
                      <a:r>
                        <a:rPr b="1" lang="ru" sz="1200"/>
                        <a:t>X</a:t>
                      </a:r>
                      <a:endParaRPr b="1" sz="1200"/>
                    </a:p>
                  </a:txBody>
                  <a:tcPr marT="91425" marB="91425" marR="91425" marL="91425"/>
                </a:tc>
                <a:tc>
                  <a:txBody>
                    <a:bodyPr/>
                    <a:lstStyle/>
                    <a:p>
                      <a:pPr indent="0" lvl="0" marL="0" rtl="0" algn="ctr">
                        <a:spcBef>
                          <a:spcPts val="0"/>
                        </a:spcBef>
                        <a:spcAft>
                          <a:spcPts val="0"/>
                        </a:spcAft>
                        <a:buNone/>
                      </a:pPr>
                      <a:r>
                        <a:t/>
                      </a:r>
                      <a:endParaRPr b="1" sz="1200"/>
                    </a:p>
                  </a:txBody>
                  <a:tcPr marT="91425" marB="91425" marR="91425" marL="91425"/>
                </a:tc>
                <a:tc>
                  <a:txBody>
                    <a:bodyPr/>
                    <a:lstStyle/>
                    <a:p>
                      <a:pPr indent="0" lvl="0" marL="0" rtl="0" algn="ctr">
                        <a:spcBef>
                          <a:spcPts val="0"/>
                        </a:spcBef>
                        <a:spcAft>
                          <a:spcPts val="0"/>
                        </a:spcAft>
                        <a:buNone/>
                      </a:pPr>
                      <a:r>
                        <a:t/>
                      </a:r>
                      <a:endParaRPr b="1" sz="1200"/>
                    </a:p>
                  </a:txBody>
                  <a:tcPr marT="91425" marB="91425" marR="91425" marL="91425"/>
                </a:tc>
                <a:tc>
                  <a:txBody>
                    <a:bodyPr/>
                    <a:lstStyle/>
                    <a:p>
                      <a:pPr indent="0" lvl="0" marL="0" rtl="0" algn="ctr">
                        <a:spcBef>
                          <a:spcPts val="0"/>
                        </a:spcBef>
                        <a:spcAft>
                          <a:spcPts val="0"/>
                        </a:spcAft>
                        <a:buNone/>
                      </a:pPr>
                      <a:r>
                        <a:t/>
                      </a:r>
                      <a:endParaRPr b="1" sz="1200"/>
                    </a:p>
                  </a:txBody>
                  <a:tcPr marT="91425" marB="91425" marR="91425" marL="91425"/>
                </a:tc>
                <a:tc>
                  <a:txBody>
                    <a:bodyPr/>
                    <a:lstStyle/>
                    <a:p>
                      <a:pPr indent="0" lvl="0" marL="0" rtl="0" algn="ctr">
                        <a:spcBef>
                          <a:spcPts val="0"/>
                        </a:spcBef>
                        <a:spcAft>
                          <a:spcPts val="0"/>
                        </a:spcAft>
                        <a:buNone/>
                      </a:pPr>
                      <a:r>
                        <a:rPr b="1" lang="ru" sz="1200"/>
                        <a:t>V = 0 ?</a:t>
                      </a:r>
                      <a:endParaRPr b="1" sz="1200"/>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BGE </a:t>
            </a:r>
            <a:r>
              <a:rPr lang="ru"/>
              <a:t>(Branch if Greater than or Equal to Zero) - выполняет условный переход на</a:t>
            </a:r>
            <a:endParaRPr/>
          </a:p>
          <a:p>
            <a:pPr indent="0" lvl="0" marL="0" rtl="0" algn="l">
              <a:spcBef>
                <a:spcPts val="800"/>
              </a:spcBef>
              <a:spcAft>
                <a:spcPts val="0"/>
              </a:spcAft>
              <a:buNone/>
            </a:pPr>
            <a:r>
              <a:rPr lang="ru"/>
              <a:t>адрес, указанный в формуле, если результат сравнения показывает, </a:t>
            </a:r>
            <a:endParaRPr/>
          </a:p>
          <a:p>
            <a:pPr indent="0" lvl="0" marL="0" rtl="0" algn="l">
              <a:spcBef>
                <a:spcPts val="800"/>
              </a:spcBef>
              <a:spcAft>
                <a:spcPts val="0"/>
              </a:spcAft>
              <a:buNone/>
            </a:pPr>
            <a:r>
              <a:rPr lang="ru"/>
              <a:t>что одно значение больше или равно другому в формате с двумя дополнениями.</a:t>
            </a:r>
            <a:endParaRPr/>
          </a:p>
          <a:p>
            <a:pPr indent="0" lvl="0" marL="0" rtl="0" algn="l">
              <a:spcBef>
                <a:spcPts val="800"/>
              </a:spcBef>
              <a:spcAft>
                <a:spcPts val="0"/>
              </a:spcAft>
              <a:buNone/>
            </a:pPr>
            <a:r>
              <a:t/>
            </a:r>
            <a:endParaRPr/>
          </a:p>
          <a:p>
            <a:pPr indent="0" lvl="0" marL="0" rtl="0" algn="l">
              <a:spcBef>
                <a:spcPts val="800"/>
              </a:spcBef>
              <a:spcAft>
                <a:spcPts val="0"/>
              </a:spcAft>
              <a:buNone/>
            </a:pPr>
            <a:r>
              <a:rPr b="1" lang="ru"/>
              <a:t>BGE</a:t>
            </a:r>
            <a:r>
              <a:rPr lang="ru"/>
              <a:t> используется после выполнения инструкций сравнения, таких как </a:t>
            </a:r>
            <a:r>
              <a:rPr b="1" lang="ru"/>
              <a:t>CBA</a:t>
            </a:r>
            <a:r>
              <a:rPr lang="ru"/>
              <a:t>, </a:t>
            </a:r>
            <a:r>
              <a:rPr b="1" lang="ru"/>
              <a:t>CMP</a:t>
            </a:r>
            <a:r>
              <a:rPr lang="ru"/>
              <a:t> (A, B, или D), </a:t>
            </a:r>
            <a:r>
              <a:rPr b="1" lang="ru"/>
              <a:t>CP</a:t>
            </a:r>
            <a:r>
              <a:rPr lang="ru"/>
              <a:t> (X или Y), </a:t>
            </a:r>
            <a:r>
              <a:rPr b="1" lang="ru"/>
              <a:t>SBA</a:t>
            </a:r>
            <a:r>
              <a:rPr lang="ru"/>
              <a:t>, </a:t>
            </a:r>
            <a:r>
              <a:rPr b="1" lang="ru"/>
              <a:t>SUB</a:t>
            </a:r>
            <a:r>
              <a:rPr lang="ru"/>
              <a:t> (A, B, или 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Переход выполняется, если флаги </a:t>
            </a:r>
            <a:r>
              <a:rPr b="1" lang="ru"/>
              <a:t>N</a:t>
            </a:r>
            <a:r>
              <a:rPr lang="ru"/>
              <a:t> (Negative) и </a:t>
            </a:r>
            <a:r>
              <a:rPr b="1" lang="ru"/>
              <a:t>V</a:t>
            </a:r>
            <a:r>
              <a:rPr lang="ru"/>
              <a:t> (Overflow) в регистре CCR</a:t>
            </a:r>
            <a:endParaRPr/>
          </a:p>
          <a:p>
            <a:pPr indent="0" lvl="0" marL="0" rtl="0" algn="l">
              <a:spcBef>
                <a:spcPts val="800"/>
              </a:spcBef>
              <a:spcAft>
                <a:spcPts val="0"/>
              </a:spcAft>
              <a:buNone/>
            </a:pPr>
            <a:r>
              <a:rPr lang="ru"/>
              <a:t>находятся в равном состоянии (оба установлены или оба сброшены).</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b="1"/>
          </a:p>
        </p:txBody>
      </p:sp>
      <p:sp>
        <p:nvSpPr>
          <p:cNvPr id="256" name="Google Shape;256;p34"/>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BLT</a:t>
            </a:r>
            <a:r>
              <a:rPr b="1" lang="ru"/>
              <a:t> </a:t>
            </a:r>
            <a:r>
              <a:rPr lang="ru"/>
              <a:t>(</a:t>
            </a:r>
            <a:r>
              <a:rPr lang="ru"/>
              <a:t>Branch if Less Than</a:t>
            </a:r>
            <a:r>
              <a:rPr lang="ru"/>
              <a:t>) - </a:t>
            </a:r>
            <a:r>
              <a:rPr lang="ru"/>
              <a:t>выполняет условный переход на адрес, указанный в </a:t>
            </a:r>
            <a:endParaRPr/>
          </a:p>
          <a:p>
            <a:pPr indent="0" lvl="0" marL="0" rtl="0" algn="l">
              <a:spcBef>
                <a:spcPts val="800"/>
              </a:spcBef>
              <a:spcAft>
                <a:spcPts val="0"/>
              </a:spcAft>
              <a:buNone/>
            </a:pPr>
            <a:r>
              <a:rPr lang="ru"/>
              <a:t>формуле, если результат сравнения показывает, что одно значение меньше </a:t>
            </a:r>
            <a:endParaRPr/>
          </a:p>
          <a:p>
            <a:pPr indent="0" lvl="0" marL="0" rtl="0" algn="l">
              <a:spcBef>
                <a:spcPts val="800"/>
              </a:spcBef>
              <a:spcAft>
                <a:spcPts val="0"/>
              </a:spcAft>
              <a:buNone/>
            </a:pPr>
            <a:r>
              <a:rPr lang="ru"/>
              <a:t>другого в формате с двумя дополнениями.</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Переход выполняется, если флаги </a:t>
            </a:r>
            <a:r>
              <a:rPr b="1" lang="ru"/>
              <a:t>N</a:t>
            </a:r>
            <a:r>
              <a:rPr lang="ru"/>
              <a:t> (Negative) и </a:t>
            </a:r>
            <a:r>
              <a:rPr b="1" lang="ru"/>
              <a:t>V</a:t>
            </a:r>
            <a:r>
              <a:rPr lang="ru"/>
              <a:t> (Overflow) в регистре CCR</a:t>
            </a:r>
            <a:endParaRPr/>
          </a:p>
          <a:p>
            <a:pPr indent="0" lvl="0" marL="0" rtl="0" algn="l">
              <a:spcBef>
                <a:spcPts val="800"/>
              </a:spcBef>
              <a:spcAft>
                <a:spcPts val="0"/>
              </a:spcAft>
              <a:buNone/>
            </a:pPr>
            <a:r>
              <a:rPr lang="ru"/>
              <a:t>находятся в разных состояниях (один установлен, другой сброшен).</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b="1"/>
          </a:p>
        </p:txBody>
      </p:sp>
      <p:sp>
        <p:nvSpPr>
          <p:cNvPr id="262" name="Google Shape;262;p35"/>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63" name="Google Shape;263;p35"/>
          <p:cNvGraphicFramePr/>
          <p:nvPr/>
        </p:nvGraphicFramePr>
        <p:xfrm>
          <a:off x="414475" y="2916500"/>
          <a:ext cx="3000000" cy="3000000"/>
        </p:xfrm>
        <a:graphic>
          <a:graphicData uri="http://schemas.openxmlformats.org/drawingml/2006/table">
            <a:tbl>
              <a:tblPr>
                <a:noFill/>
                <a:tableStyleId>{3CDD9ACC-51E4-4121-A8ED-26EB5A1B6551}</a:tableStyleId>
              </a:tblPr>
              <a:tblGrid>
                <a:gridCol w="1486225"/>
                <a:gridCol w="769625"/>
                <a:gridCol w="1127925"/>
                <a:gridCol w="1127925"/>
                <a:gridCol w="1127925"/>
                <a:gridCol w="1127925"/>
                <a:gridCol w="112792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Less Than</a:t>
                      </a:r>
                      <a:endParaRPr b="1"/>
                    </a:p>
                  </a:txBody>
                  <a:tcPr marT="91425" marB="91425" marR="91425" marL="91425"/>
                </a:tc>
                <a:tc>
                  <a:txBody>
                    <a:bodyPr/>
                    <a:lstStyle/>
                    <a:p>
                      <a:pPr indent="0" lvl="0" marL="0" rtl="0" algn="ctr">
                        <a:spcBef>
                          <a:spcPts val="0"/>
                        </a:spcBef>
                        <a:spcAft>
                          <a:spcPts val="0"/>
                        </a:spcAft>
                        <a:buNone/>
                      </a:pPr>
                      <a:r>
                        <a:rPr b="1" lang="ru"/>
                        <a:t>BLT</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 Signed &lt;</a:t>
                      </a:r>
                      <a:endParaRPr b="1"/>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BLE</a:t>
            </a:r>
            <a:r>
              <a:rPr b="1" lang="ru"/>
              <a:t> </a:t>
            </a:r>
            <a:r>
              <a:rPr lang="ru"/>
              <a:t>(</a:t>
            </a:r>
            <a:r>
              <a:rPr lang="ru"/>
              <a:t>Branch if Less than or Equal to Zero</a:t>
            </a:r>
            <a:r>
              <a:rPr lang="ru"/>
              <a:t>) - </a:t>
            </a:r>
            <a:r>
              <a:rPr lang="ru"/>
              <a:t>выполняет условный переход на </a:t>
            </a:r>
            <a:endParaRPr/>
          </a:p>
          <a:p>
            <a:pPr indent="0" lvl="0" marL="0" rtl="0" algn="l">
              <a:spcBef>
                <a:spcPts val="800"/>
              </a:spcBef>
              <a:spcAft>
                <a:spcPts val="0"/>
              </a:spcAft>
              <a:buNone/>
            </a:pPr>
            <a:r>
              <a:rPr lang="ru"/>
              <a:t>адрес, указанный в формуле, если результат сравнения показывает, что </a:t>
            </a:r>
            <a:endParaRPr/>
          </a:p>
          <a:p>
            <a:pPr indent="0" lvl="0" marL="0" rtl="0" algn="l">
              <a:spcBef>
                <a:spcPts val="800"/>
              </a:spcBef>
              <a:spcAft>
                <a:spcPts val="0"/>
              </a:spcAft>
              <a:buNone/>
            </a:pPr>
            <a:r>
              <a:rPr lang="ru"/>
              <a:t>одно  значение меньше или равно другому в формате с двумя дополнениями.</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Переход выполняется, если установлен флаг </a:t>
            </a:r>
            <a:r>
              <a:rPr b="1" lang="ru"/>
              <a:t>Z</a:t>
            </a:r>
            <a:r>
              <a:rPr lang="ru"/>
              <a:t> (Zero) или если флаги </a:t>
            </a:r>
            <a:r>
              <a:rPr b="1" lang="ru"/>
              <a:t>N</a:t>
            </a:r>
            <a:r>
              <a:rPr lang="ru"/>
              <a:t> (Negative) и </a:t>
            </a:r>
            <a:r>
              <a:rPr b="1" lang="ru"/>
              <a:t>V</a:t>
            </a:r>
            <a:r>
              <a:rPr lang="ru"/>
              <a:t> </a:t>
            </a:r>
            <a:endParaRPr/>
          </a:p>
          <a:p>
            <a:pPr indent="0" lvl="0" marL="0" rtl="0" algn="l">
              <a:spcBef>
                <a:spcPts val="800"/>
              </a:spcBef>
              <a:spcAft>
                <a:spcPts val="0"/>
              </a:spcAft>
              <a:buNone/>
            </a:pPr>
            <a:r>
              <a:rPr lang="ru"/>
              <a:t>(Overflow) находятся в разных состояниях (один установлен, другой сброшен).</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b="1"/>
          </a:p>
        </p:txBody>
      </p:sp>
      <p:sp>
        <p:nvSpPr>
          <p:cNvPr id="269" name="Google Shape;269;p36"/>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70" name="Google Shape;270;p36"/>
          <p:cNvGraphicFramePr/>
          <p:nvPr/>
        </p:nvGraphicFramePr>
        <p:xfrm>
          <a:off x="414475" y="2916500"/>
          <a:ext cx="3000000" cy="3000000"/>
        </p:xfrm>
        <a:graphic>
          <a:graphicData uri="http://schemas.openxmlformats.org/drawingml/2006/table">
            <a:tbl>
              <a:tblPr>
                <a:noFill/>
                <a:tableStyleId>{3CDD9ACC-51E4-4121-A8ED-26EB5A1B6551}</a:tableStyleId>
              </a:tblPr>
              <a:tblGrid>
                <a:gridCol w="1486225"/>
                <a:gridCol w="769625"/>
                <a:gridCol w="1127925"/>
                <a:gridCol w="1127925"/>
                <a:gridCol w="1127925"/>
                <a:gridCol w="1127925"/>
                <a:gridCol w="112792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Less Than or Equal</a:t>
                      </a:r>
                      <a:endParaRPr b="1"/>
                    </a:p>
                  </a:txBody>
                  <a:tcPr marT="91425" marB="91425" marR="91425" marL="91425"/>
                </a:tc>
                <a:tc>
                  <a:txBody>
                    <a:bodyPr/>
                    <a:lstStyle/>
                    <a:p>
                      <a:pPr indent="0" lvl="0" marL="0" rtl="0" algn="ctr">
                        <a:spcBef>
                          <a:spcPts val="0"/>
                        </a:spcBef>
                        <a:spcAft>
                          <a:spcPts val="0"/>
                        </a:spcAft>
                        <a:buNone/>
                      </a:pPr>
                      <a:r>
                        <a:rPr b="1" lang="ru"/>
                        <a:t>BLE</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Signed ≤</a:t>
                      </a:r>
                      <a:endParaRPr b="1"/>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BLS</a:t>
            </a:r>
            <a:r>
              <a:rPr b="1" lang="ru"/>
              <a:t> </a:t>
            </a:r>
            <a:r>
              <a:rPr lang="ru"/>
              <a:t>(Branch if Less than or Equal to Zero) - выполняет условный переход на </a:t>
            </a:r>
            <a:endParaRPr/>
          </a:p>
          <a:p>
            <a:pPr indent="0" lvl="0" marL="0" rtl="0" algn="l">
              <a:spcBef>
                <a:spcPts val="800"/>
              </a:spcBef>
              <a:spcAft>
                <a:spcPts val="0"/>
              </a:spcAft>
              <a:buNone/>
            </a:pPr>
            <a:r>
              <a:rPr lang="ru"/>
              <a:t>адрес, указанный в формуле, если результат сравнения показывает, что </a:t>
            </a:r>
            <a:endParaRPr/>
          </a:p>
          <a:p>
            <a:pPr indent="0" lvl="0" marL="0" rtl="0" algn="l">
              <a:spcBef>
                <a:spcPts val="800"/>
              </a:spcBef>
              <a:spcAft>
                <a:spcPts val="0"/>
              </a:spcAft>
              <a:buNone/>
            </a:pPr>
            <a:r>
              <a:rPr lang="ru"/>
              <a:t>одно  значение меньше или равно другому в формате с двумя дополнениями.</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Переход выполняется, если установлен флаг </a:t>
            </a:r>
            <a:r>
              <a:rPr b="1" lang="ru"/>
              <a:t>Z</a:t>
            </a:r>
            <a:r>
              <a:rPr lang="ru"/>
              <a:t> (Zero) или если флаги </a:t>
            </a:r>
            <a:r>
              <a:rPr b="1" lang="ru"/>
              <a:t>N</a:t>
            </a:r>
            <a:r>
              <a:rPr lang="ru"/>
              <a:t> (Negative) и </a:t>
            </a:r>
            <a:r>
              <a:rPr b="1" lang="ru"/>
              <a:t>V</a:t>
            </a:r>
            <a:r>
              <a:rPr lang="ru"/>
              <a:t> </a:t>
            </a:r>
            <a:endParaRPr/>
          </a:p>
          <a:p>
            <a:pPr indent="0" lvl="0" marL="0" rtl="0" algn="l">
              <a:spcBef>
                <a:spcPts val="800"/>
              </a:spcBef>
              <a:spcAft>
                <a:spcPts val="0"/>
              </a:spcAft>
              <a:buNone/>
            </a:pPr>
            <a:r>
              <a:rPr lang="ru"/>
              <a:t>(Overflow) находятся в разных состояниях (один установлен, другой сброшен).</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b="1"/>
          </a:p>
        </p:txBody>
      </p:sp>
      <p:sp>
        <p:nvSpPr>
          <p:cNvPr id="276" name="Google Shape;276;p37"/>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77" name="Google Shape;277;p37"/>
          <p:cNvGraphicFramePr/>
          <p:nvPr/>
        </p:nvGraphicFramePr>
        <p:xfrm>
          <a:off x="311713" y="2916500"/>
          <a:ext cx="3000000" cy="3000000"/>
        </p:xfrm>
        <a:graphic>
          <a:graphicData uri="http://schemas.openxmlformats.org/drawingml/2006/table">
            <a:tbl>
              <a:tblPr>
                <a:noFill/>
                <a:tableStyleId>{3CDD9ACC-51E4-4121-A8ED-26EB5A1B6551}</a:tableStyleId>
              </a:tblPr>
              <a:tblGrid>
                <a:gridCol w="1581025"/>
                <a:gridCol w="818725"/>
                <a:gridCol w="1199875"/>
                <a:gridCol w="1199875"/>
                <a:gridCol w="1199875"/>
                <a:gridCol w="1199875"/>
                <a:gridCol w="119987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Lower or Same</a:t>
                      </a:r>
                      <a:endParaRPr b="1"/>
                    </a:p>
                  </a:txBody>
                  <a:tcPr marT="91425" marB="91425" marR="91425" marL="91425"/>
                </a:tc>
                <a:tc>
                  <a:txBody>
                    <a:bodyPr/>
                    <a:lstStyle/>
                    <a:p>
                      <a:pPr indent="0" lvl="0" marL="0" rtl="0" algn="ctr">
                        <a:spcBef>
                          <a:spcPts val="0"/>
                        </a:spcBef>
                        <a:spcAft>
                          <a:spcPts val="0"/>
                        </a:spcAft>
                        <a:buNone/>
                      </a:pPr>
                      <a:r>
                        <a:rPr b="1" lang="ru"/>
                        <a:t>BLS</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Unsigned ≤</a:t>
                      </a:r>
                      <a:endParaRPr b="1"/>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idx="1" type="body"/>
          </p:nvPr>
        </p:nvSpPr>
        <p:spPr>
          <a:xfrm>
            <a:off x="311688" y="357575"/>
            <a:ext cx="8520600" cy="4219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ru"/>
              <a:t>BHI</a:t>
            </a:r>
            <a:r>
              <a:rPr b="1" lang="ru"/>
              <a:t> </a:t>
            </a:r>
            <a:r>
              <a:rPr lang="ru"/>
              <a:t>(Branch if Higher) - </a:t>
            </a:r>
            <a:r>
              <a:rPr lang="ru"/>
              <a:t>выполняет переход, если результат предыдущей </a:t>
            </a:r>
            <a:endParaRPr/>
          </a:p>
          <a:p>
            <a:pPr indent="0" lvl="0" marL="0" rtl="0" algn="l">
              <a:spcBef>
                <a:spcPts val="800"/>
              </a:spcBef>
              <a:spcAft>
                <a:spcPts val="0"/>
              </a:spcAft>
              <a:buNone/>
            </a:pPr>
            <a:r>
              <a:rPr lang="ru"/>
              <a:t>операции был выше, чем сравниваемое значение. Это относится к </a:t>
            </a:r>
            <a:endParaRPr/>
          </a:p>
          <a:p>
            <a:pPr indent="0" lvl="0" marL="0" rtl="0" algn="l">
              <a:spcBef>
                <a:spcPts val="800"/>
              </a:spcBef>
              <a:spcAft>
                <a:spcPts val="0"/>
              </a:spcAft>
              <a:buNone/>
            </a:pPr>
            <a:r>
              <a:rPr lang="ru"/>
              <a:t>unsigned (беззнаковым) числам.</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b="1"/>
          </a:p>
        </p:txBody>
      </p:sp>
      <p:sp>
        <p:nvSpPr>
          <p:cNvPr id="283" name="Google Shape;283;p38"/>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84" name="Google Shape;284;p38"/>
          <p:cNvGraphicFramePr/>
          <p:nvPr/>
        </p:nvGraphicFramePr>
        <p:xfrm>
          <a:off x="311688" y="2068875"/>
          <a:ext cx="3000000" cy="3000000"/>
        </p:xfrm>
        <a:graphic>
          <a:graphicData uri="http://schemas.openxmlformats.org/drawingml/2006/table">
            <a:tbl>
              <a:tblPr>
                <a:noFill/>
                <a:tableStyleId>{3CDD9ACC-51E4-4121-A8ED-26EB5A1B6551}</a:tableStyleId>
              </a:tblPr>
              <a:tblGrid>
                <a:gridCol w="1581025"/>
                <a:gridCol w="818725"/>
                <a:gridCol w="1199875"/>
                <a:gridCol w="1199875"/>
                <a:gridCol w="1199875"/>
                <a:gridCol w="1199875"/>
                <a:gridCol w="1199875"/>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Higher</a:t>
                      </a:r>
                      <a:endParaRPr b="1"/>
                    </a:p>
                  </a:txBody>
                  <a:tcPr marT="91425" marB="91425" marR="91425" marL="91425"/>
                </a:tc>
                <a:tc>
                  <a:txBody>
                    <a:bodyPr/>
                    <a:lstStyle/>
                    <a:p>
                      <a:pPr indent="0" lvl="0" marL="0" rtl="0" algn="ctr">
                        <a:spcBef>
                          <a:spcPts val="0"/>
                        </a:spcBef>
                        <a:spcAft>
                          <a:spcPts val="0"/>
                        </a:spcAft>
                        <a:buNone/>
                      </a:pPr>
                      <a:r>
                        <a:rPr b="1" lang="ru"/>
                        <a:t>BHI</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Unsigned &gt;</a:t>
                      </a:r>
                      <a:endParaRPr b="1"/>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9"/>
          <p:cNvSpPr txBox="1"/>
          <p:nvPr>
            <p:ph idx="1" type="body"/>
          </p:nvPr>
        </p:nvSpPr>
        <p:spPr>
          <a:xfrm>
            <a:off x="311688" y="357575"/>
            <a:ext cx="8520600" cy="4219200"/>
          </a:xfrm>
          <a:prstGeom prst="rect">
            <a:avLst/>
          </a:prstGeom>
        </p:spPr>
        <p:txBody>
          <a:bodyPr anchorCtr="0" anchor="t" bIns="34275" lIns="68575" spcFirstLastPara="1" rIns="68575" wrap="square" tIns="34275">
            <a:normAutofit lnSpcReduction="10000"/>
          </a:bodyPr>
          <a:lstStyle/>
          <a:p>
            <a:pPr indent="0" lvl="0" marL="0" rtl="0" algn="l">
              <a:spcBef>
                <a:spcPts val="800"/>
              </a:spcBef>
              <a:spcAft>
                <a:spcPts val="0"/>
              </a:spcAft>
              <a:buNone/>
            </a:pPr>
            <a:r>
              <a:rPr b="1" lang="ru"/>
              <a:t>BRSET</a:t>
            </a:r>
            <a:r>
              <a:rPr b="1" lang="ru"/>
              <a:t> </a:t>
            </a:r>
            <a:r>
              <a:rPr lang="ru"/>
              <a:t>(</a:t>
            </a:r>
            <a:r>
              <a:rPr lang="ru"/>
              <a:t>Branch if Bit(s) Set</a:t>
            </a:r>
            <a:r>
              <a:rPr lang="ru"/>
              <a:t>) - </a:t>
            </a:r>
            <a:r>
              <a:rPr lang="ru"/>
              <a:t>Выполняет логическую операцию И </a:t>
            </a:r>
            <a:endParaRPr/>
          </a:p>
          <a:p>
            <a:pPr indent="0" lvl="0" marL="0" rtl="0" algn="l">
              <a:spcBef>
                <a:spcPts val="800"/>
              </a:spcBef>
              <a:spcAft>
                <a:spcPts val="0"/>
              </a:spcAft>
              <a:buNone/>
            </a:pPr>
            <a:r>
              <a:rPr lang="ru"/>
              <a:t>(AND) между значением в памяти (M) и маской, заданной в инструкции.</a:t>
            </a:r>
            <a:endParaRPr/>
          </a:p>
          <a:p>
            <a:pPr indent="0" lvl="0" marL="0" rtl="0" algn="l">
              <a:spcBef>
                <a:spcPts val="800"/>
              </a:spcBef>
              <a:spcAft>
                <a:spcPts val="0"/>
              </a:spcAft>
              <a:buNone/>
            </a:pPr>
            <a:r>
              <a:rPr lang="ru"/>
              <a:t>Переход осуществляется, если результат НЕ равен 0, то есть если все биты,</a:t>
            </a:r>
            <a:endParaRPr/>
          </a:p>
          <a:p>
            <a:pPr indent="0" lvl="0" marL="0" rtl="0" algn="l">
              <a:spcBef>
                <a:spcPts val="800"/>
              </a:spcBef>
              <a:spcAft>
                <a:spcPts val="0"/>
              </a:spcAft>
              <a:buNone/>
            </a:pPr>
            <a:r>
              <a:rPr lang="ru"/>
              <a:t>соответствующие 1 в маске, равны 1 в тестируемом байте.</a:t>
            </a:r>
            <a:endParaRPr/>
          </a:p>
          <a:p>
            <a:pPr indent="0" lvl="0" marL="0" rtl="0" algn="l">
              <a:spcBef>
                <a:spcPts val="800"/>
              </a:spcBef>
              <a:spcAft>
                <a:spcPts val="0"/>
              </a:spcAft>
              <a:buNone/>
            </a:pPr>
            <a:r>
              <a:t/>
            </a:r>
            <a:endParaRPr/>
          </a:p>
          <a:p>
            <a:pPr indent="0" lvl="0" marL="0" rtl="0" algn="l">
              <a:spcBef>
                <a:spcPts val="800"/>
              </a:spcBef>
              <a:spcAft>
                <a:spcPts val="0"/>
              </a:spcAft>
              <a:buNone/>
            </a:pPr>
            <a:r>
              <a:rPr b="1" lang="ru"/>
              <a:t>BRCLR</a:t>
            </a:r>
            <a:r>
              <a:rPr lang="ru"/>
              <a:t> (Branch if Bit(s) Clear) - аналогична </a:t>
            </a:r>
            <a:r>
              <a:rPr b="1" lang="ru"/>
              <a:t>BRSET</a:t>
            </a:r>
            <a:r>
              <a:rPr lang="ru"/>
              <a:t>, но переход осуществляется, если </a:t>
            </a:r>
            <a:endParaRPr/>
          </a:p>
          <a:p>
            <a:pPr indent="0" lvl="0" marL="0" rtl="0" algn="l">
              <a:spcBef>
                <a:spcPts val="800"/>
              </a:spcBef>
              <a:spcAft>
                <a:spcPts val="0"/>
              </a:spcAft>
              <a:buNone/>
            </a:pPr>
            <a:r>
              <a:rPr lang="ru"/>
              <a:t>результат равен 0, то есть если все биты, соответствующие 1 в маске, равны 0 в </a:t>
            </a:r>
            <a:endParaRPr/>
          </a:p>
          <a:p>
            <a:pPr indent="0" lvl="0" marL="0" rtl="0" algn="l">
              <a:spcBef>
                <a:spcPts val="800"/>
              </a:spcBef>
              <a:spcAft>
                <a:spcPts val="0"/>
              </a:spcAft>
              <a:buNone/>
            </a:pPr>
            <a:r>
              <a:rPr lang="ru"/>
              <a:t>тестируемом байте.</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b="1"/>
          </a:p>
        </p:txBody>
      </p:sp>
      <p:sp>
        <p:nvSpPr>
          <p:cNvPr id="290" name="Google Shape;290;p39"/>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291" name="Google Shape;291;p39"/>
          <p:cNvGraphicFramePr/>
          <p:nvPr/>
        </p:nvGraphicFramePr>
        <p:xfrm>
          <a:off x="311688" y="2904900"/>
          <a:ext cx="3000000" cy="3000000"/>
        </p:xfrm>
        <a:graphic>
          <a:graphicData uri="http://schemas.openxmlformats.org/drawingml/2006/table">
            <a:tbl>
              <a:tblPr>
                <a:noFill/>
                <a:tableStyleId>{3CDD9ACC-51E4-4121-A8ED-26EB5A1B6551}</a:tableStyleId>
              </a:tblPr>
              <a:tblGrid>
                <a:gridCol w="1581025"/>
                <a:gridCol w="818725"/>
                <a:gridCol w="1199875"/>
                <a:gridCol w="1199875"/>
                <a:gridCol w="1199875"/>
                <a:gridCol w="1048600"/>
                <a:gridCol w="1351150"/>
              </a:tblGrid>
              <a:tr h="381000">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Comments</a:t>
                      </a:r>
                      <a:endParaRPr b="1"/>
                    </a:p>
                  </a:txBody>
                  <a:tcPr marT="91425" marB="91425" marR="91425" marL="91425"/>
                </a:tc>
              </a:tr>
              <a:tr h="381000">
                <a:tc>
                  <a:txBody>
                    <a:bodyPr/>
                    <a:lstStyle/>
                    <a:p>
                      <a:pPr indent="0" lvl="0" marL="0" rtl="0" algn="ctr">
                        <a:spcBef>
                          <a:spcPts val="0"/>
                        </a:spcBef>
                        <a:spcAft>
                          <a:spcPts val="0"/>
                        </a:spcAft>
                        <a:buNone/>
                      </a:pPr>
                      <a:r>
                        <a:rPr b="1" lang="ru"/>
                        <a:t>Branch if Bit(s) Set</a:t>
                      </a:r>
                      <a:endParaRPr b="1"/>
                    </a:p>
                  </a:txBody>
                  <a:tcPr marT="91425" marB="91425" marR="91425" marL="91425"/>
                </a:tc>
                <a:tc>
                  <a:txBody>
                    <a:bodyPr/>
                    <a:lstStyle/>
                    <a:p>
                      <a:pPr indent="0" lvl="0" marL="0" rtl="0" algn="l">
                        <a:spcBef>
                          <a:spcPts val="800"/>
                        </a:spcBef>
                        <a:spcAft>
                          <a:spcPts val="0"/>
                        </a:spcAft>
                        <a:buNone/>
                      </a:pPr>
                      <a:r>
                        <a:rPr b="1" lang="ru" sz="1500">
                          <a:solidFill>
                            <a:schemeClr val="lt1"/>
                          </a:solidFill>
                          <a:latin typeface="Century Gothic"/>
                          <a:ea typeface="Century Gothic"/>
                          <a:cs typeface="Century Gothic"/>
                          <a:sym typeface="Century Gothic"/>
                        </a:rPr>
                        <a:t>BRSET</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Bit</a:t>
                      </a:r>
                      <a:endParaRPr b="1"/>
                    </a:p>
                    <a:p>
                      <a:pPr indent="0" lvl="0" marL="0" rtl="0" algn="ctr">
                        <a:spcBef>
                          <a:spcPts val="0"/>
                        </a:spcBef>
                        <a:spcAft>
                          <a:spcPts val="0"/>
                        </a:spcAft>
                        <a:buNone/>
                      </a:pPr>
                      <a:r>
                        <a:rPr b="1" lang="ru"/>
                        <a:t>Manipulation</a:t>
                      </a:r>
                      <a:endParaRPr b="1"/>
                    </a:p>
                    <a:p>
                      <a:pPr indent="0" lvl="0" marL="0" rtl="0" algn="ctr">
                        <a:spcBef>
                          <a:spcPts val="0"/>
                        </a:spcBef>
                        <a:spcAft>
                          <a:spcPts val="0"/>
                        </a:spcAft>
                        <a:buNone/>
                      </a:pPr>
                      <a:r>
                        <a:t/>
                      </a:r>
                      <a:endParaRPr b="1"/>
                    </a:p>
                  </a:txBody>
                  <a:tcPr marT="91425" marB="91425" marR="91425" marL="91425"/>
                </a:tc>
              </a:tr>
              <a:tr h="381000">
                <a:tc>
                  <a:txBody>
                    <a:bodyPr/>
                    <a:lstStyle/>
                    <a:p>
                      <a:pPr indent="0" lvl="0" marL="0" rtl="0" algn="ctr">
                        <a:spcBef>
                          <a:spcPts val="0"/>
                        </a:spcBef>
                        <a:spcAft>
                          <a:spcPts val="0"/>
                        </a:spcAft>
                        <a:buNone/>
                      </a:pPr>
                      <a:r>
                        <a:rPr b="1" lang="ru"/>
                        <a:t>Branch if Bit(s) Clear</a:t>
                      </a:r>
                      <a:endParaRPr b="1"/>
                    </a:p>
                  </a:txBody>
                  <a:tcPr marT="91425" marB="91425" marR="91425" marL="91425"/>
                </a:tc>
                <a:tc>
                  <a:txBody>
                    <a:bodyPr/>
                    <a:lstStyle/>
                    <a:p>
                      <a:pPr indent="0" lvl="0" marL="0" rtl="0" algn="l">
                        <a:spcBef>
                          <a:spcPts val="800"/>
                        </a:spcBef>
                        <a:spcAft>
                          <a:spcPts val="0"/>
                        </a:spcAft>
                        <a:buNone/>
                      </a:pPr>
                      <a:r>
                        <a:rPr b="1" lang="ru" sz="1500">
                          <a:solidFill>
                            <a:schemeClr val="lt1"/>
                          </a:solidFill>
                          <a:latin typeface="Century Gothic"/>
                          <a:ea typeface="Century Gothic"/>
                          <a:cs typeface="Century Gothic"/>
                          <a:sym typeface="Century Gothic"/>
                        </a:rPr>
                        <a:t>BRCLR</a:t>
                      </a:r>
                      <a:endParaRPr b="1" sz="1500">
                        <a:solidFill>
                          <a:schemeClr val="lt1"/>
                        </a:solidFill>
                        <a:latin typeface="Century Gothic"/>
                        <a:ea typeface="Century Gothic"/>
                        <a:cs typeface="Century Gothic"/>
                        <a:sym typeface="Century Gothic"/>
                      </a:endParaRPr>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Bit</a:t>
                      </a:r>
                      <a:endParaRPr b="1"/>
                    </a:p>
                    <a:p>
                      <a:pPr indent="0" lvl="0" marL="0" rtl="0" algn="ctr">
                        <a:spcBef>
                          <a:spcPts val="0"/>
                        </a:spcBef>
                        <a:spcAft>
                          <a:spcPts val="0"/>
                        </a:spcAft>
                        <a:buNone/>
                      </a:pPr>
                      <a:r>
                        <a:rPr b="1" lang="ru"/>
                        <a:t>Manipulation</a:t>
                      </a:r>
                      <a:endParaRPr b="1"/>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idx="1" type="body"/>
          </p:nvPr>
        </p:nvSpPr>
        <p:spPr>
          <a:xfrm>
            <a:off x="2007000" y="118750"/>
            <a:ext cx="5994600" cy="4984200"/>
          </a:xfrm>
          <a:prstGeom prst="rect">
            <a:avLst/>
          </a:prstGeom>
        </p:spPr>
        <p:txBody>
          <a:bodyPr anchorCtr="0" anchor="t" bIns="34275" lIns="68575" spcFirstLastPara="1" rIns="68575" wrap="square" tIns="34275">
            <a:noAutofit/>
          </a:bodyPr>
          <a:lstStyle/>
          <a:p>
            <a:pPr indent="0" lvl="0" marL="0" rtl="0" algn="l">
              <a:lnSpc>
                <a:spcPct val="90000"/>
              </a:lnSpc>
              <a:spcBef>
                <a:spcPts val="800"/>
              </a:spcBef>
              <a:spcAft>
                <a:spcPts val="0"/>
              </a:spcAft>
              <a:buNone/>
            </a:pPr>
            <a:r>
              <a:rPr b="1" lang="ru" sz="900">
                <a:solidFill>
                  <a:srgbClr val="0000FF"/>
                </a:solidFill>
              </a:rPr>
              <a:t>org $8000       </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ldaa $8200      </a:t>
            </a:r>
            <a:r>
              <a:rPr b="1" lang="ru" sz="900">
                <a:solidFill>
                  <a:srgbClr val="0000FF"/>
                </a:solidFill>
              </a:rPr>
              <a:t> </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ldab $82ff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ldx #$8200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ldy #$0         </a:t>
            </a:r>
            <a:endParaRPr b="1" sz="900">
              <a:solidFill>
                <a:srgbClr val="0000FF"/>
              </a:solidFill>
            </a:endParaRPr>
          </a:p>
          <a:p>
            <a:pPr indent="0" lvl="0" marL="0" rtl="0" algn="l">
              <a:lnSpc>
                <a:spcPct val="90000"/>
              </a:lnSpc>
              <a:spcBef>
                <a:spcPts val="800"/>
              </a:spcBef>
              <a:spcAft>
                <a:spcPts val="0"/>
              </a:spcAft>
              <a:buNone/>
            </a:pPr>
            <a: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step1 staa $8300      </a:t>
            </a:r>
            <a:r>
              <a:rPr b="1" lang="ru" sz="900">
                <a:solidFill>
                  <a:srgbClr val="188038"/>
                </a:solidFill>
              </a:rPr>
              <a:t>; Сохранить значение из аккумулятора A по адресу $8300</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asr $8300         </a:t>
            </a:r>
            <a:r>
              <a:rPr b="1" lang="ru" sz="900">
                <a:solidFill>
                  <a:srgbClr val="188038"/>
                </a:solidFill>
              </a:rPr>
              <a:t>; Арифметический сдвиг вправо значения по адресу $8300</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asl $8300         </a:t>
            </a:r>
            <a:r>
              <a:rPr b="1" lang="ru" sz="900">
                <a:solidFill>
                  <a:srgbClr val="188038"/>
                </a:solidFill>
              </a:rPr>
              <a:t>; Арифметический сдвиг влево значения по адресу $8300</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cmpa $8300   </a:t>
            </a:r>
            <a:r>
              <a:rPr b="1" lang="ru" sz="900">
                <a:solidFill>
                  <a:srgbClr val="188038"/>
                </a:solidFill>
              </a:rPr>
              <a:t>; Сравнить значение в аккумуляторе A с содержимым по адресу $8300</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bne increase  </a:t>
            </a:r>
            <a:r>
              <a:rPr b="1" lang="ru" sz="900">
                <a:solidFill>
                  <a:srgbClr val="188038"/>
                </a:solidFill>
              </a:rPr>
              <a:t>; Если значения не равны, перейти к метке increase</a:t>
            </a:r>
            <a:endParaRPr b="1" sz="900">
              <a:solidFill>
                <a:srgbClr val="188038"/>
              </a:solidFill>
            </a:endParaRPr>
          </a:p>
          <a:p>
            <a:pPr indent="0" lvl="0" marL="0" rtl="0" algn="l">
              <a:lnSpc>
                <a:spcPct val="90000"/>
              </a:lnSpc>
              <a:spcBef>
                <a:spcPts val="800"/>
              </a:spcBef>
              <a:spcAft>
                <a:spcPts val="0"/>
              </a:spcAft>
              <a:buNone/>
            </a:pPr>
            <a: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point inx                    </a:t>
            </a:r>
            <a:r>
              <a:rPr b="1" lang="ru" sz="900">
                <a:solidFill>
                  <a:srgbClr val="188038"/>
                </a:solidFill>
              </a:rPr>
              <a:t>; Увеличить регистр X</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ldaa 0,x           </a:t>
            </a:r>
            <a:r>
              <a:rPr b="1" lang="ru" sz="900">
                <a:solidFill>
                  <a:srgbClr val="188038"/>
                </a:solidFill>
              </a:rPr>
              <a:t>; Загрузить в аккумулятор A значение из памяти по адресу в X</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cpx #$8300     </a:t>
            </a:r>
            <a:r>
              <a:rPr b="1" lang="ru" sz="900">
                <a:solidFill>
                  <a:srgbClr val="188038"/>
                </a:solidFill>
              </a:rPr>
              <a:t>; Сравнить регистр X с адресом $8300</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bne step1  </a:t>
            </a:r>
            <a:r>
              <a:rPr b="1" lang="ru" sz="900">
                <a:solidFill>
                  <a:srgbClr val="188038"/>
                </a:solidFill>
              </a:rPr>
              <a:t>      ; Если не равно, перейти к метке step1</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beq end    </a:t>
            </a:r>
            <a:r>
              <a:rPr b="1" lang="ru" sz="900">
                <a:solidFill>
                  <a:srgbClr val="188038"/>
                </a:solidFill>
              </a:rPr>
              <a:t>      ; Если равно, перейти к метке end</a:t>
            </a:r>
            <a:endParaRPr b="1" sz="900">
              <a:solidFill>
                <a:srgbClr val="188038"/>
              </a:solidFill>
            </a:endParaRPr>
          </a:p>
          <a:p>
            <a:pPr indent="0" lvl="0" marL="0" rtl="0" algn="l">
              <a:lnSpc>
                <a:spcPct val="90000"/>
              </a:lnSpc>
              <a:spcBef>
                <a:spcPts val="800"/>
              </a:spcBef>
              <a:spcAft>
                <a:spcPts val="0"/>
              </a:spcAft>
              <a:buNone/>
            </a:pPr>
            <a: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increase iny     </a:t>
            </a:r>
            <a:r>
              <a:rPr b="1" lang="ru" sz="900">
                <a:solidFill>
                  <a:srgbClr val="188038"/>
                </a:solidFill>
              </a:rPr>
              <a:t>        ; Увеличить регистр Y</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jmp point         </a:t>
            </a:r>
            <a:r>
              <a:rPr b="1" lang="ru" sz="900">
                <a:solidFill>
                  <a:srgbClr val="188038"/>
                </a:solidFill>
              </a:rPr>
              <a:t>; Перейти к метке point</a:t>
            </a:r>
            <a:endParaRPr b="1" sz="900">
              <a:solidFill>
                <a:srgbClr val="188038"/>
              </a:solidFill>
            </a:endParaRPr>
          </a:p>
          <a:p>
            <a:pPr indent="0" lvl="0" marL="0" rtl="0" algn="l">
              <a:lnSpc>
                <a:spcPct val="90000"/>
              </a:lnSpc>
              <a:spcBef>
                <a:spcPts val="800"/>
              </a:spcBef>
              <a:spcAft>
                <a:spcPts val="0"/>
              </a:spcAft>
              <a:buNone/>
            </a:pPr>
            <a: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end                            </a:t>
            </a:r>
            <a:r>
              <a:rPr b="1" lang="ru" sz="900">
                <a:solidFill>
                  <a:srgbClr val="188038"/>
                </a:solidFill>
              </a:rPr>
              <a:t>; Конец программы</a:t>
            </a:r>
            <a:endParaRPr b="1" sz="900">
              <a:solidFill>
                <a:srgbClr val="188038"/>
              </a:solidFill>
            </a:endParaRPr>
          </a:p>
          <a:p>
            <a:pPr indent="0" lvl="0" marL="0" rtl="0" algn="l">
              <a:lnSpc>
                <a:spcPct val="90000"/>
              </a:lnSpc>
              <a:spcBef>
                <a:spcPts val="800"/>
              </a:spcBef>
              <a:spcAft>
                <a:spcPts val="0"/>
              </a:spcAft>
              <a:buNone/>
            </a:pPr>
            <a:r>
              <a:t/>
            </a:r>
            <a:endParaRPr b="1" sz="900">
              <a:solidFill>
                <a:srgbClr val="0000FF"/>
              </a:solidFill>
            </a:endParaRPr>
          </a:p>
        </p:txBody>
      </p:sp>
      <p:sp>
        <p:nvSpPr>
          <p:cNvPr id="297" name="Google Shape;297;p40"/>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idx="1" type="body"/>
          </p:nvPr>
        </p:nvSpPr>
        <p:spPr>
          <a:xfrm>
            <a:off x="311700" y="378025"/>
            <a:ext cx="8341200" cy="393600"/>
          </a:xfrm>
          <a:prstGeom prst="rect">
            <a:avLst/>
          </a:prstGeom>
        </p:spPr>
        <p:txBody>
          <a:bodyPr anchorCtr="0" anchor="t" bIns="34275" lIns="68575" spcFirstLastPara="1" rIns="68575" wrap="square" tIns="34275">
            <a:normAutofit/>
          </a:bodyPr>
          <a:lstStyle/>
          <a:p>
            <a:pPr indent="0" lvl="0" marL="0" rtl="0" algn="ctr">
              <a:spcBef>
                <a:spcPts val="800"/>
              </a:spcBef>
              <a:spcAft>
                <a:spcPts val="0"/>
              </a:spcAft>
              <a:buNone/>
            </a:pPr>
            <a:r>
              <a:rPr b="1" lang="ru"/>
              <a:t>Инструкции ветвлений:</a:t>
            </a:r>
            <a:endParaRPr b="1"/>
          </a:p>
        </p:txBody>
      </p:sp>
      <p:sp>
        <p:nvSpPr>
          <p:cNvPr id="303" name="Google Shape;303;p41"/>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pic>
        <p:nvPicPr>
          <p:cNvPr id="304" name="Google Shape;304;p41"/>
          <p:cNvPicPr preferRelativeResize="0"/>
          <p:nvPr/>
        </p:nvPicPr>
        <p:blipFill>
          <a:blip r:embed="rId3">
            <a:alphaModFix/>
          </a:blip>
          <a:stretch>
            <a:fillRect/>
          </a:stretch>
        </p:blipFill>
        <p:spPr>
          <a:xfrm>
            <a:off x="59325" y="907850"/>
            <a:ext cx="8869700" cy="3916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2"/>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Команды работы с подпрограммами </a:t>
            </a:r>
            <a:endParaRPr b="1" sz="2650"/>
          </a:p>
        </p:txBody>
      </p:sp>
      <p:sp>
        <p:nvSpPr>
          <p:cNvPr id="310" name="Google Shape;310;p42"/>
          <p:cNvSpPr txBox="1"/>
          <p:nvPr>
            <p:ph idx="1" type="body"/>
          </p:nvPr>
        </p:nvSpPr>
        <p:spPr>
          <a:xfrm>
            <a:off x="337800" y="1342950"/>
            <a:ext cx="8468400" cy="3672900"/>
          </a:xfrm>
          <a:prstGeom prst="rect">
            <a:avLst/>
          </a:prstGeom>
        </p:spPr>
        <p:txBody>
          <a:bodyPr anchorCtr="0" anchor="t" bIns="34275" lIns="68575" spcFirstLastPara="1" rIns="68575" wrap="square" tIns="34275">
            <a:normAutofit fontScale="85000" lnSpcReduction="20000"/>
          </a:bodyPr>
          <a:lstStyle/>
          <a:p>
            <a:pPr indent="0" lvl="0" marL="0" rtl="0" algn="l">
              <a:spcBef>
                <a:spcPts val="800"/>
              </a:spcBef>
              <a:spcAft>
                <a:spcPts val="0"/>
              </a:spcAft>
              <a:buNone/>
            </a:pPr>
            <a:r>
              <a:rPr b="1" lang="ru"/>
              <a:t>Подпрограмма (Subroutine) - </a:t>
            </a:r>
            <a:r>
              <a:rPr lang="ru"/>
              <a:t>это блок кода, который выполняет определенную задачу и может </a:t>
            </a:r>
            <a:endParaRPr/>
          </a:p>
          <a:p>
            <a:pPr indent="0" lvl="0" marL="0" rtl="0" algn="l">
              <a:spcBef>
                <a:spcPts val="800"/>
              </a:spcBef>
              <a:spcAft>
                <a:spcPts val="0"/>
              </a:spcAft>
              <a:buNone/>
            </a:pPr>
            <a:r>
              <a:rPr lang="ru"/>
              <a:t>быть вызван из разных частей программы.Позволяет использовать один и тот же код в </a:t>
            </a:r>
            <a:endParaRPr/>
          </a:p>
          <a:p>
            <a:pPr indent="0" lvl="0" marL="0" rtl="0" algn="l">
              <a:spcBef>
                <a:spcPts val="800"/>
              </a:spcBef>
              <a:spcAft>
                <a:spcPts val="0"/>
              </a:spcAft>
              <a:buNone/>
            </a:pPr>
            <a:r>
              <a:rPr lang="ru"/>
              <a:t>нескольких местах программы без дублирования.</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Как работает подпрограмма:</a:t>
            </a:r>
            <a:endParaRPr/>
          </a:p>
          <a:p>
            <a:pPr indent="0" lvl="0" marL="0" rtl="0" algn="l">
              <a:spcBef>
                <a:spcPts val="800"/>
              </a:spcBef>
              <a:spcAft>
                <a:spcPts val="0"/>
              </a:spcAft>
              <a:buNone/>
            </a:pPr>
            <a:r>
              <a:rPr b="1" lang="ru"/>
              <a:t>- </a:t>
            </a:r>
            <a:r>
              <a:rPr b="1" lang="ru"/>
              <a:t>Вызов</a:t>
            </a:r>
            <a:r>
              <a:rPr lang="ru"/>
              <a:t>:</a:t>
            </a:r>
            <a:endParaRPr/>
          </a:p>
          <a:p>
            <a:pPr indent="0" lvl="0" marL="0" rtl="0" algn="l">
              <a:spcBef>
                <a:spcPts val="800"/>
              </a:spcBef>
              <a:spcAft>
                <a:spcPts val="0"/>
              </a:spcAft>
              <a:buNone/>
            </a:pPr>
            <a:r>
              <a:rPr lang="ru"/>
              <a:t>Программа выполняет команду вызова подпрограммы (</a:t>
            </a:r>
            <a:r>
              <a:rPr b="1" lang="ru"/>
              <a:t>JSR</a:t>
            </a:r>
            <a:r>
              <a:rPr lang="ru"/>
              <a:t>, </a:t>
            </a:r>
            <a:r>
              <a:rPr b="1" lang="ru"/>
              <a:t>BSR</a:t>
            </a:r>
            <a:r>
              <a:rPr lang="ru"/>
              <a:t>), в стеке сохраняется адрес </a:t>
            </a:r>
            <a:endParaRPr/>
          </a:p>
          <a:p>
            <a:pPr indent="0" lvl="0" marL="0" rtl="0" algn="l">
              <a:spcBef>
                <a:spcPts val="800"/>
              </a:spcBef>
              <a:spcAft>
                <a:spcPts val="0"/>
              </a:spcAft>
              <a:buNone/>
            </a:pPr>
            <a:r>
              <a:rPr lang="ru"/>
              <a:t>следующей за текущей </a:t>
            </a:r>
            <a:endParaRPr/>
          </a:p>
          <a:p>
            <a:pPr indent="0" lvl="0" marL="0" rtl="0" algn="l">
              <a:spcBef>
                <a:spcPts val="800"/>
              </a:spcBef>
              <a:spcAft>
                <a:spcPts val="0"/>
              </a:spcAft>
              <a:buNone/>
            </a:pPr>
            <a:r>
              <a:rPr lang="ru"/>
              <a:t>команды.</a:t>
            </a:r>
            <a:endParaRPr/>
          </a:p>
          <a:p>
            <a:pPr indent="0" lvl="0" marL="0" rtl="0" algn="l">
              <a:spcBef>
                <a:spcPts val="800"/>
              </a:spcBef>
              <a:spcAft>
                <a:spcPts val="0"/>
              </a:spcAft>
              <a:buNone/>
            </a:pPr>
            <a:r>
              <a:rPr b="1" lang="ru"/>
              <a:t>- </a:t>
            </a:r>
            <a:r>
              <a:rPr b="1" lang="ru"/>
              <a:t>Выполнение</a:t>
            </a:r>
            <a:r>
              <a:rPr lang="ru"/>
              <a:t>:</a:t>
            </a:r>
            <a:endParaRPr/>
          </a:p>
          <a:p>
            <a:pPr indent="0" lvl="0" marL="0" rtl="0" algn="l">
              <a:spcBef>
                <a:spcPts val="800"/>
              </a:spcBef>
              <a:spcAft>
                <a:spcPts val="0"/>
              </a:spcAft>
              <a:buNone/>
            </a:pPr>
            <a:r>
              <a:rPr lang="ru"/>
              <a:t>Подпрограмма выполняет свои инструкции.</a:t>
            </a:r>
            <a:endParaRPr/>
          </a:p>
          <a:p>
            <a:pPr indent="0" lvl="0" marL="0" rtl="0" algn="l">
              <a:spcBef>
                <a:spcPts val="800"/>
              </a:spcBef>
              <a:spcAft>
                <a:spcPts val="0"/>
              </a:spcAft>
              <a:buNone/>
            </a:pPr>
            <a:r>
              <a:rPr b="1" lang="ru"/>
              <a:t>- </a:t>
            </a:r>
            <a:r>
              <a:rPr b="1" lang="ru"/>
              <a:t>Возврат</a:t>
            </a:r>
            <a:r>
              <a:rPr lang="ru"/>
              <a:t>:</a:t>
            </a:r>
            <a:endParaRPr/>
          </a:p>
          <a:p>
            <a:pPr indent="0" lvl="0" marL="0" rtl="0" algn="l">
              <a:spcBef>
                <a:spcPts val="800"/>
              </a:spcBef>
              <a:spcAft>
                <a:spcPts val="0"/>
              </a:spcAft>
              <a:buNone/>
            </a:pPr>
            <a:r>
              <a:rPr lang="ru"/>
              <a:t>При выходе из подпрограммы по команде </a:t>
            </a:r>
            <a:r>
              <a:rPr b="1" lang="ru"/>
              <a:t>RTS</a:t>
            </a:r>
            <a:r>
              <a:rPr lang="ru"/>
              <a:t> происходит выборка из стека адреса</a:t>
            </a:r>
            <a:endParaRPr/>
          </a:p>
          <a:p>
            <a:pPr indent="0" lvl="0" marL="0" rtl="0" algn="l">
              <a:spcBef>
                <a:spcPts val="800"/>
              </a:spcBef>
              <a:spcAft>
                <a:spcPts val="0"/>
              </a:spcAft>
              <a:buNone/>
            </a:pPr>
            <a:r>
              <a:rPr lang="ru"/>
              <a:t>возврата.</a:t>
            </a:r>
            <a:endParaRPr/>
          </a:p>
        </p:txBody>
      </p:sp>
      <p:sp>
        <p:nvSpPr>
          <p:cNvPr id="311" name="Google Shape;311;p42"/>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3"/>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pic>
        <p:nvPicPr>
          <p:cNvPr id="317" name="Google Shape;317;p43"/>
          <p:cNvPicPr preferRelativeResize="0"/>
          <p:nvPr/>
        </p:nvPicPr>
        <p:blipFill>
          <a:blip r:embed="rId3">
            <a:alphaModFix/>
          </a:blip>
          <a:stretch>
            <a:fillRect/>
          </a:stretch>
        </p:blipFill>
        <p:spPr>
          <a:xfrm>
            <a:off x="1336800" y="432575"/>
            <a:ext cx="6374324" cy="4519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4"/>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graphicFrame>
        <p:nvGraphicFramePr>
          <p:cNvPr id="323" name="Google Shape;323;p44"/>
          <p:cNvGraphicFramePr/>
          <p:nvPr/>
        </p:nvGraphicFramePr>
        <p:xfrm>
          <a:off x="801813" y="1621100"/>
          <a:ext cx="3000000" cy="3000000"/>
        </p:xfrm>
        <a:graphic>
          <a:graphicData uri="http://schemas.openxmlformats.org/drawingml/2006/table">
            <a:tbl>
              <a:tblPr>
                <a:noFill/>
                <a:tableStyleId>{3CDD9ACC-51E4-4121-A8ED-26EB5A1B6551}</a:tableStyleId>
              </a:tblPr>
              <a:tblGrid>
                <a:gridCol w="1586225"/>
                <a:gridCol w="966025"/>
                <a:gridCol w="582200"/>
                <a:gridCol w="749075"/>
                <a:gridCol w="828150"/>
                <a:gridCol w="995050"/>
                <a:gridCol w="973900"/>
                <a:gridCol w="859725"/>
              </a:tblGrid>
              <a:tr h="706875">
                <a:tc>
                  <a:txBody>
                    <a:bodyPr/>
                    <a:lstStyle/>
                    <a:p>
                      <a:pPr indent="0" lvl="0" marL="0" rtl="0" algn="ctr">
                        <a:spcBef>
                          <a:spcPts val="0"/>
                        </a:spcBef>
                        <a:spcAft>
                          <a:spcPts val="0"/>
                        </a:spcAft>
                        <a:buNone/>
                      </a:pPr>
                      <a:r>
                        <a:rPr b="1" lang="ru"/>
                        <a:t>Function</a:t>
                      </a:r>
                      <a:endParaRPr b="1"/>
                    </a:p>
                  </a:txBody>
                  <a:tcPr marT="91425" marB="91425" marR="91425" marL="91425"/>
                </a:tc>
                <a:tc>
                  <a:txBody>
                    <a:bodyPr/>
                    <a:lstStyle/>
                    <a:p>
                      <a:pPr indent="0" lvl="0" marL="0" rtl="0" algn="ctr">
                        <a:spcBef>
                          <a:spcPts val="0"/>
                        </a:spcBef>
                        <a:spcAft>
                          <a:spcPts val="0"/>
                        </a:spcAft>
                        <a:buNone/>
                      </a:pPr>
                      <a:r>
                        <a:rPr b="1" lang="ru"/>
                        <a:t>Mnemonic</a:t>
                      </a:r>
                      <a:endParaRPr b="1"/>
                    </a:p>
                  </a:txBody>
                  <a:tcPr marT="91425" marB="91425" marR="91425" marL="91425"/>
                </a:tc>
                <a:tc>
                  <a:txBody>
                    <a:bodyPr/>
                    <a:lstStyle/>
                    <a:p>
                      <a:pPr indent="0" lvl="0" marL="0" rtl="0" algn="ctr">
                        <a:spcBef>
                          <a:spcPts val="0"/>
                        </a:spcBef>
                        <a:spcAft>
                          <a:spcPts val="0"/>
                        </a:spcAft>
                        <a:buNone/>
                      </a:pPr>
                      <a:r>
                        <a:rPr b="1" lang="ru"/>
                        <a:t>REL</a:t>
                      </a:r>
                      <a:endParaRPr b="1"/>
                    </a:p>
                  </a:txBody>
                  <a:tcPr marT="91425" marB="91425" marR="91425" marL="91425"/>
                </a:tc>
                <a:tc>
                  <a:txBody>
                    <a:bodyPr/>
                    <a:lstStyle/>
                    <a:p>
                      <a:pPr indent="0" lvl="0" marL="0" rtl="0" algn="ctr">
                        <a:spcBef>
                          <a:spcPts val="0"/>
                        </a:spcBef>
                        <a:spcAft>
                          <a:spcPts val="0"/>
                        </a:spcAft>
                        <a:buNone/>
                      </a:pPr>
                      <a:r>
                        <a:rPr b="1" lang="ru"/>
                        <a:t>DIR</a:t>
                      </a:r>
                      <a:endParaRPr b="1"/>
                    </a:p>
                  </a:txBody>
                  <a:tcPr marT="91425" marB="91425" marR="91425" marL="91425"/>
                </a:tc>
                <a:tc>
                  <a:txBody>
                    <a:bodyPr/>
                    <a:lstStyle/>
                    <a:p>
                      <a:pPr indent="0" lvl="0" marL="0" rtl="0" algn="ctr">
                        <a:spcBef>
                          <a:spcPts val="0"/>
                        </a:spcBef>
                        <a:spcAft>
                          <a:spcPts val="0"/>
                        </a:spcAft>
                        <a:buNone/>
                      </a:pPr>
                      <a:r>
                        <a:rPr b="1" lang="ru"/>
                        <a:t>EXT</a:t>
                      </a:r>
                      <a:endParaRPr b="1"/>
                    </a:p>
                  </a:txBody>
                  <a:tcPr marT="91425" marB="91425" marR="91425" marL="91425"/>
                </a:tc>
                <a:tc>
                  <a:txBody>
                    <a:bodyPr/>
                    <a:lstStyle/>
                    <a:p>
                      <a:pPr indent="0" lvl="0" marL="0" rtl="0" algn="ctr">
                        <a:spcBef>
                          <a:spcPts val="0"/>
                        </a:spcBef>
                        <a:spcAft>
                          <a:spcPts val="0"/>
                        </a:spcAft>
                        <a:buNone/>
                      </a:pPr>
                      <a:r>
                        <a:rPr b="1" lang="ru"/>
                        <a:t>INDX</a:t>
                      </a:r>
                      <a:endParaRPr b="1"/>
                    </a:p>
                  </a:txBody>
                  <a:tcPr marT="91425" marB="91425" marR="91425" marL="91425"/>
                </a:tc>
                <a:tc>
                  <a:txBody>
                    <a:bodyPr/>
                    <a:lstStyle/>
                    <a:p>
                      <a:pPr indent="0" lvl="0" marL="0" rtl="0" algn="ctr">
                        <a:spcBef>
                          <a:spcPts val="0"/>
                        </a:spcBef>
                        <a:spcAft>
                          <a:spcPts val="0"/>
                        </a:spcAft>
                        <a:buNone/>
                      </a:pPr>
                      <a:r>
                        <a:rPr b="1" lang="ru"/>
                        <a:t>INDY</a:t>
                      </a:r>
                      <a:endParaRPr b="1"/>
                    </a:p>
                  </a:txBody>
                  <a:tcPr marT="91425" marB="91425" marR="91425" marL="91425"/>
                </a:tc>
                <a:tc>
                  <a:txBody>
                    <a:bodyPr/>
                    <a:lstStyle/>
                    <a:p>
                      <a:pPr indent="0" lvl="0" marL="0" rtl="0" algn="ctr">
                        <a:spcBef>
                          <a:spcPts val="0"/>
                        </a:spcBef>
                        <a:spcAft>
                          <a:spcPts val="0"/>
                        </a:spcAft>
                        <a:buNone/>
                      </a:pPr>
                      <a:r>
                        <a:rPr b="1" lang="ru"/>
                        <a:t>INH</a:t>
                      </a:r>
                      <a:endParaRPr b="1"/>
                    </a:p>
                  </a:txBody>
                  <a:tcPr marT="91425" marB="91425" marR="91425" marL="91425"/>
                </a:tc>
              </a:tr>
              <a:tr h="706875">
                <a:tc>
                  <a:txBody>
                    <a:bodyPr/>
                    <a:lstStyle/>
                    <a:p>
                      <a:pPr indent="0" lvl="0" marL="0" rtl="0" algn="ctr">
                        <a:spcBef>
                          <a:spcPts val="0"/>
                        </a:spcBef>
                        <a:spcAft>
                          <a:spcPts val="0"/>
                        </a:spcAft>
                        <a:buNone/>
                      </a:pPr>
                      <a:r>
                        <a:rPr b="1" lang="ru"/>
                        <a:t>Branch to Subroutine</a:t>
                      </a:r>
                      <a:endParaRPr b="1"/>
                    </a:p>
                  </a:txBody>
                  <a:tcPr marT="91425" marB="91425" marR="91425" marL="91425"/>
                </a:tc>
                <a:tc>
                  <a:txBody>
                    <a:bodyPr/>
                    <a:lstStyle/>
                    <a:p>
                      <a:pPr indent="0" lvl="0" marL="0" rtl="0" algn="ctr">
                        <a:spcBef>
                          <a:spcPts val="800"/>
                        </a:spcBef>
                        <a:spcAft>
                          <a:spcPts val="0"/>
                        </a:spcAft>
                        <a:buNone/>
                      </a:pPr>
                      <a:r>
                        <a:rPr b="1" lang="ru" sz="1500">
                          <a:solidFill>
                            <a:schemeClr val="lt1"/>
                          </a:solidFill>
                          <a:latin typeface="Century Gothic"/>
                          <a:ea typeface="Century Gothic"/>
                          <a:cs typeface="Century Gothic"/>
                          <a:sym typeface="Century Gothic"/>
                        </a:rPr>
                        <a:t>BSR</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r>
              <a:tr h="706875">
                <a:tc>
                  <a:txBody>
                    <a:bodyPr/>
                    <a:lstStyle/>
                    <a:p>
                      <a:pPr indent="0" lvl="0" marL="0" rtl="0" algn="ctr">
                        <a:spcBef>
                          <a:spcPts val="0"/>
                        </a:spcBef>
                        <a:spcAft>
                          <a:spcPts val="0"/>
                        </a:spcAft>
                        <a:buNone/>
                      </a:pPr>
                      <a:r>
                        <a:rPr b="1" lang="ru"/>
                        <a:t>Jump to Subroutine</a:t>
                      </a:r>
                      <a:endParaRPr b="1"/>
                    </a:p>
                  </a:txBody>
                  <a:tcPr marT="91425" marB="91425" marR="91425" marL="91425"/>
                </a:tc>
                <a:tc>
                  <a:txBody>
                    <a:bodyPr/>
                    <a:lstStyle/>
                    <a:p>
                      <a:pPr indent="0" lvl="0" marL="0" rtl="0" algn="ctr">
                        <a:spcBef>
                          <a:spcPts val="800"/>
                        </a:spcBef>
                        <a:spcAft>
                          <a:spcPts val="0"/>
                        </a:spcAft>
                        <a:buNone/>
                      </a:pPr>
                      <a:r>
                        <a:rPr b="1" lang="ru" sz="1500">
                          <a:solidFill>
                            <a:schemeClr val="lt1"/>
                          </a:solidFill>
                          <a:latin typeface="Century Gothic"/>
                          <a:ea typeface="Century Gothic"/>
                          <a:cs typeface="Century Gothic"/>
                          <a:sym typeface="Century Gothic"/>
                        </a:rPr>
                        <a:t>JSR</a:t>
                      </a:r>
                      <a:endParaRPr b="1" sz="1500">
                        <a:solidFill>
                          <a:schemeClr val="lt1"/>
                        </a:solidFill>
                        <a:latin typeface="Century Gothic"/>
                        <a:ea typeface="Century Gothic"/>
                        <a:cs typeface="Century Gothic"/>
                        <a:sym typeface="Century Gothic"/>
                      </a:endParaRPr>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r>
              <a:tr h="706875">
                <a:tc>
                  <a:txBody>
                    <a:bodyPr/>
                    <a:lstStyle/>
                    <a:p>
                      <a:pPr indent="0" lvl="0" marL="0" rtl="0" algn="ctr">
                        <a:spcBef>
                          <a:spcPts val="0"/>
                        </a:spcBef>
                        <a:spcAft>
                          <a:spcPts val="0"/>
                        </a:spcAft>
                        <a:buNone/>
                      </a:pPr>
                      <a:r>
                        <a:rPr b="1" lang="ru"/>
                        <a:t>Return from Subroutine</a:t>
                      </a:r>
                      <a:endParaRPr b="1"/>
                    </a:p>
                  </a:txBody>
                  <a:tcPr marT="91425" marB="91425" marR="91425" marL="91425"/>
                </a:tc>
                <a:tc>
                  <a:txBody>
                    <a:bodyPr/>
                    <a:lstStyle/>
                    <a:p>
                      <a:pPr indent="0" lvl="0" marL="0" rtl="0" algn="ctr">
                        <a:spcBef>
                          <a:spcPts val="800"/>
                        </a:spcBef>
                        <a:spcAft>
                          <a:spcPts val="0"/>
                        </a:spcAft>
                        <a:buNone/>
                      </a:pPr>
                      <a:r>
                        <a:rPr b="1" lang="ru" sz="1500">
                          <a:solidFill>
                            <a:schemeClr val="lt1"/>
                          </a:solidFill>
                          <a:latin typeface="Century Gothic"/>
                          <a:ea typeface="Century Gothic"/>
                          <a:cs typeface="Century Gothic"/>
                          <a:sym typeface="Century Gothic"/>
                        </a:rPr>
                        <a:t>RTS</a:t>
                      </a:r>
                      <a:endParaRPr b="1" sz="1500">
                        <a:solidFill>
                          <a:schemeClr val="lt1"/>
                        </a:solidFill>
                        <a:latin typeface="Century Gothic"/>
                        <a:ea typeface="Century Gothic"/>
                        <a:cs typeface="Century Gothic"/>
                        <a:sym typeface="Century Gothic"/>
                      </a:endParaRPr>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t/>
                      </a:r>
                      <a:endParaRPr b="1"/>
                    </a:p>
                  </a:txBody>
                  <a:tcPr marT="91425" marB="91425" marR="91425" marL="91425"/>
                </a:tc>
                <a:tc>
                  <a:txBody>
                    <a:bodyPr/>
                    <a:lstStyle/>
                    <a:p>
                      <a:pPr indent="0" lvl="0" marL="0" rtl="0" algn="ctr">
                        <a:spcBef>
                          <a:spcPts val="0"/>
                        </a:spcBef>
                        <a:spcAft>
                          <a:spcPts val="0"/>
                        </a:spcAft>
                        <a:buNone/>
                      </a:pPr>
                      <a:r>
                        <a:rPr b="1" lang="ru"/>
                        <a:t>X</a:t>
                      </a:r>
                      <a:endParaRPr b="1"/>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5"/>
          <p:cNvSpPr txBox="1"/>
          <p:nvPr>
            <p:ph idx="1" type="body"/>
          </p:nvPr>
        </p:nvSpPr>
        <p:spPr>
          <a:xfrm>
            <a:off x="311700" y="347175"/>
            <a:ext cx="8520600" cy="4654800"/>
          </a:xfrm>
          <a:prstGeom prst="rect">
            <a:avLst/>
          </a:prstGeom>
        </p:spPr>
        <p:txBody>
          <a:bodyPr anchorCtr="0" anchor="t" bIns="34275" lIns="68575" spcFirstLastPara="1" rIns="68575" wrap="square" tIns="34275">
            <a:normAutofit fontScale="92500" lnSpcReduction="10000"/>
          </a:bodyPr>
          <a:lstStyle/>
          <a:p>
            <a:pPr indent="0" lvl="0" marL="0" rtl="0" algn="l">
              <a:spcBef>
                <a:spcPts val="800"/>
              </a:spcBef>
              <a:spcAft>
                <a:spcPts val="0"/>
              </a:spcAft>
              <a:buNone/>
            </a:pPr>
            <a:r>
              <a:rPr b="1" lang="ru"/>
              <a:t>JSR</a:t>
            </a:r>
            <a:r>
              <a:rPr lang="ru"/>
              <a:t> (Jump to Subroutine) - используется для вызова подпрограммы. Она сохраняет</a:t>
            </a:r>
            <a:endParaRPr/>
          </a:p>
          <a:p>
            <a:pPr indent="0" lvl="0" marL="0" rtl="0" algn="l">
              <a:spcBef>
                <a:spcPts val="800"/>
              </a:spcBef>
              <a:spcAft>
                <a:spcPts val="0"/>
              </a:spcAft>
              <a:buNone/>
            </a:pPr>
            <a:r>
              <a:rPr lang="ru"/>
              <a:t>адрес возврата в стеке и переходит к указанной подпрограмме.</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Как это работает:</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Увеличение счетчика программы</a:t>
            </a:r>
            <a:r>
              <a:rPr lang="ru"/>
              <a:t> (</a:t>
            </a:r>
            <a:r>
              <a:rPr b="1" lang="ru"/>
              <a:t>PC</a:t>
            </a:r>
            <a:r>
              <a:rPr lang="ru"/>
              <a:t>):</a:t>
            </a:r>
            <a:endParaRPr/>
          </a:p>
          <a:p>
            <a:pPr indent="0" lvl="0" marL="0" rtl="0" algn="l">
              <a:spcBef>
                <a:spcPts val="800"/>
              </a:spcBef>
              <a:spcAft>
                <a:spcPts val="0"/>
              </a:spcAft>
              <a:buNone/>
            </a:pPr>
            <a:r>
              <a:rPr lang="ru"/>
              <a:t>В зависимости от режима адресации, счетчик программы увеличивается на два или три.</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Сохранение адреса возврата</a:t>
            </a:r>
            <a:r>
              <a:rPr lang="ru"/>
              <a:t>:</a:t>
            </a:r>
            <a:endParaRPr/>
          </a:p>
          <a:p>
            <a:pPr indent="0" lvl="0" marL="0" rtl="0" algn="l">
              <a:spcBef>
                <a:spcPts val="800"/>
              </a:spcBef>
              <a:spcAft>
                <a:spcPts val="0"/>
              </a:spcAft>
              <a:buNone/>
            </a:pPr>
            <a:r>
              <a:rPr lang="ru"/>
              <a:t>Адрес возврата помещается в стек, младший байт первым. Это позволяет вернуться к </a:t>
            </a:r>
            <a:endParaRPr/>
          </a:p>
          <a:p>
            <a:pPr indent="0" lvl="0" marL="0" rtl="0" algn="l">
              <a:spcBef>
                <a:spcPts val="800"/>
              </a:spcBef>
              <a:spcAft>
                <a:spcPts val="0"/>
              </a:spcAft>
              <a:buNone/>
            </a:pPr>
            <a:r>
              <a:rPr lang="ru"/>
              <a:t>следующей инструкции после завершения подпрограммы.</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Переход к подпрограмме</a:t>
            </a:r>
            <a:r>
              <a:rPr lang="ru"/>
              <a:t>:</a:t>
            </a:r>
            <a:endParaRPr/>
          </a:p>
          <a:p>
            <a:pPr indent="0" lvl="0" marL="0" rtl="0" algn="l">
              <a:spcBef>
                <a:spcPts val="800"/>
              </a:spcBef>
              <a:spcAft>
                <a:spcPts val="0"/>
              </a:spcAft>
              <a:buNone/>
            </a:pPr>
            <a:r>
              <a:rPr lang="ru"/>
              <a:t>Переход осуществляется к инструкции, расположенной по вычисленному </a:t>
            </a:r>
            <a:endParaRPr/>
          </a:p>
          <a:p>
            <a:pPr indent="0" lvl="0" marL="0" rtl="0" algn="l">
              <a:spcBef>
                <a:spcPts val="800"/>
              </a:spcBef>
              <a:spcAft>
                <a:spcPts val="0"/>
              </a:spcAft>
              <a:buNone/>
            </a:pPr>
            <a:r>
              <a:rPr lang="ru"/>
              <a:t>эффективному адресу.</a:t>
            </a:r>
            <a:endParaRPr/>
          </a:p>
          <a:p>
            <a:pPr indent="0" lvl="0" marL="0" rtl="0" algn="l">
              <a:spcBef>
                <a:spcPts val="800"/>
              </a:spcBef>
              <a:spcAft>
                <a:spcPts val="0"/>
              </a:spcAft>
              <a:buNone/>
            </a:pPr>
            <a:r>
              <a:t/>
            </a:r>
            <a:endParaRPr/>
          </a:p>
        </p:txBody>
      </p:sp>
      <p:sp>
        <p:nvSpPr>
          <p:cNvPr id="329" name="Google Shape;329;p45"/>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6"/>
          <p:cNvSpPr txBox="1"/>
          <p:nvPr>
            <p:ph idx="1" type="body"/>
          </p:nvPr>
        </p:nvSpPr>
        <p:spPr>
          <a:xfrm>
            <a:off x="311700" y="305750"/>
            <a:ext cx="8520600" cy="4696200"/>
          </a:xfrm>
          <a:prstGeom prst="rect">
            <a:avLst/>
          </a:prstGeom>
        </p:spPr>
        <p:txBody>
          <a:bodyPr anchorCtr="0" anchor="t" bIns="34275" lIns="68575" spcFirstLastPara="1" rIns="68575" wrap="square" tIns="34275">
            <a:normAutofit fontScale="85000" lnSpcReduction="20000"/>
          </a:bodyPr>
          <a:lstStyle/>
          <a:p>
            <a:pPr indent="0" lvl="0" marL="0" rtl="0" algn="l">
              <a:spcBef>
                <a:spcPts val="800"/>
              </a:spcBef>
              <a:spcAft>
                <a:spcPts val="0"/>
              </a:spcAft>
              <a:buNone/>
            </a:pPr>
            <a:r>
              <a:rPr b="1" lang="ru"/>
              <a:t>BSR</a:t>
            </a:r>
            <a:r>
              <a:rPr lang="ru"/>
              <a:t> (Brunch to Subroutine) - </a:t>
            </a:r>
            <a:r>
              <a:rPr lang="ru"/>
              <a:t>используется для вызова подпрограммы с </a:t>
            </a:r>
            <a:endParaRPr/>
          </a:p>
          <a:p>
            <a:pPr indent="0" lvl="0" marL="0" rtl="0" algn="l">
              <a:spcBef>
                <a:spcPts val="800"/>
              </a:spcBef>
              <a:spcAft>
                <a:spcPts val="0"/>
              </a:spcAft>
              <a:buNone/>
            </a:pPr>
            <a:r>
              <a:rPr lang="ru"/>
              <a:t>относительным смещением, сохраняя адрес возврата в стеке. (Инструкция </a:t>
            </a:r>
            <a:endParaRPr/>
          </a:p>
          <a:p>
            <a:pPr indent="0" lvl="0" marL="0" rtl="0" algn="l">
              <a:spcBef>
                <a:spcPts val="800"/>
              </a:spcBef>
              <a:spcAft>
                <a:spcPts val="0"/>
              </a:spcAft>
              <a:buNone/>
            </a:pPr>
            <a:r>
              <a:rPr lang="ru"/>
              <a:t>компактнее, чем JSR, так как использует относительное адресацию.)</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Как это работает:</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Увеличение счетчика программы</a:t>
            </a:r>
            <a:r>
              <a:rPr lang="ru"/>
              <a:t> (</a:t>
            </a:r>
            <a:r>
              <a:rPr b="1" lang="ru"/>
              <a:t>PC</a:t>
            </a:r>
            <a:r>
              <a:rPr lang="ru"/>
              <a:t>):</a:t>
            </a:r>
            <a:endParaRPr/>
          </a:p>
          <a:p>
            <a:pPr indent="0" lvl="0" marL="0" rtl="0" algn="l">
              <a:spcBef>
                <a:spcPts val="800"/>
              </a:spcBef>
              <a:spcAft>
                <a:spcPts val="0"/>
              </a:spcAft>
              <a:buNone/>
            </a:pPr>
            <a:r>
              <a:rPr lang="ru"/>
              <a:t>Счетчик программы увеличивается на два, чтобы указать адрес возврата.</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Сохранение адреса возврата в стек</a:t>
            </a:r>
            <a:r>
              <a:rPr lang="ru"/>
              <a:t>:</a:t>
            </a:r>
            <a:endParaRPr/>
          </a:p>
          <a:p>
            <a:pPr indent="0" lvl="0" marL="0" rtl="0" algn="l">
              <a:spcBef>
                <a:spcPts val="800"/>
              </a:spcBef>
              <a:spcAft>
                <a:spcPts val="0"/>
              </a:spcAft>
              <a:buNone/>
            </a:pPr>
            <a:r>
              <a:rPr lang="ru"/>
              <a:t>Младший байт: Ложится в стек первым.</a:t>
            </a:r>
            <a:endParaRPr/>
          </a:p>
          <a:p>
            <a:pPr indent="0" lvl="0" marL="0" rtl="0" algn="l">
              <a:spcBef>
                <a:spcPts val="800"/>
              </a:spcBef>
              <a:spcAft>
                <a:spcPts val="0"/>
              </a:spcAft>
              <a:buNone/>
            </a:pPr>
            <a:r>
              <a:rPr lang="ru"/>
              <a:t>Старший байт: Ложится в стек после младшего.</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Обновление указателя стека</a:t>
            </a:r>
            <a:r>
              <a:rPr lang="ru"/>
              <a:t> (</a:t>
            </a:r>
            <a:r>
              <a:rPr b="1" lang="ru"/>
              <a:t>SP</a:t>
            </a:r>
            <a:r>
              <a:rPr lang="ru"/>
              <a:t>):</a:t>
            </a:r>
            <a:endParaRPr/>
          </a:p>
          <a:p>
            <a:pPr indent="0" lvl="0" marL="0" rtl="0" algn="l">
              <a:spcBef>
                <a:spcPts val="800"/>
              </a:spcBef>
              <a:spcAft>
                <a:spcPts val="0"/>
              </a:spcAft>
              <a:buNone/>
            </a:pPr>
            <a:r>
              <a:rPr lang="ru"/>
              <a:t>Указатель стека уменьшается на один после каждого сохранения байта.</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Переход к подпрограмме</a:t>
            </a:r>
            <a:r>
              <a:rPr lang="ru"/>
              <a:t>:</a:t>
            </a:r>
            <a:endParaRPr/>
          </a:p>
          <a:p>
            <a:pPr indent="0" lvl="0" marL="0" rtl="0" algn="l">
              <a:spcBef>
                <a:spcPts val="800"/>
              </a:spcBef>
              <a:spcAft>
                <a:spcPts val="0"/>
              </a:spcAft>
              <a:buNone/>
            </a:pPr>
            <a:r>
              <a:rPr lang="ru"/>
              <a:t>Переход осуществляется по смещению, указанному в инструкции.</a:t>
            </a:r>
            <a:endParaRPr/>
          </a:p>
        </p:txBody>
      </p:sp>
      <p:sp>
        <p:nvSpPr>
          <p:cNvPr id="335" name="Google Shape;335;p46"/>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idx="1" type="body"/>
          </p:nvPr>
        </p:nvSpPr>
        <p:spPr>
          <a:xfrm>
            <a:off x="311700" y="305750"/>
            <a:ext cx="8520600" cy="4696200"/>
          </a:xfrm>
          <a:prstGeom prst="rect">
            <a:avLst/>
          </a:prstGeom>
        </p:spPr>
        <p:txBody>
          <a:bodyPr anchorCtr="0" anchor="t" bIns="34275" lIns="68575" spcFirstLastPara="1" rIns="68575" wrap="square" tIns="34275">
            <a:normAutofit fontScale="92500" lnSpcReduction="20000"/>
          </a:bodyPr>
          <a:lstStyle/>
          <a:p>
            <a:pPr indent="0" lvl="0" marL="0" rtl="0" algn="l">
              <a:spcBef>
                <a:spcPts val="800"/>
              </a:spcBef>
              <a:spcAft>
                <a:spcPts val="0"/>
              </a:spcAft>
              <a:buNone/>
            </a:pPr>
            <a:r>
              <a:rPr b="1" lang="ru"/>
              <a:t>RTS </a:t>
            </a:r>
            <a:r>
              <a:rPr lang="ru"/>
              <a:t>(Return from Subroutine) - используется для возврата из подпрограммы</a:t>
            </a:r>
            <a:endParaRPr/>
          </a:p>
          <a:p>
            <a:pPr indent="0" lvl="0" marL="0" rtl="0" algn="l">
              <a:spcBef>
                <a:spcPts val="800"/>
              </a:spcBef>
              <a:spcAft>
                <a:spcPts val="0"/>
              </a:spcAft>
              <a:buNone/>
            </a:pPr>
            <a:r>
              <a:rPr lang="ru"/>
              <a:t>к месту вызова в основной программе.</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Как это работает:</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Увеличение указателя стека</a:t>
            </a:r>
            <a:r>
              <a:rPr lang="ru"/>
              <a:t> (</a:t>
            </a:r>
            <a:r>
              <a:rPr b="1" lang="ru"/>
              <a:t>SP</a:t>
            </a:r>
            <a:r>
              <a:rPr lang="ru"/>
              <a:t>):</a:t>
            </a:r>
            <a:endParaRPr/>
          </a:p>
          <a:p>
            <a:pPr indent="0" lvl="0" marL="0" rtl="0" algn="l">
              <a:spcBef>
                <a:spcPts val="800"/>
              </a:spcBef>
              <a:spcAft>
                <a:spcPts val="0"/>
              </a:spcAft>
              <a:buNone/>
            </a:pPr>
            <a:r>
              <a:rPr lang="ru"/>
              <a:t>Указатель стека сначала увеличивается на один.</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Восстановление адреса возврата</a:t>
            </a:r>
            <a:r>
              <a:rPr lang="ru"/>
              <a:t>:</a:t>
            </a:r>
            <a:endParaRPr/>
          </a:p>
          <a:p>
            <a:pPr indent="0" lvl="0" marL="0" rtl="0" algn="l">
              <a:spcBef>
                <a:spcPts val="800"/>
              </a:spcBef>
              <a:spcAft>
                <a:spcPts val="0"/>
              </a:spcAft>
              <a:buNone/>
            </a:pPr>
            <a:r>
              <a:rPr lang="ru"/>
              <a:t>Старший байт: Загружается из памяти по адресу, теперь содержащемуся в указателе</a:t>
            </a:r>
            <a:endParaRPr/>
          </a:p>
          <a:p>
            <a:pPr indent="0" lvl="0" marL="0" rtl="0" algn="l">
              <a:spcBef>
                <a:spcPts val="800"/>
              </a:spcBef>
              <a:spcAft>
                <a:spcPts val="0"/>
              </a:spcAft>
              <a:buNone/>
            </a:pPr>
            <a:r>
              <a:rPr lang="ru"/>
              <a:t>стека, в старшие восемь битов счетчика программы (PC).</a:t>
            </a:r>
            <a:endParaRPr/>
          </a:p>
          <a:p>
            <a:pPr indent="0" lvl="0" marL="0" rtl="0" algn="l">
              <a:spcBef>
                <a:spcPts val="800"/>
              </a:spcBef>
              <a:spcAft>
                <a:spcPts val="0"/>
              </a:spcAft>
              <a:buNone/>
            </a:pPr>
            <a:r>
              <a:rPr lang="ru"/>
              <a:t>Указатель стека увеличивается еще на один.</a:t>
            </a:r>
            <a:endParaRPr/>
          </a:p>
          <a:p>
            <a:pPr indent="0" lvl="0" marL="0" rtl="0" algn="l">
              <a:spcBef>
                <a:spcPts val="800"/>
              </a:spcBef>
              <a:spcAft>
                <a:spcPts val="0"/>
              </a:spcAft>
              <a:buNone/>
            </a:pPr>
            <a:r>
              <a:rPr lang="ru"/>
              <a:t>Младший байт: Загружается в младшие восемь битов счетчика программы (PC).</a:t>
            </a:r>
            <a:endParaRPr/>
          </a:p>
          <a:p>
            <a:pPr indent="0" lvl="0" marL="0" rtl="0" algn="l">
              <a:spcBef>
                <a:spcPts val="800"/>
              </a:spcBef>
              <a:spcAft>
                <a:spcPts val="0"/>
              </a:spcAft>
              <a:buNone/>
            </a:pPr>
            <a:r>
              <a:t/>
            </a:r>
            <a:endParaRPr/>
          </a:p>
          <a:p>
            <a:pPr indent="0" lvl="0" marL="0" rtl="0" algn="l">
              <a:spcBef>
                <a:spcPts val="800"/>
              </a:spcBef>
              <a:spcAft>
                <a:spcPts val="0"/>
              </a:spcAft>
              <a:buNone/>
            </a:pPr>
            <a:r>
              <a:rPr lang="ru"/>
              <a:t>- </a:t>
            </a:r>
            <a:r>
              <a:rPr b="1" lang="ru"/>
              <a:t>Возврат к основной программе</a:t>
            </a:r>
            <a:r>
              <a:rPr lang="ru"/>
              <a:t>:</a:t>
            </a:r>
            <a:endParaRPr/>
          </a:p>
          <a:p>
            <a:pPr indent="0" lvl="0" marL="0" rtl="0" algn="l">
              <a:spcBef>
                <a:spcPts val="800"/>
              </a:spcBef>
              <a:spcAft>
                <a:spcPts val="0"/>
              </a:spcAft>
              <a:buNone/>
            </a:pPr>
            <a:r>
              <a:rPr lang="ru"/>
              <a:t>Программа продолжает выполнение с адреса, находящегося в счетчике программы.</a:t>
            </a:r>
            <a:endParaRPr/>
          </a:p>
          <a:p>
            <a:pPr indent="0" lvl="0" marL="0" rtl="0" algn="l">
              <a:spcBef>
                <a:spcPts val="800"/>
              </a:spcBef>
              <a:spcAft>
                <a:spcPts val="0"/>
              </a:spcAft>
              <a:buNone/>
            </a:pPr>
            <a:r>
              <a:t/>
            </a:r>
            <a:endParaRPr/>
          </a:p>
        </p:txBody>
      </p:sp>
      <p:sp>
        <p:nvSpPr>
          <p:cNvPr id="341" name="Google Shape;341;p47"/>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idx="1" type="body"/>
          </p:nvPr>
        </p:nvSpPr>
        <p:spPr>
          <a:xfrm>
            <a:off x="63650" y="489175"/>
            <a:ext cx="4465200" cy="4473300"/>
          </a:xfrm>
          <a:prstGeom prst="rect">
            <a:avLst/>
          </a:prstGeom>
        </p:spPr>
        <p:txBody>
          <a:bodyPr anchorCtr="0" anchor="t" bIns="34275" lIns="68575" spcFirstLastPara="1" rIns="68575" wrap="square" tIns="34275">
            <a:normAutofit lnSpcReduction="20000"/>
          </a:bodyPr>
          <a:lstStyle/>
          <a:p>
            <a:pPr indent="0" lvl="0" marL="0" rtl="0" algn="l">
              <a:lnSpc>
                <a:spcPct val="90000"/>
              </a:lnSpc>
              <a:spcBef>
                <a:spcPts val="800"/>
              </a:spcBef>
              <a:spcAft>
                <a:spcPts val="0"/>
              </a:spcAft>
              <a:buNone/>
            </a:pPr>
            <a:r>
              <a:rPr b="1" lang="ru" sz="900">
                <a:solidFill>
                  <a:srgbClr val="0000FF"/>
                </a:solidFill>
              </a:rPr>
              <a:t>org $8000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temp_a: rmb 1           </a:t>
            </a:r>
            <a:r>
              <a:rPr b="1" lang="ru" sz="900">
                <a:solidFill>
                  <a:srgbClr val="188038"/>
                </a:solidFill>
              </a:rPr>
              <a:t>; Зарезервировать 1 байт для временного хранения A</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temp_b: rmb 1          </a:t>
            </a:r>
            <a:r>
              <a:rPr b="1" lang="ru" sz="900">
                <a:solidFill>
                  <a:srgbClr val="188038"/>
                </a:solidFill>
              </a:rPr>
              <a:t> ; Зарезервировать 1 байт для временного хранения B</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bit_counter: rmb 1     </a:t>
            </a:r>
            <a:r>
              <a:rPr b="1" lang="ru" sz="900">
                <a:solidFill>
                  <a:srgbClr val="188038"/>
                </a:solidFill>
              </a:rPr>
              <a:t>; Зарезервировать 1 байт для счетчика битов</a:t>
            </a:r>
            <a:endParaRPr b="1" sz="900">
              <a:solidFill>
                <a:srgbClr val="188038"/>
              </a:solidFill>
            </a:endParaRPr>
          </a:p>
          <a:p>
            <a:pPr indent="0" lvl="0" marL="0" rtl="0" algn="l">
              <a:lnSpc>
                <a:spcPct val="90000"/>
              </a:lnSpc>
              <a:spcBef>
                <a:spcPts val="800"/>
              </a:spcBef>
              <a:spcAft>
                <a:spcPts val="0"/>
              </a:spcAft>
              <a:buNone/>
            </a:pPr>
            <a: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start:</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ldx   #$8200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ldy   #$821b        </a:t>
            </a:r>
            <a:endParaRPr b="1" sz="900">
              <a:solidFill>
                <a:srgbClr val="0000FF"/>
              </a:solidFill>
            </a:endParaRPr>
          </a:p>
          <a:p>
            <a:pPr indent="0" lvl="0" marL="0" rtl="0" algn="l">
              <a:lnSpc>
                <a:spcPct val="90000"/>
              </a:lnSpc>
              <a:spcBef>
                <a:spcPts val="800"/>
              </a:spcBef>
              <a:spcAft>
                <a:spcPts val="0"/>
              </a:spcAft>
              <a:buNone/>
            </a:pPr>
            <a: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loop:</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ldaa  0,x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ldab  0,y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jsr   mirror_a_b        </a:t>
            </a:r>
            <a:r>
              <a:rPr b="1" lang="ru" sz="900">
                <a:solidFill>
                  <a:srgbClr val="188038"/>
                </a:solidFill>
              </a:rPr>
              <a:t>; Вызвать подпрограмму mirror_a_b</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staa  0,x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stab  0,y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inx                            </a:t>
            </a:r>
            <a:r>
              <a:rPr b="1" lang="ru" sz="900">
                <a:solidFill>
                  <a:srgbClr val="188038"/>
                </a:solidFill>
              </a:rPr>
              <a:t>; Увеличить X</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dey                </a:t>
            </a:r>
            <a:r>
              <a:rPr b="1" lang="ru" sz="900">
                <a:solidFill>
                  <a:srgbClr val="188038"/>
                </a:solidFill>
              </a:rPr>
              <a:t>          ; Уменьшить Y</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cpx   #$8209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blo   loop                </a:t>
            </a:r>
            <a:r>
              <a:rPr b="1" lang="ru" sz="900">
                <a:solidFill>
                  <a:srgbClr val="188038"/>
                </a:solidFill>
              </a:rPr>
              <a:t>; Если X &lt; $8209, перейти к loop</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swi                           </a:t>
            </a:r>
            <a:r>
              <a:rPr b="1" lang="ru" sz="900">
                <a:solidFill>
                  <a:srgbClr val="188038"/>
                </a:solidFill>
              </a:rPr>
              <a:t>; Остановить выполнение программы</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a:t>
            </a:r>
            <a:endParaRPr b="1" sz="900">
              <a:solidFill>
                <a:srgbClr val="188038"/>
              </a:solidFill>
            </a:endParaRPr>
          </a:p>
          <a:p>
            <a:pPr indent="0" lvl="0" marL="0" rtl="0" algn="l">
              <a:spcBef>
                <a:spcPts val="800"/>
              </a:spcBef>
              <a:spcAft>
                <a:spcPts val="0"/>
              </a:spcAft>
              <a:buNone/>
            </a:pPr>
            <a:r>
              <a:t/>
            </a:r>
            <a:endParaRPr/>
          </a:p>
        </p:txBody>
      </p:sp>
      <p:sp>
        <p:nvSpPr>
          <p:cNvPr id="347" name="Google Shape;347;p48"/>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
        <p:nvSpPr>
          <p:cNvPr id="348" name="Google Shape;348;p48"/>
          <p:cNvSpPr txBox="1"/>
          <p:nvPr>
            <p:ph idx="1" type="body"/>
          </p:nvPr>
        </p:nvSpPr>
        <p:spPr>
          <a:xfrm>
            <a:off x="4232400" y="1150550"/>
            <a:ext cx="4911600" cy="4298100"/>
          </a:xfrm>
          <a:prstGeom prst="rect">
            <a:avLst/>
          </a:prstGeom>
        </p:spPr>
        <p:txBody>
          <a:bodyPr anchorCtr="0" anchor="t" bIns="34275" lIns="68575" spcFirstLastPara="1" rIns="68575" wrap="square" tIns="34275">
            <a:normAutofit lnSpcReduction="20000"/>
          </a:bodyPr>
          <a:lstStyle/>
          <a:p>
            <a:pPr indent="0" lvl="0" marL="0" rtl="0" algn="l">
              <a:lnSpc>
                <a:spcPct val="90000"/>
              </a:lnSpc>
              <a:spcBef>
                <a:spcPts val="800"/>
              </a:spcBef>
              <a:spcAft>
                <a:spcPts val="0"/>
              </a:spcAft>
              <a:buNone/>
            </a:pPr>
            <a:r>
              <a:rPr b="1" lang="ru" sz="900">
                <a:solidFill>
                  <a:srgbClr val="0000FF"/>
                </a:solidFill>
              </a:rPr>
              <a:t>mirror_a_b:</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clr   temp_a        </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clr   temp_b        </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ldaa  #8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staa  bit_counter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ldaa  0,x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staa  temp_a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stab  temp_b        </a:t>
            </a:r>
            <a:endParaRPr b="1" sz="900">
              <a:solidFill>
                <a:srgbClr val="0000FF"/>
              </a:solidFill>
            </a:endParaRPr>
          </a:p>
          <a:p>
            <a:pPr indent="0" lvl="0" marL="0" rtl="0" algn="l">
              <a:lnSpc>
                <a:spcPct val="90000"/>
              </a:lnSpc>
              <a:spcBef>
                <a:spcPts val="800"/>
              </a:spcBef>
              <a:spcAft>
                <a:spcPts val="0"/>
              </a:spcAft>
              <a:buNone/>
            </a:pPr>
            <a: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mirror_loop: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ror   temp_a       </a:t>
            </a:r>
            <a:r>
              <a:rPr b="1" lang="ru" sz="900">
                <a:solidFill>
                  <a:srgbClr val="188038"/>
                </a:solidFill>
              </a:rPr>
              <a:t>    ; Сдвинуть temp_a вправо</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rol   temp_b           </a:t>
            </a:r>
            <a:r>
              <a:rPr b="1" lang="ru" sz="900">
                <a:solidFill>
                  <a:srgbClr val="188038"/>
                </a:solidFill>
              </a:rPr>
              <a:t>; Сдвинуть temp_b влево</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dec   bit_counter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bne   mirror_loop   </a:t>
            </a:r>
            <a:r>
              <a:rPr b="1" lang="ru" sz="900">
                <a:solidFill>
                  <a:srgbClr val="188038"/>
                </a:solidFill>
              </a:rPr>
              <a:t>; Если bit_counter не равно нулю, перейти к mirror_loop</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ror   temp_a       </a:t>
            </a:r>
            <a:r>
              <a:rPr b="1" lang="ru" sz="900">
                <a:solidFill>
                  <a:srgbClr val="188038"/>
                </a:solidFill>
              </a:rPr>
              <a:t>     ; Еще раз сдвинуть temp_a вправо</a:t>
            </a:r>
            <a:endParaRPr b="1" sz="900">
              <a:solidFill>
                <a:srgbClr val="188038"/>
              </a:solidFill>
            </a:endParaRPr>
          </a:p>
          <a:p>
            <a:pPr indent="0" lvl="0" marL="0" rtl="0" algn="l">
              <a:lnSpc>
                <a:spcPct val="90000"/>
              </a:lnSpc>
              <a:spcBef>
                <a:spcPts val="800"/>
              </a:spcBef>
              <a:spcAft>
                <a:spcPts val="0"/>
              </a:spcAft>
              <a:buNone/>
            </a:pPr>
            <a:r>
              <a:rPr b="1" lang="ru" sz="900">
                <a:solidFill>
                  <a:srgbClr val="0000FF"/>
                </a:solidFill>
              </a:rPr>
              <a:t>    ldaa  temp_a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ldab  temp_b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rts                </a:t>
            </a:r>
            <a:r>
              <a:rPr b="1" lang="ru" sz="900">
                <a:solidFill>
                  <a:srgbClr val="188038"/>
                </a:solidFill>
              </a:rPr>
              <a:t>             ; Вернуться из подпрограммы</a:t>
            </a:r>
            <a:endParaRPr b="1" sz="900">
              <a:solidFill>
                <a:srgbClr val="188038"/>
              </a:solidFill>
            </a:endParaRPr>
          </a:p>
          <a:p>
            <a:pPr indent="0" lvl="0" marL="0" rtl="0" algn="l">
              <a:lnSpc>
                <a:spcPct val="90000"/>
              </a:lnSpc>
              <a:spcBef>
                <a:spcPts val="800"/>
              </a:spcBef>
              <a:spcAft>
                <a:spcPts val="0"/>
              </a:spcAft>
              <a:buNone/>
            </a:pPr>
            <a:r>
              <a:t/>
            </a:r>
            <a:endParaRPr b="1" sz="900">
              <a:solidFill>
                <a:srgbClr val="0000FF"/>
              </a:solidFill>
            </a:endParaRPr>
          </a:p>
          <a:p>
            <a:pPr indent="0" lvl="0" marL="0" rtl="0" algn="l">
              <a:lnSpc>
                <a:spcPct val="90000"/>
              </a:lnSpc>
              <a:spcBef>
                <a:spcPts val="800"/>
              </a:spcBef>
              <a:spcAft>
                <a:spcPts val="0"/>
              </a:spcAft>
              <a:buNone/>
            </a:pPr>
            <a:r>
              <a:rPr b="1" lang="ru" sz="900">
                <a:solidFill>
                  <a:srgbClr val="0000FF"/>
                </a:solidFill>
              </a:rPr>
              <a:t>      </a:t>
            </a:r>
            <a:endParaRPr b="1" sz="900">
              <a:solidFill>
                <a:srgbClr val="188038"/>
              </a:solidFill>
            </a:endParaRPr>
          </a:p>
          <a:p>
            <a:pPr indent="0" lvl="0" marL="0" rtl="0" algn="l">
              <a:spcBef>
                <a:spcPts val="800"/>
              </a:spcBef>
              <a:spcAft>
                <a:spcPts val="0"/>
              </a:spcAft>
              <a:buNone/>
            </a:pPr>
            <a:r>
              <a:t/>
            </a:r>
            <a:endParaRPr/>
          </a:p>
        </p:txBody>
      </p:sp>
      <p:cxnSp>
        <p:nvCxnSpPr>
          <p:cNvPr id="349" name="Google Shape;349;p48"/>
          <p:cNvCxnSpPr/>
          <p:nvPr/>
        </p:nvCxnSpPr>
        <p:spPr>
          <a:xfrm>
            <a:off x="4092300" y="1116975"/>
            <a:ext cx="0" cy="3621600"/>
          </a:xfrm>
          <a:prstGeom prst="straightConnector1">
            <a:avLst/>
          </a:prstGeom>
          <a:noFill/>
          <a:ln cap="flat" cmpd="sng" w="28575">
            <a:solidFill>
              <a:schemeClr val="lt1"/>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9"/>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Понятие прерываний </a:t>
            </a:r>
            <a:endParaRPr b="1" sz="2650"/>
          </a:p>
        </p:txBody>
      </p:sp>
      <p:sp>
        <p:nvSpPr>
          <p:cNvPr id="355" name="Google Shape;355;p49"/>
          <p:cNvSpPr txBox="1"/>
          <p:nvPr>
            <p:ph idx="1" type="body"/>
          </p:nvPr>
        </p:nvSpPr>
        <p:spPr>
          <a:xfrm>
            <a:off x="311700" y="1239450"/>
            <a:ext cx="8468400" cy="36729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ru"/>
              <a:t>Прерывания в микроконтроллерах представляет собой  </a:t>
            </a:r>
            <a:r>
              <a:rPr b="1" lang="ru"/>
              <a:t>механизм</a:t>
            </a:r>
            <a:r>
              <a:rPr lang="ru"/>
              <a:t>, который позволяет микроконтроллеру </a:t>
            </a:r>
            <a:r>
              <a:rPr b="1" lang="ru"/>
              <a:t>реагировать на внешние события</a:t>
            </a:r>
            <a:r>
              <a:rPr lang="ru"/>
              <a:t>. </a:t>
            </a:r>
            <a:endParaRPr/>
          </a:p>
          <a:p>
            <a:pPr indent="0" lvl="0" marL="0" rtl="0" algn="l">
              <a:spcBef>
                <a:spcPts val="800"/>
              </a:spcBef>
              <a:spcAft>
                <a:spcPts val="0"/>
              </a:spcAft>
              <a:buNone/>
            </a:pPr>
            <a:r>
              <a:rPr lang="ru"/>
              <a:t>Этот механизм работает таким образом, что при наступлении некоторого события в процессоре возникает сигнал, заставляющий процессор прервать выполнение текущей программы, т.е. говорят, что возникло прерывание. </a:t>
            </a:r>
            <a:endParaRPr/>
          </a:p>
          <a:p>
            <a:pPr indent="0" lvl="0" marL="0" rtl="0" algn="l">
              <a:spcBef>
                <a:spcPts val="800"/>
              </a:spcBef>
              <a:spcAft>
                <a:spcPts val="0"/>
              </a:spcAft>
              <a:buNone/>
            </a:pPr>
            <a:r>
              <a:rPr lang="ru"/>
              <a:t>После того как выполнение текущей программы прервано, процессор должен перейти к выполнению программной процедуры, связанной с этим событием (прерыванием) – процедуры обработки прерывания.</a:t>
            </a:r>
            <a:endParaRPr/>
          </a:p>
          <a:p>
            <a:pPr indent="0" lvl="0" marL="0" rtl="0" algn="l">
              <a:spcBef>
                <a:spcPts val="800"/>
              </a:spcBef>
              <a:spcAft>
                <a:spcPts val="0"/>
              </a:spcAft>
              <a:buNone/>
            </a:pPr>
            <a:r>
              <a:rPr b="1" lang="ru"/>
              <a:t>Основная цель</a:t>
            </a:r>
            <a:r>
              <a:rPr lang="ru"/>
              <a:t> введения прерываний – </a:t>
            </a:r>
            <a:r>
              <a:rPr b="1" lang="ru"/>
              <a:t>реализация асинхронного режима работы</a:t>
            </a:r>
            <a:r>
              <a:rPr lang="ru"/>
              <a:t> и распараллеливания работы отдельных устройств вычислительного комплекса. Механизм прерываний реализуется аппаратно-программными средствами.</a:t>
            </a:r>
            <a:endParaRPr/>
          </a:p>
          <a:p>
            <a:pPr indent="0" lvl="0" marL="0" rtl="0" algn="l">
              <a:spcBef>
                <a:spcPts val="800"/>
              </a:spcBef>
              <a:spcAft>
                <a:spcPts val="0"/>
              </a:spcAft>
              <a:buNone/>
            </a:pPr>
            <a:r>
              <a:t/>
            </a:r>
            <a:endParaRPr b="1"/>
          </a:p>
        </p:txBody>
      </p:sp>
      <p:sp>
        <p:nvSpPr>
          <p:cNvPr id="356" name="Google Shape;356;p49"/>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0"/>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Обработка прерываний</a:t>
            </a:r>
            <a:endParaRPr/>
          </a:p>
        </p:txBody>
      </p:sp>
      <p:sp>
        <p:nvSpPr>
          <p:cNvPr id="362" name="Google Shape;362;p50"/>
          <p:cNvSpPr txBox="1"/>
          <p:nvPr>
            <p:ph idx="1" type="body"/>
          </p:nvPr>
        </p:nvSpPr>
        <p:spPr>
          <a:xfrm>
            <a:off x="311700" y="1152475"/>
            <a:ext cx="8520600" cy="3416400"/>
          </a:xfrm>
          <a:prstGeom prst="rect">
            <a:avLst/>
          </a:prstGeom>
        </p:spPr>
        <p:txBody>
          <a:bodyPr anchorCtr="0" anchor="t" bIns="34275" lIns="68575" spcFirstLastPara="1" rIns="68575" wrap="square" tIns="34275">
            <a:normAutofit fontScale="85000" lnSpcReduction="20000"/>
          </a:bodyPr>
          <a:lstStyle/>
          <a:p>
            <a:pPr indent="0" lvl="0" marL="0" rtl="0" algn="just">
              <a:lnSpc>
                <a:spcPct val="115000"/>
              </a:lnSpc>
              <a:spcBef>
                <a:spcPts val="0"/>
              </a:spcBef>
              <a:spcAft>
                <a:spcPts val="0"/>
              </a:spcAft>
              <a:buNone/>
            </a:pPr>
            <a:r>
              <a:rPr lang="ru" sz="1750">
                <a:solidFill>
                  <a:srgbClr val="000000"/>
                </a:solidFill>
              </a:rPr>
              <a:t>До перехода непосредственно к процедуре обработки прерывания,</a:t>
            </a:r>
            <a:endParaRPr sz="1750">
              <a:solidFill>
                <a:srgbClr val="000000"/>
              </a:solidFill>
            </a:endParaRPr>
          </a:p>
          <a:p>
            <a:pPr indent="0" lvl="0" marL="0" rtl="0" algn="just">
              <a:lnSpc>
                <a:spcPct val="115000"/>
              </a:lnSpc>
              <a:spcBef>
                <a:spcPts val="800"/>
              </a:spcBef>
              <a:spcAft>
                <a:spcPts val="0"/>
              </a:spcAft>
              <a:buNone/>
            </a:pPr>
            <a:r>
              <a:rPr lang="ru" sz="1750">
                <a:solidFill>
                  <a:srgbClr val="000000"/>
                </a:solidFill>
              </a:rPr>
              <a:t>процессор должен выполнить ряд предварительных действий.</a:t>
            </a:r>
            <a:endParaRPr sz="1750">
              <a:solidFill>
                <a:srgbClr val="000000"/>
              </a:solidFill>
            </a:endParaRPr>
          </a:p>
          <a:p>
            <a:pPr indent="0" lvl="0" marL="0" rtl="0" algn="just">
              <a:lnSpc>
                <a:spcPct val="115000"/>
              </a:lnSpc>
              <a:spcBef>
                <a:spcPts val="1200"/>
              </a:spcBef>
              <a:spcAft>
                <a:spcPts val="0"/>
              </a:spcAft>
              <a:buNone/>
            </a:pPr>
            <a:r>
              <a:rPr b="1" lang="ru" sz="1750">
                <a:solidFill>
                  <a:srgbClr val="000000"/>
                </a:solidFill>
              </a:rPr>
              <a:t>- </a:t>
            </a:r>
            <a:r>
              <a:rPr b="1" lang="ru" sz="1750">
                <a:solidFill>
                  <a:srgbClr val="000000"/>
                </a:solidFill>
              </a:rPr>
              <a:t>Сохранить состояние процессора </a:t>
            </a:r>
            <a:r>
              <a:rPr lang="ru" sz="1750">
                <a:solidFill>
                  <a:srgbClr val="000000"/>
                </a:solidFill>
              </a:rPr>
              <a:t>(счетчик команд, внутренние регистры и т.д.) на момент, предшествующий прерыванию. Это сделано для того, чтобы в будущем он смог корректно продолжить прерванную программу, необходимо т.е. другими словами, требуется сохранить состояния всех тех ресурсов,  которые так или иначе могут быть изменены в процессе обработки прерывания.</a:t>
            </a:r>
            <a:endParaRPr sz="1750">
              <a:solidFill>
                <a:srgbClr val="000000"/>
              </a:solidFill>
            </a:endParaRPr>
          </a:p>
          <a:p>
            <a:pPr indent="0" lvl="0" marL="0" rtl="0" algn="just">
              <a:lnSpc>
                <a:spcPct val="115000"/>
              </a:lnSpc>
              <a:spcBef>
                <a:spcPts val="2000"/>
              </a:spcBef>
              <a:spcAft>
                <a:spcPts val="0"/>
              </a:spcAft>
              <a:buNone/>
            </a:pPr>
            <a:r>
              <a:rPr b="1" lang="ru" sz="1750">
                <a:solidFill>
                  <a:srgbClr val="000000"/>
                </a:solidFill>
              </a:rPr>
              <a:t>- </a:t>
            </a:r>
            <a:r>
              <a:rPr b="1" lang="ru" sz="1750">
                <a:solidFill>
                  <a:srgbClr val="000000"/>
                </a:solidFill>
              </a:rPr>
              <a:t>Определить источник запроса прерываний</a:t>
            </a:r>
            <a:r>
              <a:rPr lang="ru" sz="1750">
                <a:solidFill>
                  <a:srgbClr val="000000"/>
                </a:solidFill>
              </a:rPr>
              <a:t>, если системе имеется несколько возможных источников прерываний (обычно так и бывает). </a:t>
            </a:r>
            <a:endParaRPr sz="1750">
              <a:solidFill>
                <a:srgbClr val="000000"/>
              </a:solidFill>
            </a:endParaRPr>
          </a:p>
          <a:p>
            <a:pPr indent="0" lvl="0" marL="0" rtl="0" algn="just">
              <a:lnSpc>
                <a:spcPct val="115000"/>
              </a:lnSpc>
              <a:spcBef>
                <a:spcPts val="2000"/>
              </a:spcBef>
              <a:spcAft>
                <a:spcPts val="0"/>
              </a:spcAft>
              <a:buNone/>
            </a:pPr>
            <a:r>
              <a:rPr b="1" lang="ru" sz="1750">
                <a:solidFill>
                  <a:srgbClr val="000000"/>
                </a:solidFill>
              </a:rPr>
              <a:t>-   Перейти к процедуре прерываний</a:t>
            </a:r>
            <a:r>
              <a:rPr lang="ru" sz="1750">
                <a:solidFill>
                  <a:srgbClr val="000000"/>
                </a:solidFill>
              </a:rPr>
              <a:t>, конкретной для данного прерывания. </a:t>
            </a:r>
            <a:endParaRPr sz="1750">
              <a:solidFill>
                <a:srgbClr val="000000"/>
              </a:solidFill>
            </a:endParaRPr>
          </a:p>
          <a:p>
            <a:pPr indent="0" lvl="0" marL="0" rtl="0" algn="l">
              <a:spcBef>
                <a:spcPts val="1700"/>
              </a:spcBef>
              <a:spcAft>
                <a:spcPts val="0"/>
              </a:spcAft>
              <a:buNone/>
            </a:pPr>
            <a:r>
              <a:t/>
            </a:r>
            <a:endParaRPr/>
          </a:p>
        </p:txBody>
      </p:sp>
      <p:sp>
        <p:nvSpPr>
          <p:cNvPr id="363" name="Google Shape;363;p50"/>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1"/>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solidFill>
                  <a:schemeClr val="lt1"/>
                </a:solidFill>
              </a:rPr>
              <a:t>Обработка прерываний</a:t>
            </a:r>
            <a:endParaRPr>
              <a:solidFill>
                <a:schemeClr val="lt1"/>
              </a:solidFill>
            </a:endParaRPr>
          </a:p>
          <a:p>
            <a:pPr indent="0" lvl="0" marL="0" rtl="0" algn="l">
              <a:spcBef>
                <a:spcPts val="0"/>
              </a:spcBef>
              <a:spcAft>
                <a:spcPts val="0"/>
              </a:spcAft>
              <a:buNone/>
            </a:pPr>
            <a:r>
              <a:t/>
            </a:r>
            <a:endParaRPr/>
          </a:p>
        </p:txBody>
      </p:sp>
      <p:sp>
        <p:nvSpPr>
          <p:cNvPr id="369" name="Google Shape;369;p51"/>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p>
            <a:pPr indent="0" lvl="0" marL="0" rtl="0" algn="just">
              <a:lnSpc>
                <a:spcPct val="115000"/>
              </a:lnSpc>
              <a:spcBef>
                <a:spcPts val="0"/>
              </a:spcBef>
              <a:spcAft>
                <a:spcPts val="0"/>
              </a:spcAft>
              <a:buNone/>
            </a:pPr>
            <a:r>
              <a:rPr lang="ru">
                <a:solidFill>
                  <a:srgbClr val="000000"/>
                </a:solidFill>
              </a:rPr>
              <a:t>По завершению обработки прерывания процессор должен восстановить состояние ресурсов, соответствующее прерванной программе, после чего она может быть продолжена.</a:t>
            </a:r>
            <a:endParaRPr>
              <a:solidFill>
                <a:srgbClr val="000000"/>
              </a:solidFill>
            </a:endParaRPr>
          </a:p>
          <a:p>
            <a:pPr indent="0" lvl="0" marL="0" rtl="0" algn="l">
              <a:spcBef>
                <a:spcPts val="800"/>
              </a:spcBef>
              <a:spcAft>
                <a:spcPts val="0"/>
              </a:spcAft>
              <a:buNone/>
            </a:pPr>
            <a:r>
              <a:t/>
            </a:r>
            <a:endParaRPr sz="1300"/>
          </a:p>
        </p:txBody>
      </p:sp>
      <p:sp>
        <p:nvSpPr>
          <p:cNvPr id="370" name="Google Shape;370;p51"/>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pic>
        <p:nvPicPr>
          <p:cNvPr id="371" name="Google Shape;371;p51"/>
          <p:cNvPicPr preferRelativeResize="0"/>
          <p:nvPr/>
        </p:nvPicPr>
        <p:blipFill>
          <a:blip r:embed="rId3">
            <a:alphaModFix/>
          </a:blip>
          <a:stretch>
            <a:fillRect/>
          </a:stretch>
        </p:blipFill>
        <p:spPr>
          <a:xfrm>
            <a:off x="2029075" y="2026600"/>
            <a:ext cx="4989975" cy="30167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2"/>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Вектора прерываний</a:t>
            </a:r>
            <a:endParaRPr/>
          </a:p>
        </p:txBody>
      </p:sp>
      <p:sp>
        <p:nvSpPr>
          <p:cNvPr id="377" name="Google Shape;377;p52"/>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ru">
                <a:solidFill>
                  <a:srgbClr val="13150D"/>
                </a:solidFill>
              </a:rPr>
              <a:t>Адреса подпрограмм, соответствующих различным прерываниям, собраны в таблицу, которая называется</a:t>
            </a:r>
            <a:r>
              <a:rPr b="1" lang="ru">
                <a:solidFill>
                  <a:srgbClr val="13150D"/>
                </a:solidFill>
              </a:rPr>
              <a:t> таблицей векторов прерываний</a:t>
            </a:r>
            <a:r>
              <a:rPr lang="ru">
                <a:solidFill>
                  <a:srgbClr val="13150D"/>
                </a:solidFill>
              </a:rPr>
              <a:t>.</a:t>
            </a:r>
            <a:endParaRPr>
              <a:solidFill>
                <a:srgbClr val="13150D"/>
              </a:solidFill>
            </a:endParaRPr>
          </a:p>
          <a:p>
            <a:pPr indent="0" lvl="0" marL="0" rtl="0" algn="l">
              <a:lnSpc>
                <a:spcPct val="115000"/>
              </a:lnSpc>
              <a:spcBef>
                <a:spcPts val="800"/>
              </a:spcBef>
              <a:spcAft>
                <a:spcPts val="0"/>
              </a:spcAft>
              <a:buNone/>
            </a:pPr>
            <a:r>
              <a:rPr lang="ru">
                <a:solidFill>
                  <a:srgbClr val="13150D"/>
                </a:solidFill>
              </a:rPr>
              <a:t>В отличие от условных и безусловных переходов, прерывание может быть вызвано в любом месте программы, в том числе если выполнение программы приостановлено, и обусловлено обычно внешними по отношению к программе событиями.</a:t>
            </a:r>
            <a:endParaRPr>
              <a:solidFill>
                <a:srgbClr val="13150D"/>
              </a:solidFill>
            </a:endParaRPr>
          </a:p>
          <a:p>
            <a:pPr indent="0" lvl="0" marL="0" rtl="0" algn="l">
              <a:lnSpc>
                <a:spcPct val="115000"/>
              </a:lnSpc>
              <a:spcBef>
                <a:spcPts val="800"/>
              </a:spcBef>
              <a:spcAft>
                <a:spcPts val="0"/>
              </a:spcAft>
              <a:buNone/>
            </a:pPr>
            <a:r>
              <a:rPr lang="ru">
                <a:solidFill>
                  <a:srgbClr val="13150D"/>
                </a:solidFill>
              </a:rPr>
              <a:t>Таблица векторов прерываний может отличаться в зависимости от модификации </a:t>
            </a:r>
            <a:endParaRPr>
              <a:solidFill>
                <a:srgbClr val="13150D"/>
              </a:solidFill>
            </a:endParaRPr>
          </a:p>
          <a:p>
            <a:pPr indent="0" lvl="0" marL="0" rtl="0" algn="l">
              <a:spcBef>
                <a:spcPts val="800"/>
              </a:spcBef>
              <a:spcAft>
                <a:spcPts val="0"/>
              </a:spcAft>
              <a:buNone/>
            </a:pPr>
            <a:r>
              <a:t/>
            </a:r>
            <a:endParaRPr/>
          </a:p>
        </p:txBody>
      </p:sp>
      <p:sp>
        <p:nvSpPr>
          <p:cNvPr id="378" name="Google Shape;378;p52"/>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3"/>
          <p:cNvSpPr txBox="1"/>
          <p:nvPr>
            <p:ph type="title"/>
          </p:nvPr>
        </p:nvSpPr>
        <p:spPr>
          <a:xfrm>
            <a:off x="218550" y="445025"/>
            <a:ext cx="86139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Таблица векторов прерываний в MC68HC11</a:t>
            </a:r>
            <a:endParaRPr/>
          </a:p>
        </p:txBody>
      </p:sp>
      <p:sp>
        <p:nvSpPr>
          <p:cNvPr id="384" name="Google Shape;384;p53"/>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pic>
        <p:nvPicPr>
          <p:cNvPr id="385" name="Google Shape;385;p53"/>
          <p:cNvPicPr preferRelativeResize="0"/>
          <p:nvPr/>
        </p:nvPicPr>
        <p:blipFill>
          <a:blip r:embed="rId3">
            <a:alphaModFix/>
          </a:blip>
          <a:stretch>
            <a:fillRect/>
          </a:stretch>
        </p:blipFill>
        <p:spPr>
          <a:xfrm>
            <a:off x="1763350" y="1051000"/>
            <a:ext cx="5119449" cy="39207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4"/>
          <p:cNvSpPr txBox="1"/>
          <p:nvPr>
            <p:ph type="title"/>
          </p:nvPr>
        </p:nvSpPr>
        <p:spPr>
          <a:xfrm>
            <a:off x="250400" y="445025"/>
            <a:ext cx="85818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solidFill>
                  <a:schemeClr val="lt1"/>
                </a:solidFill>
              </a:rPr>
              <a:t>Таблица векторов прерываний в MC68HC11</a:t>
            </a:r>
            <a:endParaRPr>
              <a:solidFill>
                <a:schemeClr val="lt1"/>
              </a:solidFill>
            </a:endParaRPr>
          </a:p>
          <a:p>
            <a:pPr indent="0" lvl="0" marL="0" rtl="0" algn="l">
              <a:spcBef>
                <a:spcPts val="0"/>
              </a:spcBef>
              <a:spcAft>
                <a:spcPts val="0"/>
              </a:spcAft>
              <a:buNone/>
            </a:pPr>
            <a:r>
              <a:t/>
            </a:r>
            <a:endParaRPr/>
          </a:p>
        </p:txBody>
      </p:sp>
      <p:sp>
        <p:nvSpPr>
          <p:cNvPr id="391" name="Google Shape;391;p54"/>
          <p:cNvSpPr txBox="1"/>
          <p:nvPr>
            <p:ph idx="1" type="body"/>
          </p:nvPr>
        </p:nvSpPr>
        <p:spPr>
          <a:xfrm>
            <a:off x="311700" y="1152475"/>
            <a:ext cx="8520600" cy="3416400"/>
          </a:xfrm>
          <a:prstGeom prst="rect">
            <a:avLst/>
          </a:prstGeom>
        </p:spPr>
        <p:txBody>
          <a:bodyPr anchorCtr="0" anchor="t" bIns="34275" lIns="68575" spcFirstLastPara="1" rIns="68575" wrap="square" tIns="34275">
            <a:normAutofit fontScale="92500" lnSpcReduction="10000"/>
          </a:bodyPr>
          <a:lstStyle/>
          <a:p>
            <a:pPr indent="0" lvl="0" marL="0" rtl="0" algn="just">
              <a:lnSpc>
                <a:spcPct val="115000"/>
              </a:lnSpc>
              <a:spcBef>
                <a:spcPts val="0"/>
              </a:spcBef>
              <a:spcAft>
                <a:spcPts val="0"/>
              </a:spcAft>
              <a:buNone/>
            </a:pPr>
            <a:r>
              <a:rPr lang="ru">
                <a:solidFill>
                  <a:srgbClr val="13150D"/>
                </a:solidFill>
              </a:rPr>
              <a:t>Микроконтроллер MC68HC11 обладает гибкой системой обработки прерываний и исключительных ситуаций. Система обработки прерываний включает в себя ряд аппаратных источников (порты ввода/вывода, таймер, асинхронный и синхронный последовательные интерфейсы, внешние прерывания) и один программный (SWI). </a:t>
            </a:r>
            <a:endParaRPr>
              <a:solidFill>
                <a:srgbClr val="13150D"/>
              </a:solidFill>
            </a:endParaRPr>
          </a:p>
          <a:p>
            <a:pPr indent="0" lvl="0" marL="0" rtl="0" algn="just">
              <a:lnSpc>
                <a:spcPct val="115000"/>
              </a:lnSpc>
              <a:spcBef>
                <a:spcPts val="800"/>
              </a:spcBef>
              <a:spcAft>
                <a:spcPts val="0"/>
              </a:spcAft>
              <a:buNone/>
            </a:pPr>
            <a:r>
              <a:rPr lang="ru">
                <a:solidFill>
                  <a:srgbClr val="13150D"/>
                </a:solidFill>
              </a:rPr>
              <a:t>После возникновения запроса на прерывание микроконтроллер завершает выполнение текущей команды и передает управление по адресу, записанному в векторе прерывания.</a:t>
            </a:r>
            <a:endParaRPr>
              <a:solidFill>
                <a:srgbClr val="13150D"/>
              </a:solidFill>
            </a:endParaRPr>
          </a:p>
          <a:p>
            <a:pPr indent="0" lvl="0" marL="0" rtl="0" algn="just">
              <a:lnSpc>
                <a:spcPct val="115000"/>
              </a:lnSpc>
              <a:spcBef>
                <a:spcPts val="800"/>
              </a:spcBef>
              <a:spcAft>
                <a:spcPts val="0"/>
              </a:spcAft>
              <a:buNone/>
            </a:pPr>
            <a:r>
              <a:rPr b="1" lang="ru">
                <a:solidFill>
                  <a:srgbClr val="13150D"/>
                </a:solidFill>
              </a:rPr>
              <a:t>В нормальных режимах </a:t>
            </a:r>
            <a:r>
              <a:rPr lang="ru">
                <a:solidFill>
                  <a:srgbClr val="13150D"/>
                </a:solidFill>
              </a:rPr>
              <a:t>работы (однокристальном (Single-Chip) и расширенном (Expanded)) вектора прерываний располагаются в </a:t>
            </a:r>
            <a:r>
              <a:rPr b="1" lang="ru">
                <a:solidFill>
                  <a:srgbClr val="13150D"/>
                </a:solidFill>
              </a:rPr>
              <a:t>фиксированной области памяти </a:t>
            </a:r>
            <a:r>
              <a:rPr lang="ru">
                <a:solidFill>
                  <a:srgbClr val="13150D"/>
                </a:solidFill>
              </a:rPr>
              <a:t>и занимают по </a:t>
            </a:r>
            <a:r>
              <a:rPr b="1" lang="ru">
                <a:solidFill>
                  <a:srgbClr val="13150D"/>
                </a:solidFill>
              </a:rPr>
              <a:t>2 байта</a:t>
            </a:r>
            <a:r>
              <a:rPr lang="ru">
                <a:solidFill>
                  <a:srgbClr val="13150D"/>
                </a:solidFill>
              </a:rPr>
              <a:t>. </a:t>
            </a:r>
            <a:endParaRPr>
              <a:solidFill>
                <a:srgbClr val="13150D"/>
              </a:solidFill>
            </a:endParaRPr>
          </a:p>
          <a:p>
            <a:pPr indent="0" lvl="0" marL="0" rtl="0" algn="just">
              <a:lnSpc>
                <a:spcPct val="115000"/>
              </a:lnSpc>
              <a:spcBef>
                <a:spcPts val="800"/>
              </a:spcBef>
              <a:spcAft>
                <a:spcPts val="0"/>
              </a:spcAft>
              <a:buNone/>
            </a:pPr>
            <a:r>
              <a:rPr b="1" lang="ru">
                <a:solidFill>
                  <a:srgbClr val="13150D"/>
                </a:solidFill>
              </a:rPr>
              <a:t>В специальных режимах </a:t>
            </a:r>
            <a:r>
              <a:rPr lang="ru">
                <a:solidFill>
                  <a:srgbClr val="13150D"/>
                </a:solidFill>
              </a:rPr>
              <a:t>работы (bootstrap и test) таблица векторов прерывания </a:t>
            </a:r>
            <a:r>
              <a:rPr b="1" lang="ru">
                <a:solidFill>
                  <a:srgbClr val="13150D"/>
                </a:solidFill>
              </a:rPr>
              <a:t>переносится в область ОЗУ</a:t>
            </a:r>
            <a:r>
              <a:rPr lang="ru">
                <a:solidFill>
                  <a:srgbClr val="13150D"/>
                </a:solidFill>
              </a:rPr>
              <a:t>, где каждый вектор занимает </a:t>
            </a:r>
            <a:r>
              <a:rPr b="1" lang="ru">
                <a:solidFill>
                  <a:srgbClr val="13150D"/>
                </a:solidFill>
              </a:rPr>
              <a:t>3 байта </a:t>
            </a:r>
            <a:r>
              <a:rPr lang="ru">
                <a:solidFill>
                  <a:srgbClr val="13150D"/>
                </a:solidFill>
              </a:rPr>
              <a:t>и в него записана </a:t>
            </a:r>
            <a:r>
              <a:rPr b="1" lang="ru">
                <a:solidFill>
                  <a:srgbClr val="13150D"/>
                </a:solidFill>
              </a:rPr>
              <a:t>команда</a:t>
            </a:r>
            <a:r>
              <a:rPr lang="ru">
                <a:solidFill>
                  <a:srgbClr val="13150D"/>
                </a:solidFill>
              </a:rPr>
              <a:t> перехода, а не адрес.</a:t>
            </a:r>
            <a:endParaRPr>
              <a:solidFill>
                <a:srgbClr val="13150D"/>
              </a:solidFill>
            </a:endParaRPr>
          </a:p>
          <a:p>
            <a:pPr indent="0" lvl="0" marL="0" rtl="0" algn="l">
              <a:spcBef>
                <a:spcPts val="800"/>
              </a:spcBef>
              <a:spcAft>
                <a:spcPts val="0"/>
              </a:spcAft>
              <a:buNone/>
            </a:pPr>
            <a:r>
              <a:t/>
            </a:r>
            <a:endParaRPr/>
          </a:p>
        </p:txBody>
      </p:sp>
      <p:sp>
        <p:nvSpPr>
          <p:cNvPr id="392" name="Google Shape;392;p54"/>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5"/>
          <p:cNvSpPr txBox="1"/>
          <p:nvPr>
            <p:ph type="title"/>
          </p:nvPr>
        </p:nvSpPr>
        <p:spPr>
          <a:xfrm>
            <a:off x="250400" y="445025"/>
            <a:ext cx="85818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solidFill>
                  <a:schemeClr val="lt1"/>
                </a:solidFill>
              </a:rPr>
              <a:t>Команды работы с прерываниями. </a:t>
            </a:r>
            <a:endParaRPr>
              <a:solidFill>
                <a:schemeClr val="lt1"/>
              </a:solidFill>
            </a:endParaRPr>
          </a:p>
          <a:p>
            <a:pPr indent="0" lvl="0" marL="0" rtl="0" algn="l">
              <a:spcBef>
                <a:spcPts val="0"/>
              </a:spcBef>
              <a:spcAft>
                <a:spcPts val="0"/>
              </a:spcAft>
              <a:buNone/>
            </a:pPr>
            <a:r>
              <a:t/>
            </a:r>
            <a:endParaRPr/>
          </a:p>
        </p:txBody>
      </p:sp>
      <p:sp>
        <p:nvSpPr>
          <p:cNvPr id="398" name="Google Shape;398;p55"/>
          <p:cNvSpPr txBox="1"/>
          <p:nvPr>
            <p:ph idx="1" type="body"/>
          </p:nvPr>
        </p:nvSpPr>
        <p:spPr>
          <a:xfrm>
            <a:off x="311700" y="1152475"/>
            <a:ext cx="8520600" cy="3416400"/>
          </a:xfrm>
          <a:prstGeom prst="rect">
            <a:avLst/>
          </a:prstGeom>
        </p:spPr>
        <p:txBody>
          <a:bodyPr anchorCtr="0" anchor="t" bIns="34275" lIns="68575" spcFirstLastPara="1" rIns="68575" wrap="square" tIns="34275">
            <a:normAutofit fontScale="92500"/>
          </a:bodyPr>
          <a:lstStyle/>
          <a:p>
            <a:pPr indent="0" lvl="0" marL="0" rtl="0" algn="just">
              <a:lnSpc>
                <a:spcPct val="115000"/>
              </a:lnSpc>
              <a:spcBef>
                <a:spcPts val="0"/>
              </a:spcBef>
              <a:spcAft>
                <a:spcPts val="0"/>
              </a:spcAft>
              <a:buNone/>
            </a:pPr>
            <a:r>
              <a:rPr lang="ru">
                <a:solidFill>
                  <a:srgbClr val="000000"/>
                </a:solidFill>
              </a:rPr>
              <a:t>Команды работы с прерываниями предназначены для входа или выхода из прерывания.</a:t>
            </a:r>
            <a:endParaRPr>
              <a:solidFill>
                <a:srgbClr val="000000"/>
              </a:solidFill>
            </a:endParaRPr>
          </a:p>
          <a:p>
            <a:pPr indent="0" lvl="0" marL="0" rtl="0" algn="just">
              <a:lnSpc>
                <a:spcPct val="115000"/>
              </a:lnSpc>
              <a:spcBef>
                <a:spcPts val="800"/>
              </a:spcBef>
              <a:spcAft>
                <a:spcPts val="0"/>
              </a:spcAft>
              <a:buNone/>
            </a:pPr>
            <a:r>
              <a:rPr lang="ru">
                <a:solidFill>
                  <a:srgbClr val="13150D"/>
                </a:solidFill>
              </a:rPr>
              <a:t>Для выполнения программного прерывания служит команда </a:t>
            </a:r>
            <a:r>
              <a:rPr b="1" lang="ru">
                <a:solidFill>
                  <a:srgbClr val="13150D"/>
                </a:solidFill>
              </a:rPr>
              <a:t>SWI</a:t>
            </a:r>
            <a:r>
              <a:rPr lang="ru">
                <a:solidFill>
                  <a:srgbClr val="13150D"/>
                </a:solidFill>
              </a:rPr>
              <a:t>. Она выполняет последовательное </a:t>
            </a:r>
            <a:r>
              <a:rPr b="1" lang="ru">
                <a:solidFill>
                  <a:srgbClr val="13150D"/>
                </a:solidFill>
              </a:rPr>
              <a:t>сохранение</a:t>
            </a:r>
            <a:r>
              <a:rPr lang="ru">
                <a:solidFill>
                  <a:srgbClr val="13150D"/>
                </a:solidFill>
              </a:rPr>
              <a:t> в стеке регистров </a:t>
            </a:r>
            <a:r>
              <a:rPr b="1" lang="ru">
                <a:solidFill>
                  <a:srgbClr val="13150D"/>
                </a:solidFill>
              </a:rPr>
              <a:t>PC+1, Y, X, D, CCR, запрещает маскируемые прерывания</a:t>
            </a:r>
            <a:r>
              <a:rPr lang="ru">
                <a:solidFill>
                  <a:srgbClr val="13150D"/>
                </a:solidFill>
              </a:rPr>
              <a:t> (устанавливает бит I в регистре CCR) и </a:t>
            </a:r>
            <a:r>
              <a:rPr b="1" lang="ru">
                <a:solidFill>
                  <a:srgbClr val="13150D"/>
                </a:solidFill>
              </a:rPr>
              <a:t>передает управление </a:t>
            </a:r>
            <a:r>
              <a:rPr lang="ru">
                <a:solidFill>
                  <a:srgbClr val="13150D"/>
                </a:solidFill>
              </a:rPr>
              <a:t>на подпрограмму, адрес которой находится в таблице векторов прерывания. </a:t>
            </a:r>
            <a:endParaRPr>
              <a:solidFill>
                <a:srgbClr val="13150D"/>
              </a:solidFill>
            </a:endParaRPr>
          </a:p>
          <a:p>
            <a:pPr indent="0" lvl="0" marL="0" rtl="0" algn="just">
              <a:lnSpc>
                <a:spcPct val="115000"/>
              </a:lnSpc>
              <a:spcBef>
                <a:spcPts val="800"/>
              </a:spcBef>
              <a:spcAft>
                <a:spcPts val="0"/>
              </a:spcAft>
              <a:buNone/>
            </a:pPr>
            <a:r>
              <a:rPr lang="ru">
                <a:solidFill>
                  <a:srgbClr val="13150D"/>
                </a:solidFill>
              </a:rPr>
              <a:t>Адрес обработчика прерывания SWI должен быть расположен по адресу </a:t>
            </a:r>
            <a:r>
              <a:rPr b="1" lang="ru">
                <a:solidFill>
                  <a:srgbClr val="13150D"/>
                </a:solidFill>
              </a:rPr>
              <a:t>$fff6</a:t>
            </a:r>
            <a:r>
              <a:rPr lang="ru">
                <a:solidFill>
                  <a:srgbClr val="13150D"/>
                </a:solidFill>
              </a:rPr>
              <a:t>, если работа происходит в нормальном режиме работы, или по адресу </a:t>
            </a:r>
            <a:r>
              <a:rPr b="1" lang="ru">
                <a:solidFill>
                  <a:srgbClr val="13150D"/>
                </a:solidFill>
              </a:rPr>
              <a:t>$00f4</a:t>
            </a:r>
            <a:r>
              <a:rPr lang="ru">
                <a:solidFill>
                  <a:srgbClr val="13150D"/>
                </a:solidFill>
              </a:rPr>
              <a:t>, если МК находится в специальном режиме.</a:t>
            </a:r>
            <a:r>
              <a:rPr lang="ru">
                <a:solidFill>
                  <a:srgbClr val="FB0007"/>
                </a:solidFill>
              </a:rPr>
              <a:t> </a:t>
            </a:r>
            <a:endParaRPr>
              <a:solidFill>
                <a:srgbClr val="FB0007"/>
              </a:solidFill>
            </a:endParaRPr>
          </a:p>
          <a:p>
            <a:pPr indent="0" lvl="0" marL="0" rtl="0" algn="just">
              <a:lnSpc>
                <a:spcPct val="115000"/>
              </a:lnSpc>
              <a:spcBef>
                <a:spcPts val="800"/>
              </a:spcBef>
              <a:spcAft>
                <a:spcPts val="0"/>
              </a:spcAft>
              <a:buNone/>
            </a:pPr>
            <a:r>
              <a:rPr lang="ru">
                <a:solidFill>
                  <a:srgbClr val="13150D"/>
                </a:solidFill>
              </a:rPr>
              <a:t>Для возврата из прерывания используется команда </a:t>
            </a:r>
            <a:r>
              <a:rPr b="1" lang="ru">
                <a:solidFill>
                  <a:srgbClr val="13150D"/>
                </a:solidFill>
              </a:rPr>
              <a:t>RTI</a:t>
            </a:r>
            <a:r>
              <a:rPr lang="ru">
                <a:solidFill>
                  <a:srgbClr val="13150D"/>
                </a:solidFill>
              </a:rPr>
              <a:t>. Она восстанавливает значения регистров из запомненных в стеке, тем самым осуществляется возврат к прерванной программе с сохранением состояния регистров.</a:t>
            </a:r>
            <a:endParaRPr>
              <a:solidFill>
                <a:srgbClr val="13150D"/>
              </a:solidFill>
            </a:endParaRPr>
          </a:p>
          <a:p>
            <a:pPr indent="0" lvl="0" marL="0" rtl="0" algn="l">
              <a:spcBef>
                <a:spcPts val="800"/>
              </a:spcBef>
              <a:spcAft>
                <a:spcPts val="0"/>
              </a:spcAft>
              <a:buNone/>
            </a:pPr>
            <a:r>
              <a:t/>
            </a:r>
            <a:endParaRPr>
              <a:solidFill>
                <a:srgbClr val="13150D"/>
              </a:solidFill>
            </a:endParaRPr>
          </a:p>
        </p:txBody>
      </p:sp>
      <p:sp>
        <p:nvSpPr>
          <p:cNvPr id="399" name="Google Shape;399;p55"/>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6"/>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Обработка прерываний</a:t>
            </a:r>
            <a:endParaRPr/>
          </a:p>
        </p:txBody>
      </p:sp>
      <p:sp>
        <p:nvSpPr>
          <p:cNvPr id="405" name="Google Shape;405;p56"/>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p>
            <a:pPr indent="0" lvl="0" marL="0" rtl="0" algn="just">
              <a:lnSpc>
                <a:spcPct val="115000"/>
              </a:lnSpc>
              <a:spcBef>
                <a:spcPts val="0"/>
              </a:spcBef>
              <a:spcAft>
                <a:spcPts val="0"/>
              </a:spcAft>
              <a:buNone/>
            </a:pPr>
            <a:r>
              <a:rPr lang="ru">
                <a:solidFill>
                  <a:srgbClr val="13150D"/>
                </a:solidFill>
              </a:rPr>
              <a:t>Вызов прерывания влечет за собой запись основных регистров в стек, при этом порядок размещения регистров следующий:</a:t>
            </a:r>
            <a:endParaRPr>
              <a:solidFill>
                <a:srgbClr val="13150D"/>
              </a:solidFill>
            </a:endParaRPr>
          </a:p>
          <a:p>
            <a:pPr indent="0" lvl="0" marL="0" rtl="0" algn="l">
              <a:spcBef>
                <a:spcPts val="800"/>
              </a:spcBef>
              <a:spcAft>
                <a:spcPts val="0"/>
              </a:spcAft>
              <a:buNone/>
            </a:pPr>
            <a:r>
              <a:t/>
            </a:r>
            <a:endParaRPr/>
          </a:p>
        </p:txBody>
      </p:sp>
      <p:sp>
        <p:nvSpPr>
          <p:cNvPr id="406" name="Google Shape;406;p56"/>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pic>
        <p:nvPicPr>
          <p:cNvPr id="407" name="Google Shape;407;p56"/>
          <p:cNvPicPr preferRelativeResize="0"/>
          <p:nvPr/>
        </p:nvPicPr>
        <p:blipFill>
          <a:blip r:embed="rId3">
            <a:alphaModFix/>
          </a:blip>
          <a:stretch>
            <a:fillRect/>
          </a:stretch>
        </p:blipFill>
        <p:spPr>
          <a:xfrm>
            <a:off x="311700" y="1870259"/>
            <a:ext cx="8520602" cy="310534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7"/>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Обработка прерываний</a:t>
            </a:r>
            <a:endParaRPr/>
          </a:p>
        </p:txBody>
      </p:sp>
      <p:sp>
        <p:nvSpPr>
          <p:cNvPr id="413" name="Google Shape;413;p57"/>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p>
            <a:pPr indent="0" lvl="0" marL="0" rtl="0" algn="just">
              <a:lnSpc>
                <a:spcPct val="115000"/>
              </a:lnSpc>
              <a:spcBef>
                <a:spcPts val="0"/>
              </a:spcBef>
              <a:spcAft>
                <a:spcPts val="0"/>
              </a:spcAft>
              <a:buNone/>
            </a:pPr>
            <a:r>
              <a:rPr lang="ru">
                <a:solidFill>
                  <a:srgbClr val="13150D"/>
                </a:solidFill>
              </a:rPr>
              <a:t>При одновременном возникновении нескольких запросов обработка производится в соответствии со структурой приоритетов. Из аппаратных прерываний (программное прерывание </a:t>
            </a:r>
            <a:r>
              <a:rPr b="1" lang="ru">
                <a:solidFill>
                  <a:srgbClr val="13150D"/>
                </a:solidFill>
              </a:rPr>
              <a:t>SWI</a:t>
            </a:r>
            <a:r>
              <a:rPr lang="ru">
                <a:solidFill>
                  <a:srgbClr val="13150D"/>
                </a:solidFill>
              </a:rPr>
              <a:t> выполняется как команда и после начала выполнения никакие другие прерывания или исключительные ситуации, кроме </a:t>
            </a:r>
            <a:r>
              <a:rPr b="1" lang="ru">
                <a:solidFill>
                  <a:srgbClr val="13150D"/>
                </a:solidFill>
              </a:rPr>
              <a:t>RESET</a:t>
            </a:r>
            <a:r>
              <a:rPr lang="ru">
                <a:solidFill>
                  <a:srgbClr val="13150D"/>
                </a:solidFill>
              </a:rPr>
              <a:t> не могут прервать ее выполнение) высший приоритет имеет немаскируемое внешнее прерывание </a:t>
            </a:r>
            <a:r>
              <a:rPr b="1" lang="ru">
                <a:solidFill>
                  <a:srgbClr val="13150D"/>
                </a:solidFill>
              </a:rPr>
              <a:t>XIRQ</a:t>
            </a:r>
            <a:r>
              <a:rPr lang="ru">
                <a:solidFill>
                  <a:srgbClr val="13150D"/>
                </a:solidFill>
              </a:rPr>
              <a:t>, разрешаемое сбросом бита </a:t>
            </a:r>
            <a:r>
              <a:rPr b="1" lang="ru">
                <a:solidFill>
                  <a:srgbClr val="13150D"/>
                </a:solidFill>
              </a:rPr>
              <a:t>X</a:t>
            </a:r>
            <a:r>
              <a:rPr lang="ru">
                <a:solidFill>
                  <a:srgbClr val="13150D"/>
                </a:solidFill>
              </a:rPr>
              <a:t> в регистре условий </a:t>
            </a:r>
            <a:r>
              <a:rPr b="1" lang="ru">
                <a:solidFill>
                  <a:srgbClr val="13150D"/>
                </a:solidFill>
              </a:rPr>
              <a:t>CCR</a:t>
            </a:r>
            <a:r>
              <a:rPr lang="ru">
                <a:solidFill>
                  <a:srgbClr val="13150D"/>
                </a:solidFill>
              </a:rPr>
              <a:t> (установка этого бита может производиться только аппаратно - при возникновении прерывания по </a:t>
            </a:r>
            <a:r>
              <a:rPr b="1" lang="ru">
                <a:solidFill>
                  <a:srgbClr val="13150D"/>
                </a:solidFill>
              </a:rPr>
              <a:t>XIRQ</a:t>
            </a:r>
            <a:r>
              <a:rPr lang="ru">
                <a:solidFill>
                  <a:srgbClr val="13150D"/>
                </a:solidFill>
              </a:rPr>
              <a:t> или по сигналу сброса </a:t>
            </a:r>
            <a:r>
              <a:rPr b="1" lang="ru">
                <a:solidFill>
                  <a:srgbClr val="13150D"/>
                </a:solidFill>
              </a:rPr>
              <a:t>RESET</a:t>
            </a:r>
            <a:r>
              <a:rPr lang="ru">
                <a:solidFill>
                  <a:srgbClr val="13150D"/>
                </a:solidFill>
              </a:rPr>
              <a:t>). </a:t>
            </a:r>
            <a:endParaRPr>
              <a:solidFill>
                <a:srgbClr val="13150D"/>
              </a:solidFill>
            </a:endParaRPr>
          </a:p>
          <a:p>
            <a:pPr indent="0" lvl="0" marL="0" rtl="0" algn="just">
              <a:lnSpc>
                <a:spcPct val="115000"/>
              </a:lnSpc>
              <a:spcBef>
                <a:spcPts val="800"/>
              </a:spcBef>
              <a:spcAft>
                <a:spcPts val="0"/>
              </a:spcAft>
              <a:buNone/>
            </a:pPr>
            <a:r>
              <a:rPr lang="ru">
                <a:solidFill>
                  <a:srgbClr val="13150D"/>
                </a:solidFill>
              </a:rPr>
              <a:t>Остальные прерывания образуют группу </a:t>
            </a:r>
            <a:r>
              <a:rPr b="1" lang="ru">
                <a:solidFill>
                  <a:srgbClr val="13150D"/>
                </a:solidFill>
              </a:rPr>
              <a:t>I</a:t>
            </a:r>
            <a:r>
              <a:rPr lang="ru">
                <a:solidFill>
                  <a:srgbClr val="13150D"/>
                </a:solidFill>
              </a:rPr>
              <a:t> - прерываний, все они могут быть запрещены/разрешены путем соответственно установки/сброса бита </a:t>
            </a:r>
            <a:r>
              <a:rPr b="1" lang="ru">
                <a:solidFill>
                  <a:srgbClr val="13150D"/>
                </a:solidFill>
              </a:rPr>
              <a:t>I</a:t>
            </a:r>
            <a:r>
              <a:rPr lang="ru">
                <a:solidFill>
                  <a:srgbClr val="13150D"/>
                </a:solidFill>
              </a:rPr>
              <a:t> в регистре условий </a:t>
            </a:r>
            <a:r>
              <a:rPr b="1" lang="ru">
                <a:solidFill>
                  <a:srgbClr val="13150D"/>
                </a:solidFill>
              </a:rPr>
              <a:t>CCR</a:t>
            </a:r>
            <a:r>
              <a:rPr lang="ru">
                <a:solidFill>
                  <a:srgbClr val="13150D"/>
                </a:solidFill>
              </a:rPr>
              <a:t> (например командами </a:t>
            </a:r>
            <a:r>
              <a:rPr b="1" lang="ru">
                <a:solidFill>
                  <a:srgbClr val="13150D"/>
                </a:solidFill>
              </a:rPr>
              <a:t>SEI</a:t>
            </a:r>
            <a:r>
              <a:rPr lang="ru">
                <a:solidFill>
                  <a:srgbClr val="13150D"/>
                </a:solidFill>
              </a:rPr>
              <a:t> и </a:t>
            </a:r>
            <a:r>
              <a:rPr b="1" lang="ru">
                <a:solidFill>
                  <a:srgbClr val="13150D"/>
                </a:solidFill>
              </a:rPr>
              <a:t>CLI</a:t>
            </a:r>
            <a:r>
              <a:rPr lang="ru">
                <a:solidFill>
                  <a:srgbClr val="13150D"/>
                </a:solidFill>
              </a:rPr>
              <a:t>).</a:t>
            </a:r>
            <a:endParaRPr>
              <a:solidFill>
                <a:srgbClr val="13150D"/>
              </a:solidFill>
            </a:endParaRPr>
          </a:p>
          <a:p>
            <a:pPr indent="0" lvl="0" marL="0" rtl="0" algn="l">
              <a:spcBef>
                <a:spcPts val="800"/>
              </a:spcBef>
              <a:spcAft>
                <a:spcPts val="0"/>
              </a:spcAft>
              <a:buNone/>
            </a:pPr>
            <a:r>
              <a:t/>
            </a:r>
            <a:endParaRPr/>
          </a:p>
        </p:txBody>
      </p:sp>
      <p:sp>
        <p:nvSpPr>
          <p:cNvPr id="414" name="Google Shape;414;p57"/>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8"/>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Обработка прерываний</a:t>
            </a:r>
            <a:endParaRPr/>
          </a:p>
        </p:txBody>
      </p:sp>
      <p:sp>
        <p:nvSpPr>
          <p:cNvPr id="420" name="Google Shape;420;p58"/>
          <p:cNvSpPr txBox="1"/>
          <p:nvPr>
            <p:ph idx="1" type="body"/>
          </p:nvPr>
        </p:nvSpPr>
        <p:spPr>
          <a:xfrm>
            <a:off x="311700" y="1017725"/>
            <a:ext cx="8520600" cy="3918000"/>
          </a:xfrm>
          <a:prstGeom prst="rect">
            <a:avLst/>
          </a:prstGeom>
        </p:spPr>
        <p:txBody>
          <a:bodyPr anchorCtr="0" anchor="t" bIns="34275" lIns="68575" spcFirstLastPara="1" rIns="68575" wrap="square" tIns="34275">
            <a:normAutofit fontScale="92500" lnSpcReduction="20000"/>
          </a:bodyPr>
          <a:lstStyle/>
          <a:p>
            <a:pPr indent="0" lvl="0" marL="0" rtl="0" algn="just">
              <a:lnSpc>
                <a:spcPct val="115000"/>
              </a:lnSpc>
              <a:spcBef>
                <a:spcPts val="0"/>
              </a:spcBef>
              <a:spcAft>
                <a:spcPts val="0"/>
              </a:spcAft>
              <a:buNone/>
            </a:pPr>
            <a:r>
              <a:rPr lang="ru" sz="1350">
                <a:solidFill>
                  <a:srgbClr val="000000"/>
                </a:solidFill>
              </a:rPr>
              <a:t>В этой группе (I-прерываний) высший приоритет имеет прерывание, определяемое состоянием младшей тетрады регистра </a:t>
            </a:r>
            <a:r>
              <a:rPr b="1" lang="ru" sz="1350">
                <a:solidFill>
                  <a:srgbClr val="000000"/>
                </a:solidFill>
              </a:rPr>
              <a:t>HPRIO</a:t>
            </a:r>
            <a:r>
              <a:rPr lang="ru" sz="1350">
                <a:solidFill>
                  <a:srgbClr val="000000"/>
                </a:solidFill>
              </a:rPr>
              <a:t> - Highest Priority I-Bit Interrupt and Miscellaneous (рассматривать не будем). Далее приоритет источников прерывания падает в следующем порядке:</a:t>
            </a:r>
            <a:endParaRPr sz="1350">
              <a:solidFill>
                <a:srgbClr val="000000"/>
              </a:solidFill>
            </a:endParaRPr>
          </a:p>
          <a:p>
            <a:pPr indent="-316706" lvl="0" marL="457200" rtl="0" algn="l">
              <a:lnSpc>
                <a:spcPct val="115000"/>
              </a:lnSpc>
              <a:spcBef>
                <a:spcPts val="1200"/>
              </a:spcBef>
              <a:spcAft>
                <a:spcPts val="0"/>
              </a:spcAft>
              <a:buClr>
                <a:srgbClr val="000000"/>
              </a:buClr>
              <a:buSzPct val="100000"/>
              <a:buFont typeface="Century Gothic"/>
              <a:buAutoNum type="arabicPeriod"/>
            </a:pPr>
            <a:r>
              <a:rPr lang="ru">
                <a:solidFill>
                  <a:srgbClr val="000000"/>
                </a:solidFill>
              </a:rPr>
              <a:t>прерывание IRQ</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прерывание реального времени</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входной захват 1</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входной захват 2</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входной захват 3</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выходное сравнение 1</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выходное сравнение 2</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выходное сравнение 3</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выходное сравнение 4</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выходное сравнение 5</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переполнение таймера</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переполнение счетчика пульсаций </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счетчик пульсаций</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последовательный синхронный интерфейс (SPI)</a:t>
            </a:r>
            <a:endParaRPr>
              <a:solidFill>
                <a:srgbClr val="000000"/>
              </a:solidFill>
            </a:endParaRPr>
          </a:p>
          <a:p>
            <a:pPr indent="-316706" lvl="0" marL="457200" rtl="0" algn="l">
              <a:lnSpc>
                <a:spcPct val="115000"/>
              </a:lnSpc>
              <a:spcBef>
                <a:spcPts val="0"/>
              </a:spcBef>
              <a:spcAft>
                <a:spcPts val="0"/>
              </a:spcAft>
              <a:buClr>
                <a:srgbClr val="000000"/>
              </a:buClr>
              <a:buSzPct val="100000"/>
              <a:buFont typeface="Century Gothic"/>
              <a:buAutoNum type="arabicPeriod"/>
            </a:pPr>
            <a:r>
              <a:rPr lang="ru">
                <a:solidFill>
                  <a:srgbClr val="000000"/>
                </a:solidFill>
              </a:rPr>
              <a:t>последовательный асинхронный интерфейс (SCI)</a:t>
            </a:r>
            <a:endParaRPr/>
          </a:p>
        </p:txBody>
      </p:sp>
      <p:sp>
        <p:nvSpPr>
          <p:cNvPr id="421" name="Google Shape;421;p58"/>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9"/>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Маскируемые прерывания</a:t>
            </a:r>
            <a:endParaRPr/>
          </a:p>
        </p:txBody>
      </p:sp>
      <p:sp>
        <p:nvSpPr>
          <p:cNvPr id="427" name="Google Shape;427;p59"/>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p>
            <a:pPr indent="0" lvl="0" marL="0" rtl="0" algn="just">
              <a:lnSpc>
                <a:spcPct val="115000"/>
              </a:lnSpc>
              <a:spcBef>
                <a:spcPts val="0"/>
              </a:spcBef>
              <a:spcAft>
                <a:spcPts val="0"/>
              </a:spcAft>
              <a:buNone/>
            </a:pPr>
            <a:r>
              <a:rPr b="1" lang="ru">
                <a:solidFill>
                  <a:srgbClr val="262626"/>
                </a:solidFill>
              </a:rPr>
              <a:t>Маскируемые прерывания </a:t>
            </a:r>
            <a:r>
              <a:rPr lang="ru">
                <a:solidFill>
                  <a:srgbClr val="262626"/>
                </a:solidFill>
              </a:rPr>
              <a:t>- те, которые можно запрещать установкой соответствующих битов в регистре маскирования </a:t>
            </a:r>
            <a:r>
              <a:rPr b="1" lang="ru">
                <a:solidFill>
                  <a:srgbClr val="262626"/>
                </a:solidFill>
              </a:rPr>
              <a:t>прерываний</a:t>
            </a:r>
            <a:r>
              <a:rPr lang="ru">
                <a:solidFill>
                  <a:srgbClr val="262626"/>
                </a:solidFill>
              </a:rPr>
              <a:t> (в MC68HC11 — установкой флага </a:t>
            </a:r>
            <a:r>
              <a:rPr b="1" lang="ru">
                <a:solidFill>
                  <a:srgbClr val="262626"/>
                </a:solidFill>
              </a:rPr>
              <a:t>I</a:t>
            </a:r>
            <a:r>
              <a:rPr lang="ru">
                <a:solidFill>
                  <a:srgbClr val="262626"/>
                </a:solidFill>
              </a:rPr>
              <a:t> в регистре флагов); </a:t>
            </a:r>
            <a:endParaRPr>
              <a:solidFill>
                <a:srgbClr val="262626"/>
              </a:solidFill>
            </a:endParaRPr>
          </a:p>
          <a:p>
            <a:pPr indent="0" lvl="0" marL="0" rtl="0" algn="just">
              <a:lnSpc>
                <a:spcPct val="115000"/>
              </a:lnSpc>
              <a:spcBef>
                <a:spcPts val="800"/>
              </a:spcBef>
              <a:spcAft>
                <a:spcPts val="0"/>
              </a:spcAft>
              <a:buNone/>
            </a:pPr>
            <a:r>
              <a:rPr lang="ru">
                <a:solidFill>
                  <a:srgbClr val="262626"/>
                </a:solidFill>
              </a:rPr>
              <a:t>Немаскируемые </a:t>
            </a:r>
            <a:r>
              <a:rPr b="1" lang="ru">
                <a:solidFill>
                  <a:srgbClr val="262626"/>
                </a:solidFill>
              </a:rPr>
              <a:t>прерывания</a:t>
            </a:r>
            <a:r>
              <a:rPr lang="ru">
                <a:solidFill>
                  <a:srgbClr val="262626"/>
                </a:solidFill>
              </a:rPr>
              <a:t> – наиболее важные прерывания, обработка которых не может быть отложена ни на какое время. Сюда относятся прерывания, возникающие, например, при сбоях питания.</a:t>
            </a:r>
            <a:endParaRPr>
              <a:solidFill>
                <a:srgbClr val="262626"/>
              </a:solidFill>
            </a:endParaRPr>
          </a:p>
          <a:p>
            <a:pPr indent="0" lvl="0" marL="0" rtl="0" algn="l">
              <a:spcBef>
                <a:spcPts val="800"/>
              </a:spcBef>
              <a:spcAft>
                <a:spcPts val="0"/>
              </a:spcAft>
              <a:buNone/>
            </a:pPr>
            <a:r>
              <a:t/>
            </a:r>
            <a:endParaRPr/>
          </a:p>
        </p:txBody>
      </p:sp>
      <p:sp>
        <p:nvSpPr>
          <p:cNvPr id="428" name="Google Shape;428;p59"/>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0"/>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Запрет прерываний</a:t>
            </a:r>
            <a:endParaRPr/>
          </a:p>
        </p:txBody>
      </p:sp>
      <p:sp>
        <p:nvSpPr>
          <p:cNvPr id="434" name="Google Shape;434;p60"/>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p>
            <a:pPr indent="0" lvl="0" marL="0" rtl="0" algn="just">
              <a:lnSpc>
                <a:spcPct val="115000"/>
              </a:lnSpc>
              <a:spcBef>
                <a:spcPts val="0"/>
              </a:spcBef>
              <a:spcAft>
                <a:spcPts val="0"/>
              </a:spcAft>
              <a:buNone/>
            </a:pPr>
            <a:r>
              <a:rPr lang="ru">
                <a:solidFill>
                  <a:srgbClr val="000000"/>
                </a:solidFill>
              </a:rPr>
              <a:t>Часто при выполнении критических участков программ, для того чтобы гарантировать выполнение определенной последовательности команд целиком, приходится запрещать прерывания (т.е. сделать систему нечувствительной ко всем или отдельным прерываниям). Это можно сделать командой </a:t>
            </a:r>
            <a:r>
              <a:rPr b="1" lang="ru">
                <a:solidFill>
                  <a:srgbClr val="000000"/>
                </a:solidFill>
              </a:rPr>
              <a:t>SEI</a:t>
            </a:r>
            <a:r>
              <a:rPr lang="ru">
                <a:solidFill>
                  <a:srgbClr val="000000"/>
                </a:solidFill>
              </a:rPr>
              <a:t>. Ее нужно поместить в начало критической последовательности команд, а в конце расположить команду </a:t>
            </a:r>
            <a:r>
              <a:rPr b="1" lang="ru">
                <a:solidFill>
                  <a:srgbClr val="000000"/>
                </a:solidFill>
              </a:rPr>
              <a:t>CLI</a:t>
            </a:r>
            <a:r>
              <a:rPr lang="ru">
                <a:solidFill>
                  <a:srgbClr val="000000"/>
                </a:solidFill>
              </a:rPr>
              <a:t>, разрешающую процессору воспринимать прерывания. </a:t>
            </a:r>
            <a:endParaRPr>
              <a:solidFill>
                <a:srgbClr val="000000"/>
              </a:solidFill>
            </a:endParaRPr>
          </a:p>
          <a:p>
            <a:pPr indent="0" lvl="0" marL="0" rtl="0" algn="just">
              <a:lnSpc>
                <a:spcPct val="115000"/>
              </a:lnSpc>
              <a:spcBef>
                <a:spcPts val="800"/>
              </a:spcBef>
              <a:spcAft>
                <a:spcPts val="0"/>
              </a:spcAft>
              <a:buNone/>
            </a:pPr>
            <a:r>
              <a:rPr lang="ru">
                <a:solidFill>
                  <a:srgbClr val="000000"/>
                </a:solidFill>
              </a:rPr>
              <a:t>Команда </a:t>
            </a:r>
            <a:r>
              <a:rPr b="1" lang="ru">
                <a:solidFill>
                  <a:srgbClr val="000000"/>
                </a:solidFill>
              </a:rPr>
              <a:t>SEI</a:t>
            </a:r>
            <a:r>
              <a:rPr lang="ru">
                <a:solidFill>
                  <a:srgbClr val="000000"/>
                </a:solidFill>
              </a:rPr>
              <a:t> </a:t>
            </a:r>
            <a:r>
              <a:rPr b="1" lang="ru">
                <a:solidFill>
                  <a:srgbClr val="000000"/>
                </a:solidFill>
              </a:rPr>
              <a:t>запрещает только маскируемые</a:t>
            </a:r>
            <a:r>
              <a:rPr lang="ru">
                <a:solidFill>
                  <a:srgbClr val="000000"/>
                </a:solidFill>
              </a:rPr>
              <a:t> прерывания, немаскируемые всегда обрабатываются процессором.</a:t>
            </a:r>
            <a:endParaRPr>
              <a:solidFill>
                <a:srgbClr val="000000"/>
              </a:solidFill>
            </a:endParaRPr>
          </a:p>
          <a:p>
            <a:pPr indent="0" lvl="0" marL="0" rtl="0" algn="l">
              <a:spcBef>
                <a:spcPts val="800"/>
              </a:spcBef>
              <a:spcAft>
                <a:spcPts val="0"/>
              </a:spcAft>
              <a:buNone/>
            </a:pPr>
            <a:r>
              <a:t/>
            </a:r>
            <a:endParaRPr/>
          </a:p>
        </p:txBody>
      </p:sp>
      <p:sp>
        <p:nvSpPr>
          <p:cNvPr id="435" name="Google Shape;435;p60"/>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1"/>
          <p:cNvSpPr txBox="1"/>
          <p:nvPr>
            <p:ph type="title"/>
          </p:nvPr>
        </p:nvSpPr>
        <p:spPr>
          <a:xfrm>
            <a:off x="311700" y="445025"/>
            <a:ext cx="8520600" cy="572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ru"/>
              <a:t>Специальные команды</a:t>
            </a:r>
            <a:endParaRPr/>
          </a:p>
        </p:txBody>
      </p:sp>
      <p:sp>
        <p:nvSpPr>
          <p:cNvPr id="441" name="Google Shape;441;p61"/>
          <p:cNvSpPr txBox="1"/>
          <p:nvPr>
            <p:ph idx="1" type="body"/>
          </p:nvPr>
        </p:nvSpPr>
        <p:spPr>
          <a:xfrm>
            <a:off x="311700" y="1152475"/>
            <a:ext cx="8520600" cy="3416400"/>
          </a:xfrm>
          <a:prstGeom prst="rect">
            <a:avLst/>
          </a:prstGeom>
        </p:spPr>
        <p:txBody>
          <a:bodyPr anchorCtr="0" anchor="t" bIns="34275" lIns="68575" spcFirstLastPara="1" rIns="68575" wrap="square" tIns="34275">
            <a:normAutofit fontScale="85000" lnSpcReduction="10000"/>
          </a:bodyPr>
          <a:lstStyle/>
          <a:p>
            <a:pPr indent="0" lvl="0" marL="0" rtl="0" algn="just">
              <a:lnSpc>
                <a:spcPct val="115000"/>
              </a:lnSpc>
              <a:spcBef>
                <a:spcPts val="0"/>
              </a:spcBef>
              <a:spcAft>
                <a:spcPts val="0"/>
              </a:spcAft>
              <a:buNone/>
            </a:pPr>
            <a:r>
              <a:rPr lang="ru">
                <a:solidFill>
                  <a:srgbClr val="000000"/>
                </a:solidFill>
              </a:rPr>
              <a:t>Существуют также специальные команды, переводящие контроллер в режим низкого энергопотребления.</a:t>
            </a:r>
            <a:endParaRPr>
              <a:solidFill>
                <a:srgbClr val="000000"/>
              </a:solidFill>
            </a:endParaRPr>
          </a:p>
          <a:p>
            <a:pPr indent="-309562" lvl="0" marL="457200" rtl="0" algn="just">
              <a:lnSpc>
                <a:spcPct val="115000"/>
              </a:lnSpc>
              <a:spcBef>
                <a:spcPts val="1200"/>
              </a:spcBef>
              <a:spcAft>
                <a:spcPts val="0"/>
              </a:spcAft>
              <a:buClr>
                <a:srgbClr val="000000"/>
              </a:buClr>
              <a:buSzPct val="100000"/>
              <a:buFont typeface="Century Gothic"/>
              <a:buAutoNum type="arabicPeriod"/>
            </a:pPr>
            <a:r>
              <a:rPr b="1" lang="ru">
                <a:solidFill>
                  <a:srgbClr val="000000"/>
                </a:solidFill>
              </a:rPr>
              <a:t>WAI</a:t>
            </a:r>
            <a:r>
              <a:rPr lang="ru">
                <a:solidFill>
                  <a:srgbClr val="000000"/>
                </a:solidFill>
              </a:rPr>
              <a:t> (Wait for interrupt) – переводит контроллер в режим ожидания первого немаскируемого прерывания. При этом сохранение регистров происходит в момент выполнения команды WAI, а не в момент обнаружения прерывания.</a:t>
            </a:r>
            <a:endParaRPr>
              <a:solidFill>
                <a:srgbClr val="000000"/>
              </a:solidFill>
            </a:endParaRPr>
          </a:p>
          <a:p>
            <a:pPr indent="-309562" lvl="0" marL="457200" rtl="0" algn="just">
              <a:lnSpc>
                <a:spcPct val="115000"/>
              </a:lnSpc>
              <a:spcBef>
                <a:spcPts val="0"/>
              </a:spcBef>
              <a:spcAft>
                <a:spcPts val="0"/>
              </a:spcAft>
              <a:buClr>
                <a:srgbClr val="13150D"/>
              </a:buClr>
              <a:buSzPct val="100000"/>
              <a:buFont typeface="Century Gothic"/>
              <a:buAutoNum type="arabicPeriod"/>
            </a:pPr>
            <a:r>
              <a:rPr b="1" lang="ru">
                <a:solidFill>
                  <a:srgbClr val="000000"/>
                </a:solidFill>
              </a:rPr>
              <a:t>STOP</a:t>
            </a:r>
            <a:r>
              <a:rPr lang="ru">
                <a:solidFill>
                  <a:srgbClr val="000000"/>
                </a:solidFill>
              </a:rPr>
              <a:t> (Stop Processing) – </a:t>
            </a:r>
            <a:r>
              <a:rPr lang="ru">
                <a:solidFill>
                  <a:srgbClr val="13150D"/>
                </a:solidFill>
              </a:rPr>
              <a:t>выполняет остановку всех внутренних генераторов микроконтроллера и перевод системы в режим минимального энергопотребления. </a:t>
            </a:r>
            <a:endParaRPr>
              <a:solidFill>
                <a:srgbClr val="13150D"/>
              </a:solidFill>
            </a:endParaRPr>
          </a:p>
          <a:p>
            <a:pPr indent="0" lvl="0" marL="0" rtl="0" algn="just">
              <a:lnSpc>
                <a:spcPct val="115000"/>
              </a:lnSpc>
              <a:spcBef>
                <a:spcPts val="2000"/>
              </a:spcBef>
              <a:spcAft>
                <a:spcPts val="0"/>
              </a:spcAft>
              <a:buNone/>
            </a:pPr>
            <a:r>
              <a:rPr lang="ru">
                <a:solidFill>
                  <a:srgbClr val="13150D"/>
                </a:solidFill>
              </a:rPr>
              <a:t>В случае, если установлен бит </a:t>
            </a:r>
            <a:r>
              <a:rPr b="1" lang="ru">
                <a:solidFill>
                  <a:srgbClr val="13150D"/>
                </a:solidFill>
              </a:rPr>
              <a:t>S</a:t>
            </a:r>
            <a:r>
              <a:rPr lang="ru">
                <a:solidFill>
                  <a:srgbClr val="13150D"/>
                </a:solidFill>
              </a:rPr>
              <a:t> регистра </a:t>
            </a:r>
            <a:r>
              <a:rPr b="1" lang="ru">
                <a:solidFill>
                  <a:srgbClr val="13150D"/>
                </a:solidFill>
              </a:rPr>
              <a:t>CCR</a:t>
            </a:r>
            <a:r>
              <a:rPr lang="ru">
                <a:solidFill>
                  <a:srgbClr val="13150D"/>
                </a:solidFill>
              </a:rPr>
              <a:t>, то команда </a:t>
            </a:r>
            <a:r>
              <a:rPr b="1" lang="ru">
                <a:solidFill>
                  <a:srgbClr val="13150D"/>
                </a:solidFill>
              </a:rPr>
              <a:t>STOP</a:t>
            </a:r>
            <a:r>
              <a:rPr lang="ru">
                <a:solidFill>
                  <a:srgbClr val="13150D"/>
                </a:solidFill>
              </a:rPr>
              <a:t> выполняется как команда </a:t>
            </a:r>
            <a:r>
              <a:rPr b="1" lang="ru">
                <a:solidFill>
                  <a:srgbClr val="13150D"/>
                </a:solidFill>
              </a:rPr>
              <a:t>NOP</a:t>
            </a:r>
            <a:r>
              <a:rPr lang="ru">
                <a:solidFill>
                  <a:srgbClr val="13150D"/>
                </a:solidFill>
              </a:rPr>
              <a:t> (</a:t>
            </a:r>
            <a:r>
              <a:rPr lang="ru">
                <a:solidFill>
                  <a:srgbClr val="000000"/>
                </a:solidFill>
              </a:rPr>
              <a:t>No Operation</a:t>
            </a:r>
            <a:r>
              <a:rPr lang="ru">
                <a:solidFill>
                  <a:srgbClr val="13150D"/>
                </a:solidFill>
              </a:rPr>
              <a:t>). Восстановление системы из режима минимального энергопотребления может произойти в случае появления прерываний от </a:t>
            </a:r>
            <a:r>
              <a:rPr b="1" lang="ru">
                <a:solidFill>
                  <a:srgbClr val="13150D"/>
                </a:solidFill>
              </a:rPr>
              <a:t>RESET</a:t>
            </a:r>
            <a:r>
              <a:rPr lang="ru">
                <a:solidFill>
                  <a:srgbClr val="13150D"/>
                </a:solidFill>
              </a:rPr>
              <a:t>, </a:t>
            </a:r>
            <a:r>
              <a:rPr b="1" lang="ru">
                <a:solidFill>
                  <a:srgbClr val="13150D"/>
                </a:solidFill>
              </a:rPr>
              <a:t>XIRQ</a:t>
            </a:r>
            <a:r>
              <a:rPr lang="ru">
                <a:solidFill>
                  <a:srgbClr val="13150D"/>
                </a:solidFill>
              </a:rPr>
              <a:t> или </a:t>
            </a:r>
            <a:r>
              <a:rPr lang="ru">
                <a:solidFill>
                  <a:srgbClr val="000000"/>
                </a:solidFill>
              </a:rPr>
              <a:t>немаскируемого</a:t>
            </a:r>
            <a:r>
              <a:rPr lang="ru">
                <a:solidFill>
                  <a:srgbClr val="13150D"/>
                </a:solidFill>
              </a:rPr>
              <a:t> прерывания </a:t>
            </a:r>
            <a:r>
              <a:rPr b="1" lang="ru">
                <a:solidFill>
                  <a:srgbClr val="13150D"/>
                </a:solidFill>
              </a:rPr>
              <a:t>IRQ</a:t>
            </a:r>
            <a:r>
              <a:rPr lang="ru">
                <a:solidFill>
                  <a:srgbClr val="13150D"/>
                </a:solidFill>
              </a:rPr>
              <a:t>.</a:t>
            </a:r>
            <a:endParaRPr>
              <a:solidFill>
                <a:srgbClr val="13150D"/>
              </a:solidFill>
            </a:endParaRPr>
          </a:p>
          <a:p>
            <a:pPr indent="0" lvl="0" marL="0" rtl="0" algn="just">
              <a:lnSpc>
                <a:spcPct val="115000"/>
              </a:lnSpc>
              <a:spcBef>
                <a:spcPts val="800"/>
              </a:spcBef>
              <a:spcAft>
                <a:spcPts val="0"/>
              </a:spcAft>
              <a:buNone/>
            </a:pPr>
            <a:r>
              <a:rPr lang="ru">
                <a:solidFill>
                  <a:srgbClr val="13150D"/>
                </a:solidFill>
              </a:rPr>
              <a:t>В случае, когда установлен бит </a:t>
            </a:r>
            <a:r>
              <a:rPr b="1" lang="ru">
                <a:solidFill>
                  <a:srgbClr val="13150D"/>
                </a:solidFill>
              </a:rPr>
              <a:t>X</a:t>
            </a:r>
            <a:r>
              <a:rPr lang="ru">
                <a:solidFill>
                  <a:srgbClr val="13150D"/>
                </a:solidFill>
              </a:rPr>
              <a:t> регистра </a:t>
            </a:r>
            <a:r>
              <a:rPr b="1" lang="ru">
                <a:solidFill>
                  <a:srgbClr val="13150D"/>
                </a:solidFill>
              </a:rPr>
              <a:t>CCR</a:t>
            </a:r>
            <a:r>
              <a:rPr lang="ru">
                <a:solidFill>
                  <a:srgbClr val="13150D"/>
                </a:solidFill>
              </a:rPr>
              <a:t>, маскирующий прерывание </a:t>
            </a:r>
            <a:r>
              <a:rPr b="1" lang="ru">
                <a:solidFill>
                  <a:srgbClr val="13150D"/>
                </a:solidFill>
              </a:rPr>
              <a:t>XIRQ</a:t>
            </a:r>
            <a:r>
              <a:rPr lang="ru">
                <a:solidFill>
                  <a:srgbClr val="13150D"/>
                </a:solidFill>
              </a:rPr>
              <a:t>, и происходит это прерывание, то выполнение программы происходит со следующей за </a:t>
            </a:r>
            <a:r>
              <a:rPr b="1" lang="ru">
                <a:solidFill>
                  <a:srgbClr val="13150D"/>
                </a:solidFill>
              </a:rPr>
              <a:t>STOP</a:t>
            </a:r>
            <a:r>
              <a:rPr lang="ru">
                <a:solidFill>
                  <a:srgbClr val="13150D"/>
                </a:solidFill>
              </a:rPr>
              <a:t> команды.</a:t>
            </a:r>
            <a:endParaRPr>
              <a:solidFill>
                <a:srgbClr val="13150D"/>
              </a:solidFill>
            </a:endParaRPr>
          </a:p>
          <a:p>
            <a:pPr indent="0" lvl="0" marL="0" rtl="0" algn="l">
              <a:spcBef>
                <a:spcPts val="800"/>
              </a:spcBef>
              <a:spcAft>
                <a:spcPts val="0"/>
              </a:spcAft>
              <a:buNone/>
            </a:pPr>
            <a:r>
              <a:t/>
            </a:r>
            <a:endParaRPr/>
          </a:p>
        </p:txBody>
      </p:sp>
      <p:sp>
        <p:nvSpPr>
          <p:cNvPr id="442" name="Google Shape;442;p61"/>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2"/>
          <p:cNvSpPr txBox="1"/>
          <p:nvPr>
            <p:ph idx="1" type="body"/>
          </p:nvPr>
        </p:nvSpPr>
        <p:spPr>
          <a:xfrm>
            <a:off x="63650" y="727800"/>
            <a:ext cx="4465200" cy="4808400"/>
          </a:xfrm>
          <a:prstGeom prst="rect">
            <a:avLst/>
          </a:prstGeom>
        </p:spPr>
        <p:txBody>
          <a:bodyPr anchorCtr="0" anchor="t" bIns="34275" lIns="68575" spcFirstLastPara="1" rIns="68575" wrap="square" tIns="34275">
            <a:normAutofit/>
          </a:bodyPr>
          <a:lstStyle/>
          <a:p>
            <a:pPr indent="0" lvl="0" marL="0" rtl="0" algn="l">
              <a:lnSpc>
                <a:spcPct val="90000"/>
              </a:lnSpc>
              <a:spcBef>
                <a:spcPts val="800"/>
              </a:spcBef>
              <a:spcAft>
                <a:spcPts val="0"/>
              </a:spcAft>
              <a:buNone/>
            </a:pPr>
            <a:r>
              <a:rPr b="1" lang="ru" sz="1200">
                <a:solidFill>
                  <a:srgbClr val="0000FF"/>
                </a:solidFill>
              </a:rPr>
              <a:t> org $8000</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jmp main</a:t>
            </a:r>
            <a:endParaRPr b="1" sz="1200">
              <a:solidFill>
                <a:srgbClr val="0000FF"/>
              </a:solidFill>
            </a:endParaRPr>
          </a:p>
          <a:p>
            <a:pPr indent="0" lvl="0" marL="0" rtl="0" algn="l">
              <a:lnSpc>
                <a:spcPct val="90000"/>
              </a:lnSpc>
              <a:spcBef>
                <a:spcPts val="800"/>
              </a:spcBef>
              <a:spcAft>
                <a:spcPts val="0"/>
              </a:spcAft>
              <a:buNone/>
            </a:pPr>
            <a:r>
              <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loop:</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ldaa #1</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anda 0,y</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beq incCounter	; </a:t>
            </a:r>
            <a:r>
              <a:rPr b="1" lang="ru" sz="1200">
                <a:solidFill>
                  <a:srgbClr val="188038"/>
                </a:solidFill>
              </a:rPr>
              <a:t>если число четное</a:t>
            </a:r>
            <a:endParaRPr b="1" sz="1200">
              <a:solidFill>
                <a:srgbClr val="188038"/>
              </a:solidFill>
            </a:endParaRPr>
          </a:p>
          <a:p>
            <a:pPr indent="0" lvl="0" marL="0" rtl="0" algn="l">
              <a:lnSpc>
                <a:spcPct val="90000"/>
              </a:lnSpc>
              <a:spcBef>
                <a:spcPts val="800"/>
              </a:spcBef>
              <a:spcAft>
                <a:spcPts val="0"/>
              </a:spcAft>
              <a:buNone/>
            </a:pPr>
            <a:r>
              <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contin	iny</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cpy #end</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bls loop	</a:t>
            </a:r>
            <a:r>
              <a:rPr b="1" lang="ru" sz="1200">
                <a:solidFill>
                  <a:srgbClr val="188038"/>
                </a:solidFill>
              </a:rPr>
              <a:t>; если &lt;= end, то продолжаем</a:t>
            </a:r>
            <a:endParaRPr b="1" sz="1200">
              <a:solidFill>
                <a:srgbClr val="188038"/>
              </a:solidFill>
            </a:endParaRPr>
          </a:p>
          <a:p>
            <a:pPr indent="0" lvl="0" marL="0" rtl="0" algn="l">
              <a:lnSpc>
                <a:spcPct val="90000"/>
              </a:lnSpc>
              <a:spcBef>
                <a:spcPts val="800"/>
              </a:spcBef>
              <a:spcAft>
                <a:spcPts val="0"/>
              </a:spcAft>
              <a:buNone/>
            </a:pPr>
            <a:r>
              <a:rPr b="1" lang="ru" sz="1200">
                <a:solidFill>
                  <a:srgbClr val="0000FF"/>
                </a:solidFill>
              </a:rPr>
              <a:t>	stx $5</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rti		</a:t>
            </a:r>
            <a:r>
              <a:rPr b="1" lang="ru" sz="1200">
                <a:solidFill>
                  <a:srgbClr val="188038"/>
                </a:solidFill>
              </a:rPr>
              <a:t>; конец программы</a:t>
            </a:r>
            <a:endParaRPr b="1" sz="1200">
              <a:solidFill>
                <a:srgbClr val="188038"/>
              </a:solidFill>
            </a:endParaRPr>
          </a:p>
          <a:p>
            <a:pPr indent="0" lvl="0" marL="0" rtl="0" algn="l">
              <a:lnSpc>
                <a:spcPct val="90000"/>
              </a:lnSpc>
              <a:spcBef>
                <a:spcPts val="800"/>
              </a:spcBef>
              <a:spcAft>
                <a:spcPts val="0"/>
              </a:spcAft>
              <a:buNone/>
            </a:pPr>
            <a:r>
              <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a:t>
            </a:r>
            <a:endParaRPr b="1" sz="1200">
              <a:solidFill>
                <a:srgbClr val="188038"/>
              </a:solidFill>
            </a:endParaRPr>
          </a:p>
          <a:p>
            <a:pPr indent="0" lvl="0" marL="0" rtl="0" algn="l">
              <a:spcBef>
                <a:spcPts val="800"/>
              </a:spcBef>
              <a:spcAft>
                <a:spcPts val="0"/>
              </a:spcAft>
              <a:buNone/>
            </a:pPr>
            <a:r>
              <a:t/>
            </a:r>
            <a:endParaRPr sz="1200"/>
          </a:p>
        </p:txBody>
      </p:sp>
      <p:sp>
        <p:nvSpPr>
          <p:cNvPr id="448" name="Google Shape;448;p62"/>
          <p:cNvSpPr txBox="1"/>
          <p:nvPr>
            <p:ph idx="12" type="sldNum"/>
          </p:nvPr>
        </p:nvSpPr>
        <p:spPr>
          <a:xfrm>
            <a:off x="7816983" y="270892"/>
            <a:ext cx="548700" cy="3936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fld id="{00000000-1234-1234-1234-123412341234}" type="slidenum">
              <a:rPr lang="ru"/>
              <a:t>‹#›</a:t>
            </a:fld>
            <a:endParaRPr/>
          </a:p>
        </p:txBody>
      </p:sp>
      <p:sp>
        <p:nvSpPr>
          <p:cNvPr id="449" name="Google Shape;449;p62"/>
          <p:cNvSpPr txBox="1"/>
          <p:nvPr>
            <p:ph idx="1" type="body"/>
          </p:nvPr>
        </p:nvSpPr>
        <p:spPr>
          <a:xfrm>
            <a:off x="4232400" y="727800"/>
            <a:ext cx="4911600" cy="4720800"/>
          </a:xfrm>
          <a:prstGeom prst="rect">
            <a:avLst/>
          </a:prstGeom>
        </p:spPr>
        <p:txBody>
          <a:bodyPr anchorCtr="0" anchor="t" bIns="34275" lIns="68575" spcFirstLastPara="1" rIns="68575" wrap="square" tIns="34275">
            <a:noAutofit/>
          </a:bodyPr>
          <a:lstStyle/>
          <a:p>
            <a:pPr indent="0" lvl="0" marL="0" rtl="0" algn="l">
              <a:lnSpc>
                <a:spcPct val="90000"/>
              </a:lnSpc>
              <a:spcBef>
                <a:spcPts val="800"/>
              </a:spcBef>
              <a:spcAft>
                <a:spcPts val="0"/>
              </a:spcAft>
              <a:buNone/>
            </a:pPr>
            <a:r>
              <a:rPr b="1" lang="ru" sz="1200">
                <a:solidFill>
                  <a:srgbClr val="0000FF"/>
                </a:solidFill>
              </a:rPr>
              <a:t>incCounter:</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inx</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jmp contin</a:t>
            </a:r>
            <a:endParaRPr b="1" sz="1200">
              <a:solidFill>
                <a:srgbClr val="0000FF"/>
              </a:solidFill>
            </a:endParaRPr>
          </a:p>
          <a:p>
            <a:pPr indent="0" lvl="0" marL="0" rtl="0" algn="l">
              <a:lnSpc>
                <a:spcPct val="90000"/>
              </a:lnSpc>
              <a:spcBef>
                <a:spcPts val="800"/>
              </a:spcBef>
              <a:spcAft>
                <a:spcPts val="0"/>
              </a:spcAft>
              <a:buNone/>
            </a:pPr>
            <a:r>
              <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main:</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ldx #$8003	</a:t>
            </a:r>
            <a:r>
              <a:rPr b="1" lang="ru" sz="1200">
                <a:solidFill>
                  <a:srgbClr val="188038"/>
                </a:solidFill>
              </a:rPr>
              <a:t>; </a:t>
            </a:r>
            <a:r>
              <a:rPr b="1" lang="ru" sz="1200">
                <a:solidFill>
                  <a:srgbClr val="188038"/>
                </a:solidFill>
              </a:rPr>
              <a:t>адрес</a:t>
            </a:r>
            <a:r>
              <a:rPr b="1" lang="ru" sz="1200">
                <a:solidFill>
                  <a:srgbClr val="188038"/>
                </a:solidFill>
              </a:rPr>
              <a:t> первой команды в loop</a:t>
            </a:r>
            <a:endParaRPr b="1" sz="1200">
              <a:solidFill>
                <a:srgbClr val="188038"/>
              </a:solidFill>
            </a:endParaRPr>
          </a:p>
          <a:p>
            <a:pPr indent="0" lvl="0" marL="0" rtl="0" algn="l">
              <a:lnSpc>
                <a:spcPct val="90000"/>
              </a:lnSpc>
              <a:spcBef>
                <a:spcPts val="800"/>
              </a:spcBef>
              <a:spcAft>
                <a:spcPts val="0"/>
              </a:spcAft>
              <a:buNone/>
            </a:pPr>
            <a:r>
              <a:rPr b="1" lang="ru" sz="1200">
                <a:solidFill>
                  <a:srgbClr val="0000FF"/>
                </a:solidFill>
              </a:rPr>
              <a:t>	stx $fff6	</a:t>
            </a:r>
            <a:r>
              <a:rPr b="1" lang="ru" sz="1200">
                <a:solidFill>
                  <a:srgbClr val="188038"/>
                </a:solidFill>
              </a:rPr>
              <a:t>; </a:t>
            </a:r>
            <a:r>
              <a:rPr b="1" lang="ru" sz="1200">
                <a:solidFill>
                  <a:srgbClr val="188038"/>
                </a:solidFill>
              </a:rPr>
              <a:t>адрес</a:t>
            </a:r>
            <a:r>
              <a:rPr b="1" lang="ru" sz="1200">
                <a:solidFill>
                  <a:srgbClr val="188038"/>
                </a:solidFill>
              </a:rPr>
              <a:t> </a:t>
            </a:r>
            <a:r>
              <a:rPr b="1" lang="ru" sz="1200">
                <a:solidFill>
                  <a:srgbClr val="188038"/>
                </a:solidFill>
              </a:rPr>
              <a:t>программного</a:t>
            </a:r>
            <a:r>
              <a:rPr b="1" lang="ru" sz="1200">
                <a:solidFill>
                  <a:srgbClr val="188038"/>
                </a:solidFill>
              </a:rPr>
              <a:t> прерывания</a:t>
            </a:r>
            <a:endParaRPr b="1" sz="1200">
              <a:solidFill>
                <a:srgbClr val="188038"/>
              </a:solidFill>
            </a:endParaRPr>
          </a:p>
          <a:p>
            <a:pPr indent="0" lvl="0" marL="0" rtl="0" algn="l">
              <a:lnSpc>
                <a:spcPct val="90000"/>
              </a:lnSpc>
              <a:spcBef>
                <a:spcPts val="800"/>
              </a:spcBef>
              <a:spcAft>
                <a:spcPts val="0"/>
              </a:spcAft>
              <a:buNone/>
            </a:pPr>
            <a:r>
              <a:rPr b="1" lang="ru" sz="1200">
                <a:solidFill>
                  <a:srgbClr val="0000FF"/>
                </a:solidFill>
              </a:rPr>
              <a:t>	ldx $5</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ldy #$2200</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ldx #0		</a:t>
            </a:r>
            <a:r>
              <a:rPr b="1" lang="ru" sz="1200">
                <a:solidFill>
                  <a:srgbClr val="188038"/>
                </a:solidFill>
              </a:rPr>
              <a:t>; ответ в x</a:t>
            </a:r>
            <a:endParaRPr b="1" sz="1200">
              <a:solidFill>
                <a:srgbClr val="188038"/>
              </a:solidFill>
            </a:endParaRPr>
          </a:p>
          <a:p>
            <a:pPr indent="0" lvl="0" marL="0" rtl="0" algn="l">
              <a:lnSpc>
                <a:spcPct val="90000"/>
              </a:lnSpc>
              <a:spcBef>
                <a:spcPts val="800"/>
              </a:spcBef>
              <a:spcAft>
                <a:spcPts val="0"/>
              </a:spcAft>
              <a:buNone/>
            </a:pPr>
            <a:r>
              <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end 	equ $22ff</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swi</a:t>
            </a:r>
            <a:endParaRPr b="1" sz="1200">
              <a:solidFill>
                <a:srgbClr val="0000FF"/>
              </a:solidFill>
            </a:endParaRPr>
          </a:p>
          <a:p>
            <a:pPr indent="0" lvl="0" marL="0" rtl="0" algn="l">
              <a:lnSpc>
                <a:spcPct val="90000"/>
              </a:lnSpc>
              <a:spcBef>
                <a:spcPts val="800"/>
              </a:spcBef>
              <a:spcAft>
                <a:spcPts val="0"/>
              </a:spcAft>
              <a:buNone/>
            </a:pPr>
            <a:r>
              <a:rPr b="1" lang="ru" sz="1200">
                <a:solidFill>
                  <a:srgbClr val="0000FF"/>
                </a:solidFill>
              </a:rPr>
              <a:t>	ldx $5</a:t>
            </a:r>
            <a:endParaRPr sz="1200"/>
          </a:p>
        </p:txBody>
      </p:sp>
      <p:cxnSp>
        <p:nvCxnSpPr>
          <p:cNvPr id="450" name="Google Shape;450;p62"/>
          <p:cNvCxnSpPr/>
          <p:nvPr/>
        </p:nvCxnSpPr>
        <p:spPr>
          <a:xfrm>
            <a:off x="4092300" y="641825"/>
            <a:ext cx="0" cy="4096800"/>
          </a:xfrm>
          <a:prstGeom prst="straightConnector1">
            <a:avLst/>
          </a:prstGeom>
          <a:noFill/>
          <a:ln cap="flat" cmpd="sng" w="28575">
            <a:solidFill>
              <a:schemeClr val="lt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Ион">
  <a:themeElements>
    <a:clrScheme name="Другая 1">
      <a:dk1>
        <a:srgbClr val="FFFFFF"/>
      </a:dk1>
      <a:lt1>
        <a:srgbClr val="171717"/>
      </a:lt1>
      <a:dk2>
        <a:srgbClr val="FFFFFF"/>
      </a:dk2>
      <a:lt2>
        <a:srgbClr val="171717"/>
      </a:lt2>
      <a:accent1>
        <a:srgbClr val="B7CDD7"/>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