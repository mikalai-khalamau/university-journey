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 id="272" r:id="rId16"/>
    <p:sldId id="273" r:id="rId17"/>
    <p:sldId id="269" r:id="rId18"/>
    <p:sldId id="274" r:id="rId19"/>
    <p:sldId id="270" r:id="rId20"/>
    <p:sldId id="275" r:id="rId21"/>
    <p:sldId id="276" r:id="rId22"/>
    <p:sldId id="277" r:id="rId23"/>
    <p:sldId id="278" r:id="rId24"/>
    <p:sldId id="279" r:id="rId25"/>
  </p:sldIdLst>
  <p:sldSz cx="12192000" cy="6858000"/>
  <p:notesSz cx="6858000" cy="9144000"/>
  <p:defaultTextStyle>
    <a:defPPr>
      <a:defRPr lang="ru-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75" d="100"/>
          <a:sy n="75" d="100"/>
        </p:scale>
        <p:origin x="735"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315C308-6391-55AA-B5BE-B44792ECF194}"/>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ru-BY"/>
          </a:p>
        </p:txBody>
      </p:sp>
      <p:sp>
        <p:nvSpPr>
          <p:cNvPr id="3" name="Подзаголовок 2">
            <a:extLst>
              <a:ext uri="{FF2B5EF4-FFF2-40B4-BE49-F238E27FC236}">
                <a16:creationId xmlns:a16="http://schemas.microsoft.com/office/drawing/2014/main" id="{B0E5B5FF-CED1-76E2-926E-80612B675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ru-BY"/>
          </a:p>
        </p:txBody>
      </p:sp>
      <p:sp>
        <p:nvSpPr>
          <p:cNvPr id="4" name="Дата 3">
            <a:extLst>
              <a:ext uri="{FF2B5EF4-FFF2-40B4-BE49-F238E27FC236}">
                <a16:creationId xmlns:a16="http://schemas.microsoft.com/office/drawing/2014/main" id="{1BA285FE-FCEF-EA23-DCF5-963349D3E38F}"/>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5" name="Нижний колонтитул 4">
            <a:extLst>
              <a:ext uri="{FF2B5EF4-FFF2-40B4-BE49-F238E27FC236}">
                <a16:creationId xmlns:a16="http://schemas.microsoft.com/office/drawing/2014/main" id="{5CCD9EA5-73DC-B805-7410-6A100BD9309C}"/>
              </a:ext>
            </a:extLst>
          </p:cNvPr>
          <p:cNvSpPr>
            <a:spLocks noGrp="1"/>
          </p:cNvSpPr>
          <p:nvPr>
            <p:ph type="ftr" sz="quarter" idx="11"/>
          </p:nvPr>
        </p:nvSpPr>
        <p:spPr/>
        <p:txBody>
          <a:bodyPr/>
          <a:lstStyle/>
          <a:p>
            <a:endParaRPr lang="ru-BY"/>
          </a:p>
        </p:txBody>
      </p:sp>
      <p:sp>
        <p:nvSpPr>
          <p:cNvPr id="6" name="Номер слайда 5">
            <a:extLst>
              <a:ext uri="{FF2B5EF4-FFF2-40B4-BE49-F238E27FC236}">
                <a16:creationId xmlns:a16="http://schemas.microsoft.com/office/drawing/2014/main" id="{98467FB2-A907-B477-83FB-B87F363860AF}"/>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3360527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BC2AB6-04B0-5B27-10C2-B9603F15DB88}"/>
              </a:ext>
            </a:extLst>
          </p:cNvPr>
          <p:cNvSpPr>
            <a:spLocks noGrp="1"/>
          </p:cNvSpPr>
          <p:nvPr>
            <p:ph type="title"/>
          </p:nvPr>
        </p:nvSpPr>
        <p:spPr/>
        <p:txBody>
          <a:bodyPr/>
          <a:lstStyle/>
          <a:p>
            <a:r>
              <a:rPr lang="ru-RU"/>
              <a:t>Образец заголовка</a:t>
            </a:r>
            <a:endParaRPr lang="ru-BY"/>
          </a:p>
        </p:txBody>
      </p:sp>
      <p:sp>
        <p:nvSpPr>
          <p:cNvPr id="3" name="Объект 2">
            <a:extLst>
              <a:ext uri="{FF2B5EF4-FFF2-40B4-BE49-F238E27FC236}">
                <a16:creationId xmlns:a16="http://schemas.microsoft.com/office/drawing/2014/main" id="{C8807279-8DA4-B842-D81D-FCC01DEF886E}"/>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4" name="Дата 3">
            <a:extLst>
              <a:ext uri="{FF2B5EF4-FFF2-40B4-BE49-F238E27FC236}">
                <a16:creationId xmlns:a16="http://schemas.microsoft.com/office/drawing/2014/main" id="{1005B9C9-7F6C-2BE2-D548-726282BFB2F6}"/>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5" name="Нижний колонтитул 4">
            <a:extLst>
              <a:ext uri="{FF2B5EF4-FFF2-40B4-BE49-F238E27FC236}">
                <a16:creationId xmlns:a16="http://schemas.microsoft.com/office/drawing/2014/main" id="{A44992EE-C8AA-9DCC-04CB-17115A2DE4C5}"/>
              </a:ext>
            </a:extLst>
          </p:cNvPr>
          <p:cNvSpPr>
            <a:spLocks noGrp="1"/>
          </p:cNvSpPr>
          <p:nvPr>
            <p:ph type="ftr" sz="quarter" idx="11"/>
          </p:nvPr>
        </p:nvSpPr>
        <p:spPr/>
        <p:txBody>
          <a:bodyPr/>
          <a:lstStyle/>
          <a:p>
            <a:endParaRPr lang="ru-BY"/>
          </a:p>
        </p:txBody>
      </p:sp>
      <p:sp>
        <p:nvSpPr>
          <p:cNvPr id="6" name="Номер слайда 5">
            <a:extLst>
              <a:ext uri="{FF2B5EF4-FFF2-40B4-BE49-F238E27FC236}">
                <a16:creationId xmlns:a16="http://schemas.microsoft.com/office/drawing/2014/main" id="{DB777E99-E9B2-F88D-676C-A5247BB9E358}"/>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1906711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B4527E-2D6B-5C53-24F9-DFEAF685253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ru-BY"/>
          </a:p>
        </p:txBody>
      </p:sp>
      <p:sp>
        <p:nvSpPr>
          <p:cNvPr id="3" name="Текст 2">
            <a:extLst>
              <a:ext uri="{FF2B5EF4-FFF2-40B4-BE49-F238E27FC236}">
                <a16:creationId xmlns:a16="http://schemas.microsoft.com/office/drawing/2014/main" id="{8B2DEF17-76E3-8698-C673-D0056ED74F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63637BB3-35F0-CCF0-7582-4BEA2F82DB54}"/>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5" name="Нижний колонтитул 4">
            <a:extLst>
              <a:ext uri="{FF2B5EF4-FFF2-40B4-BE49-F238E27FC236}">
                <a16:creationId xmlns:a16="http://schemas.microsoft.com/office/drawing/2014/main" id="{2E4C11E1-65B3-D269-254F-19BF1D39DE17}"/>
              </a:ext>
            </a:extLst>
          </p:cNvPr>
          <p:cNvSpPr>
            <a:spLocks noGrp="1"/>
          </p:cNvSpPr>
          <p:nvPr>
            <p:ph type="ftr" sz="quarter" idx="11"/>
          </p:nvPr>
        </p:nvSpPr>
        <p:spPr/>
        <p:txBody>
          <a:bodyPr/>
          <a:lstStyle/>
          <a:p>
            <a:endParaRPr lang="ru-BY"/>
          </a:p>
        </p:txBody>
      </p:sp>
      <p:sp>
        <p:nvSpPr>
          <p:cNvPr id="6" name="Номер слайда 5">
            <a:extLst>
              <a:ext uri="{FF2B5EF4-FFF2-40B4-BE49-F238E27FC236}">
                <a16:creationId xmlns:a16="http://schemas.microsoft.com/office/drawing/2014/main" id="{CB51DCF9-F5D1-7CCE-A7A0-5AB42BEDD184}"/>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1829153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8BCF6A-D917-61FB-4F86-BB1397594EA4}"/>
              </a:ext>
            </a:extLst>
          </p:cNvPr>
          <p:cNvSpPr>
            <a:spLocks noGrp="1"/>
          </p:cNvSpPr>
          <p:nvPr>
            <p:ph type="title"/>
          </p:nvPr>
        </p:nvSpPr>
        <p:spPr/>
        <p:txBody>
          <a:bodyPr/>
          <a:lstStyle/>
          <a:p>
            <a:r>
              <a:rPr lang="ru-RU"/>
              <a:t>Образец заголовка</a:t>
            </a:r>
            <a:endParaRPr lang="ru-BY"/>
          </a:p>
        </p:txBody>
      </p:sp>
      <p:sp>
        <p:nvSpPr>
          <p:cNvPr id="3" name="Объект 2">
            <a:extLst>
              <a:ext uri="{FF2B5EF4-FFF2-40B4-BE49-F238E27FC236}">
                <a16:creationId xmlns:a16="http://schemas.microsoft.com/office/drawing/2014/main" id="{0A563DD4-AF6C-3AE6-55B9-2BCAAB00B20E}"/>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4" name="Объект 3">
            <a:extLst>
              <a:ext uri="{FF2B5EF4-FFF2-40B4-BE49-F238E27FC236}">
                <a16:creationId xmlns:a16="http://schemas.microsoft.com/office/drawing/2014/main" id="{09B56546-7125-6FA7-6373-1B840388DD2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5" name="Дата 4">
            <a:extLst>
              <a:ext uri="{FF2B5EF4-FFF2-40B4-BE49-F238E27FC236}">
                <a16:creationId xmlns:a16="http://schemas.microsoft.com/office/drawing/2014/main" id="{7B08F313-FA97-639A-D664-3E6F759466AB}"/>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6" name="Нижний колонтитул 5">
            <a:extLst>
              <a:ext uri="{FF2B5EF4-FFF2-40B4-BE49-F238E27FC236}">
                <a16:creationId xmlns:a16="http://schemas.microsoft.com/office/drawing/2014/main" id="{83E64651-E095-6A0C-CBA3-5D2236809A9C}"/>
              </a:ext>
            </a:extLst>
          </p:cNvPr>
          <p:cNvSpPr>
            <a:spLocks noGrp="1"/>
          </p:cNvSpPr>
          <p:nvPr>
            <p:ph type="ftr" sz="quarter" idx="11"/>
          </p:nvPr>
        </p:nvSpPr>
        <p:spPr/>
        <p:txBody>
          <a:bodyPr/>
          <a:lstStyle/>
          <a:p>
            <a:endParaRPr lang="ru-BY"/>
          </a:p>
        </p:txBody>
      </p:sp>
      <p:sp>
        <p:nvSpPr>
          <p:cNvPr id="7" name="Номер слайда 6">
            <a:extLst>
              <a:ext uri="{FF2B5EF4-FFF2-40B4-BE49-F238E27FC236}">
                <a16:creationId xmlns:a16="http://schemas.microsoft.com/office/drawing/2014/main" id="{1DCCDCE3-F2FB-272A-C6CE-D859CD9081FF}"/>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849816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3CBDFE-C736-52E8-2AE2-599CAAEC7CFE}"/>
              </a:ext>
            </a:extLst>
          </p:cNvPr>
          <p:cNvSpPr>
            <a:spLocks noGrp="1"/>
          </p:cNvSpPr>
          <p:nvPr>
            <p:ph type="title"/>
          </p:nvPr>
        </p:nvSpPr>
        <p:spPr>
          <a:xfrm>
            <a:off x="839788" y="365125"/>
            <a:ext cx="10515600" cy="1325563"/>
          </a:xfrm>
        </p:spPr>
        <p:txBody>
          <a:bodyPr/>
          <a:lstStyle/>
          <a:p>
            <a:r>
              <a:rPr lang="ru-RU"/>
              <a:t>Образец заголовка</a:t>
            </a:r>
            <a:endParaRPr lang="ru-BY"/>
          </a:p>
        </p:txBody>
      </p:sp>
      <p:sp>
        <p:nvSpPr>
          <p:cNvPr id="3" name="Текст 2">
            <a:extLst>
              <a:ext uri="{FF2B5EF4-FFF2-40B4-BE49-F238E27FC236}">
                <a16:creationId xmlns:a16="http://schemas.microsoft.com/office/drawing/2014/main" id="{8089CFB7-0218-C9DB-5627-0D2F0297CD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C7BDB7DE-A059-7DB2-D946-CBF02355859B}"/>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5" name="Текст 4">
            <a:extLst>
              <a:ext uri="{FF2B5EF4-FFF2-40B4-BE49-F238E27FC236}">
                <a16:creationId xmlns:a16="http://schemas.microsoft.com/office/drawing/2014/main" id="{8DEFB58B-9F89-57C4-7999-C0197B6221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04088F-7953-CBF2-364D-91C90B5AF58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7" name="Дата 6">
            <a:extLst>
              <a:ext uri="{FF2B5EF4-FFF2-40B4-BE49-F238E27FC236}">
                <a16:creationId xmlns:a16="http://schemas.microsoft.com/office/drawing/2014/main" id="{2EBA7707-3E43-0403-6228-B69694CCDDD6}"/>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8" name="Нижний колонтитул 7">
            <a:extLst>
              <a:ext uri="{FF2B5EF4-FFF2-40B4-BE49-F238E27FC236}">
                <a16:creationId xmlns:a16="http://schemas.microsoft.com/office/drawing/2014/main" id="{B6BCA447-32A1-E496-8002-99E4656EE975}"/>
              </a:ext>
            </a:extLst>
          </p:cNvPr>
          <p:cNvSpPr>
            <a:spLocks noGrp="1"/>
          </p:cNvSpPr>
          <p:nvPr>
            <p:ph type="ftr" sz="quarter" idx="11"/>
          </p:nvPr>
        </p:nvSpPr>
        <p:spPr/>
        <p:txBody>
          <a:bodyPr/>
          <a:lstStyle/>
          <a:p>
            <a:endParaRPr lang="ru-BY"/>
          </a:p>
        </p:txBody>
      </p:sp>
      <p:sp>
        <p:nvSpPr>
          <p:cNvPr id="9" name="Номер слайда 8">
            <a:extLst>
              <a:ext uri="{FF2B5EF4-FFF2-40B4-BE49-F238E27FC236}">
                <a16:creationId xmlns:a16="http://schemas.microsoft.com/office/drawing/2014/main" id="{ED77DC55-4DF1-8EE2-53FE-3E1D07840A35}"/>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2046952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9434F90-3F63-2F7E-58D6-B5A8ACEF0560}"/>
              </a:ext>
            </a:extLst>
          </p:cNvPr>
          <p:cNvSpPr>
            <a:spLocks noGrp="1"/>
          </p:cNvSpPr>
          <p:nvPr>
            <p:ph type="title"/>
          </p:nvPr>
        </p:nvSpPr>
        <p:spPr/>
        <p:txBody>
          <a:bodyPr/>
          <a:lstStyle/>
          <a:p>
            <a:r>
              <a:rPr lang="ru-RU"/>
              <a:t>Образец заголовка</a:t>
            </a:r>
            <a:endParaRPr lang="ru-BY"/>
          </a:p>
        </p:txBody>
      </p:sp>
      <p:sp>
        <p:nvSpPr>
          <p:cNvPr id="3" name="Дата 2">
            <a:extLst>
              <a:ext uri="{FF2B5EF4-FFF2-40B4-BE49-F238E27FC236}">
                <a16:creationId xmlns:a16="http://schemas.microsoft.com/office/drawing/2014/main" id="{32447655-8554-3F20-9D2D-539838C8C734}"/>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4" name="Нижний колонтитул 3">
            <a:extLst>
              <a:ext uri="{FF2B5EF4-FFF2-40B4-BE49-F238E27FC236}">
                <a16:creationId xmlns:a16="http://schemas.microsoft.com/office/drawing/2014/main" id="{81F32875-1BBB-64C4-8821-85A7EB2FAFE4}"/>
              </a:ext>
            </a:extLst>
          </p:cNvPr>
          <p:cNvSpPr>
            <a:spLocks noGrp="1"/>
          </p:cNvSpPr>
          <p:nvPr>
            <p:ph type="ftr" sz="quarter" idx="11"/>
          </p:nvPr>
        </p:nvSpPr>
        <p:spPr/>
        <p:txBody>
          <a:bodyPr/>
          <a:lstStyle/>
          <a:p>
            <a:endParaRPr lang="ru-BY"/>
          </a:p>
        </p:txBody>
      </p:sp>
      <p:sp>
        <p:nvSpPr>
          <p:cNvPr id="5" name="Номер слайда 4">
            <a:extLst>
              <a:ext uri="{FF2B5EF4-FFF2-40B4-BE49-F238E27FC236}">
                <a16:creationId xmlns:a16="http://schemas.microsoft.com/office/drawing/2014/main" id="{5A0F2BDD-B675-53A2-B0B4-A9FC967E7369}"/>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310490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34FC94B-30AA-0383-F3F5-700A39AB456E}"/>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3" name="Нижний колонтитул 2">
            <a:extLst>
              <a:ext uri="{FF2B5EF4-FFF2-40B4-BE49-F238E27FC236}">
                <a16:creationId xmlns:a16="http://schemas.microsoft.com/office/drawing/2014/main" id="{4FAF5381-AD98-BF97-ABD5-5C791255CE20}"/>
              </a:ext>
            </a:extLst>
          </p:cNvPr>
          <p:cNvSpPr>
            <a:spLocks noGrp="1"/>
          </p:cNvSpPr>
          <p:nvPr>
            <p:ph type="ftr" sz="quarter" idx="11"/>
          </p:nvPr>
        </p:nvSpPr>
        <p:spPr/>
        <p:txBody>
          <a:bodyPr/>
          <a:lstStyle/>
          <a:p>
            <a:endParaRPr lang="ru-BY"/>
          </a:p>
        </p:txBody>
      </p:sp>
      <p:sp>
        <p:nvSpPr>
          <p:cNvPr id="4" name="Номер слайда 3">
            <a:extLst>
              <a:ext uri="{FF2B5EF4-FFF2-40B4-BE49-F238E27FC236}">
                <a16:creationId xmlns:a16="http://schemas.microsoft.com/office/drawing/2014/main" id="{6C941C61-BA52-DA42-F5F4-FA5569EFF855}"/>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2730680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A5692D-8803-4ABA-2F09-24A7797DD72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BY"/>
          </a:p>
        </p:txBody>
      </p:sp>
      <p:sp>
        <p:nvSpPr>
          <p:cNvPr id="3" name="Объект 2">
            <a:extLst>
              <a:ext uri="{FF2B5EF4-FFF2-40B4-BE49-F238E27FC236}">
                <a16:creationId xmlns:a16="http://schemas.microsoft.com/office/drawing/2014/main" id="{47C6306A-FE1A-BF5B-CAD7-5F87EA8ACA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4" name="Текст 3">
            <a:extLst>
              <a:ext uri="{FF2B5EF4-FFF2-40B4-BE49-F238E27FC236}">
                <a16:creationId xmlns:a16="http://schemas.microsoft.com/office/drawing/2014/main" id="{E4AE7DFD-BEC7-6A26-4048-8CC02554F3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27A3798-6317-983A-BFBE-85EBA2381779}"/>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6" name="Нижний колонтитул 5">
            <a:extLst>
              <a:ext uri="{FF2B5EF4-FFF2-40B4-BE49-F238E27FC236}">
                <a16:creationId xmlns:a16="http://schemas.microsoft.com/office/drawing/2014/main" id="{85B300B1-D126-52BA-C794-94C61E35C4D3}"/>
              </a:ext>
            </a:extLst>
          </p:cNvPr>
          <p:cNvSpPr>
            <a:spLocks noGrp="1"/>
          </p:cNvSpPr>
          <p:nvPr>
            <p:ph type="ftr" sz="quarter" idx="11"/>
          </p:nvPr>
        </p:nvSpPr>
        <p:spPr/>
        <p:txBody>
          <a:bodyPr/>
          <a:lstStyle/>
          <a:p>
            <a:endParaRPr lang="ru-BY"/>
          </a:p>
        </p:txBody>
      </p:sp>
      <p:sp>
        <p:nvSpPr>
          <p:cNvPr id="7" name="Номер слайда 6">
            <a:extLst>
              <a:ext uri="{FF2B5EF4-FFF2-40B4-BE49-F238E27FC236}">
                <a16:creationId xmlns:a16="http://schemas.microsoft.com/office/drawing/2014/main" id="{268004C1-2B2E-7BA0-4C72-D1414915CA77}"/>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2195605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D68807-A7EF-7E0B-DA8A-CCC3819F81C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BY"/>
          </a:p>
        </p:txBody>
      </p:sp>
      <p:sp>
        <p:nvSpPr>
          <p:cNvPr id="3" name="Рисунок 2">
            <a:extLst>
              <a:ext uri="{FF2B5EF4-FFF2-40B4-BE49-F238E27FC236}">
                <a16:creationId xmlns:a16="http://schemas.microsoft.com/office/drawing/2014/main" id="{CB1CDD9D-4AE5-EF8C-3972-DF5FAC4712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BY"/>
          </a:p>
        </p:txBody>
      </p:sp>
      <p:sp>
        <p:nvSpPr>
          <p:cNvPr id="4" name="Текст 3">
            <a:extLst>
              <a:ext uri="{FF2B5EF4-FFF2-40B4-BE49-F238E27FC236}">
                <a16:creationId xmlns:a16="http://schemas.microsoft.com/office/drawing/2014/main" id="{68A45028-E74B-4A14-B1E7-EFD1F23B0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5182003-8891-57A5-8131-D08C64803CAC}"/>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6" name="Нижний колонтитул 5">
            <a:extLst>
              <a:ext uri="{FF2B5EF4-FFF2-40B4-BE49-F238E27FC236}">
                <a16:creationId xmlns:a16="http://schemas.microsoft.com/office/drawing/2014/main" id="{0429E982-4EE0-8DBD-D39B-15AB79D51A0F}"/>
              </a:ext>
            </a:extLst>
          </p:cNvPr>
          <p:cNvSpPr>
            <a:spLocks noGrp="1"/>
          </p:cNvSpPr>
          <p:nvPr>
            <p:ph type="ftr" sz="quarter" idx="11"/>
          </p:nvPr>
        </p:nvSpPr>
        <p:spPr/>
        <p:txBody>
          <a:bodyPr/>
          <a:lstStyle/>
          <a:p>
            <a:endParaRPr lang="ru-BY"/>
          </a:p>
        </p:txBody>
      </p:sp>
      <p:sp>
        <p:nvSpPr>
          <p:cNvPr id="7" name="Номер слайда 6">
            <a:extLst>
              <a:ext uri="{FF2B5EF4-FFF2-40B4-BE49-F238E27FC236}">
                <a16:creationId xmlns:a16="http://schemas.microsoft.com/office/drawing/2014/main" id="{8947DAFB-396D-AD27-206F-13CA4869D0B6}"/>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4082495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ABCDEF-3CF4-2DA4-DB63-C2942661543B}"/>
              </a:ext>
            </a:extLst>
          </p:cNvPr>
          <p:cNvSpPr>
            <a:spLocks noGrp="1"/>
          </p:cNvSpPr>
          <p:nvPr>
            <p:ph type="title"/>
          </p:nvPr>
        </p:nvSpPr>
        <p:spPr/>
        <p:txBody>
          <a:bodyPr/>
          <a:lstStyle/>
          <a:p>
            <a:r>
              <a:rPr lang="ru-RU"/>
              <a:t>Образец заголовка</a:t>
            </a:r>
            <a:endParaRPr lang="ru-BY"/>
          </a:p>
        </p:txBody>
      </p:sp>
      <p:sp>
        <p:nvSpPr>
          <p:cNvPr id="3" name="Вертикальный текст 2">
            <a:extLst>
              <a:ext uri="{FF2B5EF4-FFF2-40B4-BE49-F238E27FC236}">
                <a16:creationId xmlns:a16="http://schemas.microsoft.com/office/drawing/2014/main" id="{AC3F679E-53A0-1979-AE91-2B4F992410F2}"/>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4" name="Дата 3">
            <a:extLst>
              <a:ext uri="{FF2B5EF4-FFF2-40B4-BE49-F238E27FC236}">
                <a16:creationId xmlns:a16="http://schemas.microsoft.com/office/drawing/2014/main" id="{4EBA6C3B-3E7E-2809-AE84-C0D69F52542C}"/>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5" name="Нижний колонтитул 4">
            <a:extLst>
              <a:ext uri="{FF2B5EF4-FFF2-40B4-BE49-F238E27FC236}">
                <a16:creationId xmlns:a16="http://schemas.microsoft.com/office/drawing/2014/main" id="{A5D7DEF7-3FAA-A6BF-9212-B2C7C515B198}"/>
              </a:ext>
            </a:extLst>
          </p:cNvPr>
          <p:cNvSpPr>
            <a:spLocks noGrp="1"/>
          </p:cNvSpPr>
          <p:nvPr>
            <p:ph type="ftr" sz="quarter" idx="11"/>
          </p:nvPr>
        </p:nvSpPr>
        <p:spPr/>
        <p:txBody>
          <a:bodyPr/>
          <a:lstStyle/>
          <a:p>
            <a:endParaRPr lang="ru-BY"/>
          </a:p>
        </p:txBody>
      </p:sp>
      <p:sp>
        <p:nvSpPr>
          <p:cNvPr id="6" name="Номер слайда 5">
            <a:extLst>
              <a:ext uri="{FF2B5EF4-FFF2-40B4-BE49-F238E27FC236}">
                <a16:creationId xmlns:a16="http://schemas.microsoft.com/office/drawing/2014/main" id="{ED4761C7-459D-3582-5591-2B2ECDCBA618}"/>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4140234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E16A348E-31B7-3460-9AC5-D45C7545966F}"/>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ru-BY"/>
          </a:p>
        </p:txBody>
      </p:sp>
      <p:sp>
        <p:nvSpPr>
          <p:cNvPr id="3" name="Вертикальный текст 2">
            <a:extLst>
              <a:ext uri="{FF2B5EF4-FFF2-40B4-BE49-F238E27FC236}">
                <a16:creationId xmlns:a16="http://schemas.microsoft.com/office/drawing/2014/main" id="{5413D960-7E30-9F8D-7574-D4645A8E5AF4}"/>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4" name="Дата 3">
            <a:extLst>
              <a:ext uri="{FF2B5EF4-FFF2-40B4-BE49-F238E27FC236}">
                <a16:creationId xmlns:a16="http://schemas.microsoft.com/office/drawing/2014/main" id="{CC7DE0F7-5A50-2DD2-0119-8E1AB4489562}"/>
              </a:ext>
            </a:extLst>
          </p:cNvPr>
          <p:cNvSpPr>
            <a:spLocks noGrp="1"/>
          </p:cNvSpPr>
          <p:nvPr>
            <p:ph type="dt" sz="half" idx="10"/>
          </p:nvPr>
        </p:nvSpPr>
        <p:spPr/>
        <p:txBody>
          <a:bodyPr/>
          <a:lstStyle/>
          <a:p>
            <a:fld id="{9F688289-C170-4B4D-A167-54B8B4C00741}" type="datetimeFigureOut">
              <a:rPr lang="ru-BY" smtClean="0"/>
              <a:t>14.04.2026</a:t>
            </a:fld>
            <a:endParaRPr lang="ru-BY"/>
          </a:p>
        </p:txBody>
      </p:sp>
      <p:sp>
        <p:nvSpPr>
          <p:cNvPr id="5" name="Нижний колонтитул 4">
            <a:extLst>
              <a:ext uri="{FF2B5EF4-FFF2-40B4-BE49-F238E27FC236}">
                <a16:creationId xmlns:a16="http://schemas.microsoft.com/office/drawing/2014/main" id="{483294C9-AB99-C9A0-1A60-F99085DBA89F}"/>
              </a:ext>
            </a:extLst>
          </p:cNvPr>
          <p:cNvSpPr>
            <a:spLocks noGrp="1"/>
          </p:cNvSpPr>
          <p:nvPr>
            <p:ph type="ftr" sz="quarter" idx="11"/>
          </p:nvPr>
        </p:nvSpPr>
        <p:spPr/>
        <p:txBody>
          <a:bodyPr/>
          <a:lstStyle/>
          <a:p>
            <a:endParaRPr lang="ru-BY"/>
          </a:p>
        </p:txBody>
      </p:sp>
      <p:sp>
        <p:nvSpPr>
          <p:cNvPr id="6" name="Номер слайда 5">
            <a:extLst>
              <a:ext uri="{FF2B5EF4-FFF2-40B4-BE49-F238E27FC236}">
                <a16:creationId xmlns:a16="http://schemas.microsoft.com/office/drawing/2014/main" id="{7F6927B0-16B6-FD03-D0F6-94B5E028744F}"/>
              </a:ext>
            </a:extLst>
          </p:cNvPr>
          <p:cNvSpPr>
            <a:spLocks noGrp="1"/>
          </p:cNvSpPr>
          <p:nvPr>
            <p:ph type="sldNum" sz="quarter" idx="12"/>
          </p:nvPr>
        </p:nvSpPr>
        <p:spPr/>
        <p:txBody>
          <a:bodyPr/>
          <a:lstStyle/>
          <a:p>
            <a:fld id="{CA1B2B44-E867-4AD5-A3FC-D5548C0DB3EA}" type="slidenum">
              <a:rPr lang="ru-BY" smtClean="0"/>
              <a:t>‹#›</a:t>
            </a:fld>
            <a:endParaRPr lang="ru-BY"/>
          </a:p>
        </p:txBody>
      </p:sp>
    </p:spTree>
    <p:extLst>
      <p:ext uri="{BB962C8B-B14F-4D97-AF65-F5344CB8AC3E}">
        <p14:creationId xmlns:p14="http://schemas.microsoft.com/office/powerpoint/2010/main" val="1649329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2AB348-1363-55A6-7482-F8E0C4FBD3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ru-BY"/>
          </a:p>
        </p:txBody>
      </p:sp>
      <p:sp>
        <p:nvSpPr>
          <p:cNvPr id="3" name="Текст 2">
            <a:extLst>
              <a:ext uri="{FF2B5EF4-FFF2-40B4-BE49-F238E27FC236}">
                <a16:creationId xmlns:a16="http://schemas.microsoft.com/office/drawing/2014/main" id="{B6843BEE-90F3-9F01-84D1-9D49D66A89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BY"/>
          </a:p>
        </p:txBody>
      </p:sp>
      <p:sp>
        <p:nvSpPr>
          <p:cNvPr id="4" name="Дата 3">
            <a:extLst>
              <a:ext uri="{FF2B5EF4-FFF2-40B4-BE49-F238E27FC236}">
                <a16:creationId xmlns:a16="http://schemas.microsoft.com/office/drawing/2014/main" id="{3AD294CB-0105-9593-4A83-35403107FA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688289-C170-4B4D-A167-54B8B4C00741}" type="datetimeFigureOut">
              <a:rPr lang="ru-BY" smtClean="0"/>
              <a:t>14.04.2026</a:t>
            </a:fld>
            <a:endParaRPr lang="ru-BY"/>
          </a:p>
        </p:txBody>
      </p:sp>
      <p:sp>
        <p:nvSpPr>
          <p:cNvPr id="5" name="Нижний колонтитул 4">
            <a:extLst>
              <a:ext uri="{FF2B5EF4-FFF2-40B4-BE49-F238E27FC236}">
                <a16:creationId xmlns:a16="http://schemas.microsoft.com/office/drawing/2014/main" id="{15CE10AB-9491-9686-33AB-DEB04823AA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BY"/>
          </a:p>
        </p:txBody>
      </p:sp>
      <p:sp>
        <p:nvSpPr>
          <p:cNvPr id="6" name="Номер слайда 5">
            <a:extLst>
              <a:ext uri="{FF2B5EF4-FFF2-40B4-BE49-F238E27FC236}">
                <a16:creationId xmlns:a16="http://schemas.microsoft.com/office/drawing/2014/main" id="{61806C52-957D-E6ED-0DAB-9F8CA22E9E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1B2B44-E867-4AD5-A3FC-D5548C0DB3EA}" type="slidenum">
              <a:rPr lang="ru-BY" smtClean="0"/>
              <a:t>‹#›</a:t>
            </a:fld>
            <a:endParaRPr lang="ru-BY"/>
          </a:p>
        </p:txBody>
      </p:sp>
    </p:spTree>
    <p:extLst>
      <p:ext uri="{BB962C8B-B14F-4D97-AF65-F5344CB8AC3E}">
        <p14:creationId xmlns:p14="http://schemas.microsoft.com/office/powerpoint/2010/main" val="1825186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8647F0-F311-9396-9034-3A60C11AE6D9}"/>
              </a:ext>
            </a:extLst>
          </p:cNvPr>
          <p:cNvSpPr>
            <a:spLocks noGrp="1"/>
          </p:cNvSpPr>
          <p:nvPr>
            <p:ph type="ctrTitle"/>
          </p:nvPr>
        </p:nvSpPr>
        <p:spPr>
          <a:xfrm>
            <a:off x="95250" y="241300"/>
            <a:ext cx="11918950" cy="3268663"/>
          </a:xfrm>
        </p:spPr>
        <p:txBody>
          <a:bodyPr>
            <a:normAutofit fontScale="90000"/>
          </a:bodyPr>
          <a:lstStyle/>
          <a:p>
            <a:r>
              <a:rPr lang="ru-RU" dirty="0"/>
              <a:t>Сравнительный анализ проекционных методов решения краевых задач дифференциальных уравнений</a:t>
            </a:r>
            <a:endParaRPr lang="ru-BY" dirty="0"/>
          </a:p>
        </p:txBody>
      </p:sp>
      <p:sp>
        <p:nvSpPr>
          <p:cNvPr id="3" name="Подзаголовок 2">
            <a:extLst>
              <a:ext uri="{FF2B5EF4-FFF2-40B4-BE49-F238E27FC236}">
                <a16:creationId xmlns:a16="http://schemas.microsoft.com/office/drawing/2014/main" id="{DBE51E4E-F857-2207-D661-63AAEF929836}"/>
              </a:ext>
            </a:extLst>
          </p:cNvPr>
          <p:cNvSpPr>
            <a:spLocks noGrp="1"/>
          </p:cNvSpPr>
          <p:nvPr>
            <p:ph type="subTitle" idx="1"/>
          </p:nvPr>
        </p:nvSpPr>
        <p:spPr/>
        <p:txBody>
          <a:bodyPr>
            <a:normAutofit/>
          </a:bodyPr>
          <a:lstStyle/>
          <a:p>
            <a:r>
              <a:rPr lang="ru-RU" sz="3600" dirty="0"/>
              <a:t>Василенко </a:t>
            </a:r>
            <a:r>
              <a:rPr lang="ru-RU" sz="3600" dirty="0" err="1"/>
              <a:t>Д.В</a:t>
            </a:r>
            <a:r>
              <a:rPr lang="ru-RU" sz="3600" dirty="0"/>
              <a:t>., </a:t>
            </a:r>
            <a:r>
              <a:rPr lang="ru-RU" sz="3600" dirty="0" err="1"/>
              <a:t>Халамов</a:t>
            </a:r>
            <a:r>
              <a:rPr lang="ru-RU" sz="3600" dirty="0"/>
              <a:t> </a:t>
            </a:r>
            <a:r>
              <a:rPr lang="ru-RU" sz="3600" dirty="0" err="1"/>
              <a:t>Н.А</a:t>
            </a:r>
            <a:r>
              <a:rPr lang="ru-RU" sz="3600" dirty="0"/>
              <a:t>., гр. 453503</a:t>
            </a:r>
          </a:p>
          <a:p>
            <a:r>
              <a:rPr lang="ru-RU" sz="3600" dirty="0"/>
              <a:t>Научный руководитель Анисимов </a:t>
            </a:r>
            <a:r>
              <a:rPr lang="ru-RU" sz="3600" dirty="0" err="1"/>
              <a:t>В.Я</a:t>
            </a:r>
            <a:endParaRPr lang="ru-BY" sz="3600" dirty="0"/>
          </a:p>
        </p:txBody>
      </p:sp>
    </p:spTree>
    <p:extLst>
      <p:ext uri="{BB962C8B-B14F-4D97-AF65-F5344CB8AC3E}">
        <p14:creationId xmlns:p14="http://schemas.microsoft.com/office/powerpoint/2010/main" val="1825241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41AB09-A043-B8F8-3860-8DD56E5A4C3B}"/>
              </a:ext>
            </a:extLst>
          </p:cNvPr>
          <p:cNvSpPr>
            <a:spLocks noGrp="1"/>
          </p:cNvSpPr>
          <p:nvPr>
            <p:ph type="ctrTitle"/>
          </p:nvPr>
        </p:nvSpPr>
        <p:spPr/>
        <p:txBody>
          <a:bodyPr>
            <a:normAutofit fontScale="90000"/>
          </a:bodyPr>
          <a:lstStyle/>
          <a:p>
            <a:r>
              <a:rPr lang="ru-RU" sz="2800" dirty="0"/>
              <a:t>Численные методы решения дифференциальных уравнений нужны потому, что:</a:t>
            </a:r>
            <a:br>
              <a:rPr lang="ru-RU" sz="2800" dirty="0"/>
            </a:br>
            <a:r>
              <a:rPr lang="ru-RU" sz="2800" dirty="0"/>
              <a:t>Аналитическое решение существует далеко не всегда.</a:t>
            </a:r>
            <a:br>
              <a:rPr lang="ru-RU" sz="2800" dirty="0"/>
            </a:br>
            <a:r>
              <a:rPr lang="ru-RU" sz="2800" dirty="0"/>
              <a:t>Если и существует, оно может быть слишком сложным.</a:t>
            </a:r>
            <a:br>
              <a:rPr lang="ru-RU" sz="2800" dirty="0"/>
            </a:br>
            <a:r>
              <a:rPr lang="ru-RU" sz="2800" dirty="0"/>
              <a:t>В инженерной практике важна скорость и предсказуемая точность.</a:t>
            </a:r>
            <a:br>
              <a:rPr lang="ru-RU" sz="1600" dirty="0"/>
            </a:br>
            <a:endParaRPr lang="ru-BY" sz="1600" dirty="0"/>
          </a:p>
        </p:txBody>
      </p:sp>
      <p:sp>
        <p:nvSpPr>
          <p:cNvPr id="3" name="Подзаголовок 2">
            <a:extLst>
              <a:ext uri="{FF2B5EF4-FFF2-40B4-BE49-F238E27FC236}">
                <a16:creationId xmlns:a16="http://schemas.microsoft.com/office/drawing/2014/main" id="{5676DB11-DD99-0254-4E9D-DE557305BE7B}"/>
              </a:ext>
            </a:extLst>
          </p:cNvPr>
          <p:cNvSpPr>
            <a:spLocks noGrp="1"/>
          </p:cNvSpPr>
          <p:nvPr>
            <p:ph type="subTitle" idx="1"/>
          </p:nvPr>
        </p:nvSpPr>
        <p:spPr/>
        <p:txBody>
          <a:bodyPr/>
          <a:lstStyle/>
          <a:p>
            <a:endParaRPr lang="ru-BY"/>
          </a:p>
        </p:txBody>
      </p:sp>
    </p:spTree>
    <p:extLst>
      <p:ext uri="{BB962C8B-B14F-4D97-AF65-F5344CB8AC3E}">
        <p14:creationId xmlns:p14="http://schemas.microsoft.com/office/powerpoint/2010/main" val="67378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AAB85F-F469-E975-338E-11162E026609}"/>
              </a:ext>
            </a:extLst>
          </p:cNvPr>
          <p:cNvSpPr>
            <a:spLocks noGrp="1"/>
          </p:cNvSpPr>
          <p:nvPr>
            <p:ph type="ctrTitle"/>
          </p:nvPr>
        </p:nvSpPr>
        <p:spPr/>
        <p:txBody>
          <a:bodyPr>
            <a:normAutofit fontScale="90000"/>
          </a:bodyPr>
          <a:lstStyle/>
          <a:p>
            <a:r>
              <a:rPr lang="ru-RU" b="1" dirty="0"/>
              <a:t>Краевая задача</a:t>
            </a:r>
            <a:r>
              <a:rPr lang="ru-RU" dirty="0"/>
              <a:t> — это дифференциальное уравнение плюс условия на границах области.</a:t>
            </a:r>
            <a:endParaRPr lang="ru-BY" dirty="0"/>
          </a:p>
        </p:txBody>
      </p:sp>
      <p:sp>
        <p:nvSpPr>
          <p:cNvPr id="3" name="Подзаголовок 2">
            <a:extLst>
              <a:ext uri="{FF2B5EF4-FFF2-40B4-BE49-F238E27FC236}">
                <a16:creationId xmlns:a16="http://schemas.microsoft.com/office/drawing/2014/main" id="{9EEA6477-2585-4CF2-F2C1-97970E6F596D}"/>
              </a:ext>
            </a:extLst>
          </p:cNvPr>
          <p:cNvSpPr>
            <a:spLocks noGrp="1"/>
          </p:cNvSpPr>
          <p:nvPr>
            <p:ph type="subTitle" idx="1"/>
          </p:nvPr>
        </p:nvSpPr>
        <p:spPr/>
        <p:txBody>
          <a:bodyPr>
            <a:normAutofit/>
          </a:bodyPr>
          <a:lstStyle/>
          <a:p>
            <a:r>
              <a:rPr lang="ru-RU" sz="3600" b="1" dirty="0"/>
              <a:t>Проекционные методы</a:t>
            </a:r>
            <a:r>
              <a:rPr lang="ru-RU" sz="3600" dirty="0"/>
              <a:t> — поиск решения в виде суммы базисных функций</a:t>
            </a:r>
            <a:endParaRPr lang="ru-BY" sz="3600" dirty="0"/>
          </a:p>
        </p:txBody>
      </p:sp>
    </p:spTree>
    <p:extLst>
      <p:ext uri="{BB962C8B-B14F-4D97-AF65-F5344CB8AC3E}">
        <p14:creationId xmlns:p14="http://schemas.microsoft.com/office/powerpoint/2010/main" val="3645883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FA4834-1612-4181-A73E-D734C343EBD9}"/>
              </a:ext>
            </a:extLst>
          </p:cNvPr>
          <p:cNvSpPr>
            <a:spLocks noGrp="1"/>
          </p:cNvSpPr>
          <p:nvPr>
            <p:ph type="ctrTitle"/>
          </p:nvPr>
        </p:nvSpPr>
        <p:spPr/>
        <p:txBody>
          <a:bodyPr>
            <a:normAutofit/>
          </a:bodyPr>
          <a:lstStyle/>
          <a:p>
            <a:r>
              <a:rPr lang="ru-RU" sz="2800" b="1" dirty="0"/>
              <a:t>Цель работы</a:t>
            </a:r>
            <a:r>
              <a:rPr lang="ru-RU" sz="2800" dirty="0"/>
              <a:t>: сравнить точность и эффективность:</a:t>
            </a:r>
            <a:br>
              <a:rPr lang="ru-RU" sz="2800" dirty="0"/>
            </a:br>
            <a:r>
              <a:rPr lang="ru-RU" sz="2800" dirty="0"/>
              <a:t>Метод коллокаций</a:t>
            </a:r>
            <a:br>
              <a:rPr lang="ru-RU" sz="2800" dirty="0"/>
            </a:br>
            <a:r>
              <a:rPr lang="ru-RU" sz="2800" dirty="0"/>
              <a:t>Метод наименьших квадратов (МНК)</a:t>
            </a:r>
            <a:br>
              <a:rPr lang="ru-RU" sz="2800" dirty="0"/>
            </a:br>
            <a:r>
              <a:rPr lang="ru-RU" sz="2800" dirty="0"/>
              <a:t>Метод Галеркина</a:t>
            </a:r>
            <a:br>
              <a:rPr lang="ru-RU" sz="2800" dirty="0"/>
            </a:br>
            <a:r>
              <a:rPr lang="ru-RU" sz="2800" dirty="0"/>
              <a:t>Модификация Малышева (обобщённый метод Галеркина)</a:t>
            </a:r>
            <a:br>
              <a:rPr lang="ru-RU" sz="2000" dirty="0"/>
            </a:br>
            <a:endParaRPr lang="ru-BY" sz="2000" dirty="0"/>
          </a:p>
        </p:txBody>
      </p:sp>
      <p:sp>
        <p:nvSpPr>
          <p:cNvPr id="3" name="Подзаголовок 2">
            <a:extLst>
              <a:ext uri="{FF2B5EF4-FFF2-40B4-BE49-F238E27FC236}">
                <a16:creationId xmlns:a16="http://schemas.microsoft.com/office/drawing/2014/main" id="{4110CF4D-AB38-81EC-BBE2-48C2A33B3E75}"/>
              </a:ext>
            </a:extLst>
          </p:cNvPr>
          <p:cNvSpPr>
            <a:spLocks noGrp="1"/>
          </p:cNvSpPr>
          <p:nvPr>
            <p:ph type="subTitle" idx="1"/>
          </p:nvPr>
        </p:nvSpPr>
        <p:spPr/>
        <p:txBody>
          <a:bodyPr>
            <a:normAutofit lnSpcReduction="10000"/>
          </a:bodyPr>
          <a:lstStyle/>
          <a:p>
            <a:r>
              <a:rPr lang="ru-RU" sz="2800" b="1" dirty="0"/>
              <a:t>Задачи</a:t>
            </a:r>
            <a:r>
              <a:rPr lang="ru-RU" sz="2800" dirty="0"/>
              <a:t>:</a:t>
            </a:r>
          </a:p>
          <a:p>
            <a:pPr lvl="1"/>
            <a:r>
              <a:rPr lang="ru-RU" sz="2800" dirty="0"/>
              <a:t>Реализовать методы на разных типах уравнений.</a:t>
            </a:r>
          </a:p>
          <a:p>
            <a:pPr lvl="1"/>
            <a:r>
              <a:rPr lang="ru-RU" sz="2800" dirty="0"/>
              <a:t>Оценить сходимость и погрешность.</a:t>
            </a:r>
          </a:p>
          <a:p>
            <a:pPr lvl="1"/>
            <a:r>
              <a:rPr lang="ru-RU" sz="2800" dirty="0"/>
              <a:t>Выявить преимущества и недостатки каждого.</a:t>
            </a:r>
          </a:p>
          <a:p>
            <a:endParaRPr lang="ru-BY" dirty="0"/>
          </a:p>
        </p:txBody>
      </p:sp>
    </p:spTree>
    <p:extLst>
      <p:ext uri="{BB962C8B-B14F-4D97-AF65-F5344CB8AC3E}">
        <p14:creationId xmlns:p14="http://schemas.microsoft.com/office/powerpoint/2010/main" val="5441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4E82BC-A3ED-F868-E92D-809787F76D54}"/>
              </a:ext>
            </a:extLst>
          </p:cNvPr>
          <p:cNvSpPr>
            <a:spLocks noGrp="1"/>
          </p:cNvSpPr>
          <p:nvPr>
            <p:ph type="ctrTitle"/>
          </p:nvPr>
        </p:nvSpPr>
        <p:spPr/>
        <p:txBody>
          <a:bodyPr>
            <a:noAutofit/>
          </a:bodyPr>
          <a:lstStyle/>
          <a:p>
            <a:br>
              <a:rPr lang="ru-RU" sz="1400" dirty="0"/>
            </a:br>
            <a:r>
              <a:rPr lang="ru-RU" sz="2800" b="1" dirty="0"/>
              <a:t>Идея проекционных методов:</a:t>
            </a:r>
            <a:r>
              <a:rPr lang="ru-RU" sz="2800" dirty="0"/>
              <a:t> потребовать, чтобы невязка была равна нулю «в среднем» — в некотором смысле.</a:t>
            </a:r>
            <a:br>
              <a:rPr lang="ru-RU" sz="2800" dirty="0"/>
            </a:br>
            <a:r>
              <a:rPr lang="ru-RU" sz="2800" dirty="0"/>
              <a:t>Мы проектируем невязку на конечномерное подпространство и обнуляем проекцию.</a:t>
            </a:r>
            <a:br>
              <a:rPr lang="ru-RU" sz="1400" dirty="0"/>
            </a:br>
            <a:endParaRPr lang="ru-BY" sz="1400" dirty="0"/>
          </a:p>
        </p:txBody>
      </p:sp>
      <p:sp>
        <p:nvSpPr>
          <p:cNvPr id="3" name="Подзаголовок 2">
            <a:extLst>
              <a:ext uri="{FF2B5EF4-FFF2-40B4-BE49-F238E27FC236}">
                <a16:creationId xmlns:a16="http://schemas.microsoft.com/office/drawing/2014/main" id="{23B6FD11-723B-5FAE-CF00-DA81EF0AD4E0}"/>
              </a:ext>
            </a:extLst>
          </p:cNvPr>
          <p:cNvSpPr>
            <a:spLocks noGrp="1"/>
          </p:cNvSpPr>
          <p:nvPr>
            <p:ph type="subTitle" idx="1"/>
          </p:nvPr>
        </p:nvSpPr>
        <p:spPr/>
        <p:txBody>
          <a:bodyPr/>
          <a:lstStyle/>
          <a:p>
            <a:endParaRPr lang="ru-BY" dirty="0"/>
          </a:p>
        </p:txBody>
      </p:sp>
    </p:spTree>
    <p:extLst>
      <p:ext uri="{BB962C8B-B14F-4D97-AF65-F5344CB8AC3E}">
        <p14:creationId xmlns:p14="http://schemas.microsoft.com/office/powerpoint/2010/main" val="3299851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2BED8A-D2B6-4869-D89B-F868B0AB1963}"/>
              </a:ext>
            </a:extLst>
          </p:cNvPr>
          <p:cNvSpPr>
            <a:spLocks noGrp="1"/>
          </p:cNvSpPr>
          <p:nvPr>
            <p:ph type="ctrTitle"/>
          </p:nvPr>
        </p:nvSpPr>
        <p:spPr/>
        <p:txBody>
          <a:bodyPr/>
          <a:lstStyle/>
          <a:p>
            <a:r>
              <a:rPr lang="ru-RU" dirty="0"/>
              <a:t>Виды проекционных методов</a:t>
            </a:r>
            <a:endParaRPr lang="ru-BY" dirty="0"/>
          </a:p>
        </p:txBody>
      </p:sp>
      <p:sp>
        <p:nvSpPr>
          <p:cNvPr id="3" name="Подзаголовок 2">
            <a:extLst>
              <a:ext uri="{FF2B5EF4-FFF2-40B4-BE49-F238E27FC236}">
                <a16:creationId xmlns:a16="http://schemas.microsoft.com/office/drawing/2014/main" id="{91F4166D-EFA9-CEB0-282A-F109A759CF02}"/>
              </a:ext>
            </a:extLst>
          </p:cNvPr>
          <p:cNvSpPr>
            <a:spLocks noGrp="1"/>
          </p:cNvSpPr>
          <p:nvPr>
            <p:ph type="subTitle" idx="1"/>
          </p:nvPr>
        </p:nvSpPr>
        <p:spPr/>
        <p:txBody>
          <a:bodyPr/>
          <a:lstStyle/>
          <a:p>
            <a:endParaRPr lang="ru-BY" dirty="0"/>
          </a:p>
        </p:txBody>
      </p:sp>
    </p:spTree>
    <p:extLst>
      <p:ext uri="{BB962C8B-B14F-4D97-AF65-F5344CB8AC3E}">
        <p14:creationId xmlns:p14="http://schemas.microsoft.com/office/powerpoint/2010/main" val="815840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F005F1-EA9B-87A7-5045-AED8DE79EBDD}"/>
              </a:ext>
            </a:extLst>
          </p:cNvPr>
          <p:cNvSpPr>
            <a:spLocks noGrp="1"/>
          </p:cNvSpPr>
          <p:nvPr>
            <p:ph type="ctrTitle"/>
          </p:nvPr>
        </p:nvSpPr>
        <p:spPr>
          <a:xfrm>
            <a:off x="1581150" y="1408113"/>
            <a:ext cx="9144000" cy="261937"/>
          </a:xfrm>
        </p:spPr>
        <p:txBody>
          <a:bodyPr>
            <a:normAutofit fontScale="90000"/>
          </a:bodyPr>
          <a:lstStyle/>
          <a:p>
            <a:r>
              <a:rPr lang="ru-RU" b="1" dirty="0"/>
              <a:t>Метод коллокаций</a:t>
            </a:r>
            <a:br>
              <a:rPr lang="ru-RU" b="1" dirty="0"/>
            </a:br>
            <a:endParaRPr lang="ru-BY" dirty="0"/>
          </a:p>
        </p:txBody>
      </p:sp>
      <p:sp>
        <p:nvSpPr>
          <p:cNvPr id="3" name="Подзаголовок 2">
            <a:extLst>
              <a:ext uri="{FF2B5EF4-FFF2-40B4-BE49-F238E27FC236}">
                <a16:creationId xmlns:a16="http://schemas.microsoft.com/office/drawing/2014/main" id="{4E911536-052A-0641-63C1-0A8490FE2230}"/>
              </a:ext>
            </a:extLst>
          </p:cNvPr>
          <p:cNvSpPr>
            <a:spLocks noGrp="1"/>
          </p:cNvSpPr>
          <p:nvPr>
            <p:ph type="subTitle" idx="1"/>
          </p:nvPr>
        </p:nvSpPr>
        <p:spPr>
          <a:xfrm>
            <a:off x="1524000" y="2070100"/>
            <a:ext cx="9144000" cy="3187700"/>
          </a:xfrm>
        </p:spPr>
        <p:txBody>
          <a:bodyPr>
            <a:normAutofit/>
          </a:bodyPr>
          <a:lstStyle/>
          <a:p>
            <a:r>
              <a:rPr lang="ru-RU" dirty="0"/>
              <a:t>Выбираем n точек </a:t>
            </a:r>
            <a:r>
              <a:rPr lang="ru-RU" dirty="0" err="1"/>
              <a:t>x1,x2</a:t>
            </a:r>
            <a:r>
              <a:rPr lang="ru-RU" dirty="0"/>
              <a:t>,…,</a:t>
            </a:r>
            <a:r>
              <a:rPr lang="ru-RU" dirty="0" err="1"/>
              <a:t>xn</a:t>
            </a:r>
            <a:r>
              <a:rPr lang="ru-RU" dirty="0"/>
              <a:t>​ на отрезке.</a:t>
            </a:r>
            <a:br>
              <a:rPr lang="ru-RU" dirty="0"/>
            </a:br>
            <a:r>
              <a:rPr lang="ru-RU" dirty="0"/>
              <a:t>Требуем, чтобы в этих точках невязка обращалась в ноль</a:t>
            </a:r>
          </a:p>
          <a:p>
            <a:r>
              <a:rPr lang="ru-RU" dirty="0"/>
              <a:t>Получаем систему линейных уравнений относительно </a:t>
            </a:r>
            <a:r>
              <a:rPr lang="ru-RU" dirty="0" err="1"/>
              <a:t>ck</a:t>
            </a:r>
            <a:r>
              <a:rPr lang="ru-RU" dirty="0"/>
              <a:t>​</a:t>
            </a:r>
          </a:p>
          <a:p>
            <a:r>
              <a:rPr lang="ru-RU" b="1" dirty="0"/>
              <a:t>Плюсы:</a:t>
            </a:r>
            <a:r>
              <a:rPr lang="ru-RU" dirty="0"/>
              <a:t> простота, не нужно интегрировать.</a:t>
            </a:r>
            <a:br>
              <a:rPr lang="ru-RU" dirty="0"/>
            </a:br>
            <a:r>
              <a:rPr lang="ru-RU" b="1" dirty="0"/>
              <a:t>Минусы:</a:t>
            </a:r>
            <a:r>
              <a:rPr lang="ru-RU" dirty="0"/>
              <a:t> не даёт контроля над поведением между точками, чувствителен к выбору точек.</a:t>
            </a:r>
          </a:p>
          <a:p>
            <a:endParaRPr lang="ru-BY" dirty="0"/>
          </a:p>
        </p:txBody>
      </p:sp>
    </p:spTree>
    <p:extLst>
      <p:ext uri="{BB962C8B-B14F-4D97-AF65-F5344CB8AC3E}">
        <p14:creationId xmlns:p14="http://schemas.microsoft.com/office/powerpoint/2010/main" val="1240603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0C8599-DD73-6CAC-5419-E392CEDC3732}"/>
              </a:ext>
            </a:extLst>
          </p:cNvPr>
          <p:cNvSpPr>
            <a:spLocks noGrp="1"/>
          </p:cNvSpPr>
          <p:nvPr>
            <p:ph type="ctrTitle"/>
          </p:nvPr>
        </p:nvSpPr>
        <p:spPr/>
        <p:txBody>
          <a:bodyPr>
            <a:normAutofit fontScale="90000"/>
          </a:bodyPr>
          <a:lstStyle/>
          <a:p>
            <a:r>
              <a:rPr lang="ru-RU" b="1" dirty="0"/>
              <a:t>Метод наименьших квадратов (МНК)</a:t>
            </a:r>
            <a:br>
              <a:rPr lang="ru-RU" b="1" dirty="0"/>
            </a:br>
            <a:endParaRPr lang="ru-BY" dirty="0"/>
          </a:p>
        </p:txBody>
      </p:sp>
      <p:sp>
        <p:nvSpPr>
          <p:cNvPr id="3" name="Подзаголовок 2">
            <a:extLst>
              <a:ext uri="{FF2B5EF4-FFF2-40B4-BE49-F238E27FC236}">
                <a16:creationId xmlns:a16="http://schemas.microsoft.com/office/drawing/2014/main" id="{2BAE036B-3DCB-C67E-8490-F373209F72B7}"/>
              </a:ext>
            </a:extLst>
          </p:cNvPr>
          <p:cNvSpPr>
            <a:spLocks noGrp="1"/>
          </p:cNvSpPr>
          <p:nvPr>
            <p:ph type="subTitle" idx="1"/>
          </p:nvPr>
        </p:nvSpPr>
        <p:spPr/>
        <p:txBody>
          <a:bodyPr>
            <a:normAutofit fontScale="77500" lnSpcReduction="20000"/>
          </a:bodyPr>
          <a:lstStyle/>
          <a:p>
            <a:r>
              <a:rPr lang="ru-RU" sz="3000" dirty="0"/>
              <a:t>Минимизируем квадрат нормы невязки</a:t>
            </a:r>
          </a:p>
          <a:p>
            <a:r>
              <a:rPr lang="ru-RU" sz="3000" dirty="0"/>
              <a:t>Условия минимума: производные по </a:t>
            </a:r>
            <a:r>
              <a:rPr lang="ru-RU" sz="3000" dirty="0" err="1"/>
              <a:t>ck</a:t>
            </a:r>
            <a:r>
              <a:rPr lang="ru-RU" sz="3000" dirty="0"/>
              <a:t>​ равны нулю</a:t>
            </a:r>
          </a:p>
          <a:p>
            <a:r>
              <a:rPr lang="ru-RU" sz="3000" b="1" dirty="0"/>
              <a:t>Плюсы:</a:t>
            </a:r>
            <a:r>
              <a:rPr lang="ru-RU" sz="3000" dirty="0"/>
              <a:t> устойчив, даёт гладкое приближение.</a:t>
            </a:r>
            <a:br>
              <a:rPr lang="ru-RU" sz="3000" dirty="0"/>
            </a:br>
            <a:r>
              <a:rPr lang="ru-RU" sz="3000" b="1" dirty="0"/>
              <a:t>Минусы:</a:t>
            </a:r>
            <a:r>
              <a:rPr lang="ru-RU" sz="3000" dirty="0"/>
              <a:t> требует интегрирования, может быть вычислительно сложным.</a:t>
            </a:r>
          </a:p>
          <a:p>
            <a:endParaRPr lang="ru-BY" dirty="0"/>
          </a:p>
        </p:txBody>
      </p:sp>
    </p:spTree>
    <p:extLst>
      <p:ext uri="{BB962C8B-B14F-4D97-AF65-F5344CB8AC3E}">
        <p14:creationId xmlns:p14="http://schemas.microsoft.com/office/powerpoint/2010/main" val="1757418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7C1C54-62D7-7558-E2ED-ADA263745077}"/>
              </a:ext>
            </a:extLst>
          </p:cNvPr>
          <p:cNvSpPr>
            <a:spLocks noGrp="1"/>
          </p:cNvSpPr>
          <p:nvPr>
            <p:ph type="ctrTitle"/>
          </p:nvPr>
        </p:nvSpPr>
        <p:spPr>
          <a:xfrm>
            <a:off x="1447800" y="819149"/>
            <a:ext cx="9144000" cy="1084263"/>
          </a:xfrm>
        </p:spPr>
        <p:txBody>
          <a:bodyPr/>
          <a:lstStyle/>
          <a:p>
            <a:r>
              <a:rPr lang="ru-RU" dirty="0"/>
              <a:t>Метод Галеркина</a:t>
            </a:r>
            <a:endParaRPr lang="ru-BY" dirty="0"/>
          </a:p>
        </p:txBody>
      </p:sp>
      <p:sp>
        <p:nvSpPr>
          <p:cNvPr id="3" name="Подзаголовок 2">
            <a:extLst>
              <a:ext uri="{FF2B5EF4-FFF2-40B4-BE49-F238E27FC236}">
                <a16:creationId xmlns:a16="http://schemas.microsoft.com/office/drawing/2014/main" id="{FE2EA068-5B49-0FD1-664F-3CAE453BC965}"/>
              </a:ext>
            </a:extLst>
          </p:cNvPr>
          <p:cNvSpPr>
            <a:spLocks noGrp="1"/>
          </p:cNvSpPr>
          <p:nvPr>
            <p:ph type="subTitle" idx="1"/>
          </p:nvPr>
        </p:nvSpPr>
        <p:spPr>
          <a:xfrm>
            <a:off x="1447800" y="2654300"/>
            <a:ext cx="9220200" cy="2603500"/>
          </a:xfrm>
        </p:spPr>
        <p:txBody>
          <a:bodyPr>
            <a:normAutofit/>
          </a:bodyPr>
          <a:lstStyle/>
          <a:p>
            <a:r>
              <a:rPr lang="ru-RU" dirty="0"/>
              <a:t>Требуем ортогональности невязки всем базисным функциям</a:t>
            </a:r>
          </a:p>
          <a:p>
            <a:r>
              <a:rPr lang="ru-RU" b="1" dirty="0"/>
              <a:t>Плюсы:</a:t>
            </a:r>
            <a:r>
              <a:rPr lang="ru-RU" dirty="0"/>
              <a:t> высокая точность, хорошая сходимость.</a:t>
            </a:r>
            <a:br>
              <a:rPr lang="ru-RU" dirty="0"/>
            </a:br>
            <a:r>
              <a:rPr lang="ru-RU" b="1" dirty="0"/>
              <a:t>Минусы:</a:t>
            </a:r>
            <a:r>
              <a:rPr lang="ru-RU" dirty="0"/>
              <a:t> требует интегрирования, при неудачном базисе матрица может быть плохо обусловлена.</a:t>
            </a:r>
            <a:endParaRPr lang="ru-RU" i="1" dirty="0"/>
          </a:p>
          <a:p>
            <a:endParaRPr lang="ru-BY" dirty="0"/>
          </a:p>
        </p:txBody>
      </p:sp>
    </p:spTree>
    <p:extLst>
      <p:ext uri="{BB962C8B-B14F-4D97-AF65-F5344CB8AC3E}">
        <p14:creationId xmlns:p14="http://schemas.microsoft.com/office/powerpoint/2010/main" val="2121312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8EDD90-AA94-09A1-64DD-59F89EC3A2FF}"/>
              </a:ext>
            </a:extLst>
          </p:cNvPr>
          <p:cNvSpPr>
            <a:spLocks noGrp="1"/>
          </p:cNvSpPr>
          <p:nvPr>
            <p:ph type="ctrTitle"/>
          </p:nvPr>
        </p:nvSpPr>
        <p:spPr>
          <a:xfrm>
            <a:off x="1930400" y="742949"/>
            <a:ext cx="7956550" cy="1179513"/>
          </a:xfrm>
        </p:spPr>
        <p:txBody>
          <a:bodyPr>
            <a:normAutofit/>
          </a:bodyPr>
          <a:lstStyle/>
          <a:p>
            <a:r>
              <a:rPr lang="ru-RU" sz="4800" dirty="0"/>
              <a:t>Метод Малышева</a:t>
            </a:r>
            <a:endParaRPr lang="ru-BY" sz="4800" dirty="0"/>
          </a:p>
        </p:txBody>
      </p:sp>
      <p:sp>
        <p:nvSpPr>
          <p:cNvPr id="3" name="Подзаголовок 2">
            <a:extLst>
              <a:ext uri="{FF2B5EF4-FFF2-40B4-BE49-F238E27FC236}">
                <a16:creationId xmlns:a16="http://schemas.microsoft.com/office/drawing/2014/main" id="{E9702490-9A62-A5AB-17E0-4E14D7B6B51C}"/>
              </a:ext>
            </a:extLst>
          </p:cNvPr>
          <p:cNvSpPr>
            <a:spLocks noGrp="1"/>
          </p:cNvSpPr>
          <p:nvPr>
            <p:ph type="subTitle" idx="1"/>
          </p:nvPr>
        </p:nvSpPr>
        <p:spPr>
          <a:xfrm>
            <a:off x="1524000" y="2730500"/>
            <a:ext cx="9144000" cy="2527300"/>
          </a:xfrm>
        </p:spPr>
        <p:txBody>
          <a:bodyPr>
            <a:normAutofit/>
          </a:bodyPr>
          <a:lstStyle/>
          <a:p>
            <a:r>
              <a:rPr lang="ru-RU" dirty="0"/>
              <a:t>Малышев предложил заменить часть интегральных условий условиями на </a:t>
            </a:r>
            <a:r>
              <a:rPr lang="ru-RU" b="1" dirty="0"/>
              <a:t>средние значения невязки и её производных</a:t>
            </a:r>
            <a:r>
              <a:rPr lang="ru-RU" dirty="0"/>
              <a:t>.</a:t>
            </a:r>
          </a:p>
          <a:p>
            <a:r>
              <a:rPr lang="ru-RU" dirty="0"/>
              <a:t>Вместо m интегральных условий он предлагает подставлять значения невязки и ее производных на границах.</a:t>
            </a:r>
            <a:endParaRPr lang="ru-BY" dirty="0"/>
          </a:p>
        </p:txBody>
      </p:sp>
    </p:spTree>
    <p:extLst>
      <p:ext uri="{BB962C8B-B14F-4D97-AF65-F5344CB8AC3E}">
        <p14:creationId xmlns:p14="http://schemas.microsoft.com/office/powerpoint/2010/main" val="1947204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704683-14F2-A3D9-CD6A-DCD5CAE14B97}"/>
              </a:ext>
            </a:extLst>
          </p:cNvPr>
          <p:cNvSpPr>
            <a:spLocks noGrp="1"/>
          </p:cNvSpPr>
          <p:nvPr>
            <p:ph type="ctrTitle"/>
          </p:nvPr>
        </p:nvSpPr>
        <p:spPr>
          <a:xfrm flipV="1">
            <a:off x="317500" y="101600"/>
            <a:ext cx="4819650" cy="444500"/>
          </a:xfrm>
        </p:spPr>
        <p:txBody>
          <a:bodyPr>
            <a:normAutofit fontScale="90000"/>
          </a:bodyPr>
          <a:lstStyle/>
          <a:p>
            <a:endParaRPr lang="ru-BY" dirty="0"/>
          </a:p>
        </p:txBody>
      </p:sp>
      <p:sp>
        <p:nvSpPr>
          <p:cNvPr id="3" name="Подзаголовок 2">
            <a:extLst>
              <a:ext uri="{FF2B5EF4-FFF2-40B4-BE49-F238E27FC236}">
                <a16:creationId xmlns:a16="http://schemas.microsoft.com/office/drawing/2014/main" id="{15E1DB21-6D77-7A56-B2EA-1031B3467BE2}"/>
              </a:ext>
            </a:extLst>
          </p:cNvPr>
          <p:cNvSpPr>
            <a:spLocks noGrp="1"/>
          </p:cNvSpPr>
          <p:nvPr>
            <p:ph type="subTitle" idx="1"/>
          </p:nvPr>
        </p:nvSpPr>
        <p:spPr>
          <a:xfrm>
            <a:off x="1524000" y="1333500"/>
            <a:ext cx="9144000" cy="3924300"/>
          </a:xfrm>
        </p:spPr>
        <p:txBody>
          <a:bodyPr>
            <a:normAutofit/>
          </a:bodyPr>
          <a:lstStyle/>
          <a:p>
            <a:r>
              <a:rPr lang="ru-RU" dirty="0"/>
              <a:t>Чтобы сравнение было объективным, нужно взять задачи с разной структурой решения:</a:t>
            </a:r>
          </a:p>
          <a:p>
            <a:r>
              <a:rPr lang="ru-RU" b="1" dirty="0"/>
              <a:t>Гладкое решение</a:t>
            </a:r>
            <a:r>
              <a:rPr lang="ru-RU" dirty="0"/>
              <a:t> — проверяет базовую сходимость.</a:t>
            </a:r>
          </a:p>
          <a:p>
            <a:r>
              <a:rPr lang="ru-RU" b="1" dirty="0"/>
              <a:t>Осциллирующее решение</a:t>
            </a:r>
            <a:r>
              <a:rPr lang="ru-RU" dirty="0"/>
              <a:t> — проверяет способность метода описывать быстрые колебания.</a:t>
            </a:r>
          </a:p>
          <a:p>
            <a:r>
              <a:rPr lang="ru-RU" b="1" dirty="0"/>
              <a:t>Пограничный слой</a:t>
            </a:r>
            <a:r>
              <a:rPr lang="ru-RU" dirty="0"/>
              <a:t> — проверяет работу на жёстких задачах (малый параметр при старшей производной).</a:t>
            </a:r>
          </a:p>
          <a:p>
            <a:r>
              <a:rPr lang="ru-RU" b="1" dirty="0"/>
              <a:t>Высокий порядок (4-й)</a:t>
            </a:r>
            <a:r>
              <a:rPr lang="ru-RU" dirty="0"/>
              <a:t> — проверяет работу с кратными граничными условиями.</a:t>
            </a:r>
          </a:p>
          <a:p>
            <a:endParaRPr lang="ru-BY" dirty="0"/>
          </a:p>
        </p:txBody>
      </p:sp>
    </p:spTree>
    <p:extLst>
      <p:ext uri="{BB962C8B-B14F-4D97-AF65-F5344CB8AC3E}">
        <p14:creationId xmlns:p14="http://schemas.microsoft.com/office/powerpoint/2010/main" val="675557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ACC7F7F8-0D8F-66C7-206B-D1E65B0ACF2E}"/>
              </a:ext>
            </a:extLst>
          </p:cNvPr>
          <p:cNvPicPr>
            <a:picLocks noChangeAspect="1"/>
          </p:cNvPicPr>
          <p:nvPr/>
        </p:nvPicPr>
        <p:blipFill>
          <a:blip r:embed="rId2"/>
          <a:stretch>
            <a:fillRect/>
          </a:stretch>
        </p:blipFill>
        <p:spPr>
          <a:xfrm>
            <a:off x="0" y="2099720"/>
            <a:ext cx="12495232" cy="1655762"/>
          </a:xfrm>
          <a:prstGeom prst="rect">
            <a:avLst/>
          </a:prstGeom>
        </p:spPr>
      </p:pic>
      <p:sp>
        <p:nvSpPr>
          <p:cNvPr id="2" name="Заголовок 1">
            <a:extLst>
              <a:ext uri="{FF2B5EF4-FFF2-40B4-BE49-F238E27FC236}">
                <a16:creationId xmlns:a16="http://schemas.microsoft.com/office/drawing/2014/main" id="{0D5AD127-0C15-751B-CC83-008B3B1ABB2F}"/>
              </a:ext>
            </a:extLst>
          </p:cNvPr>
          <p:cNvSpPr>
            <a:spLocks noGrp="1"/>
          </p:cNvSpPr>
          <p:nvPr>
            <p:ph type="ctrTitle"/>
          </p:nvPr>
        </p:nvSpPr>
        <p:spPr>
          <a:xfrm>
            <a:off x="1524000" y="1122362"/>
            <a:ext cx="9639300" cy="3335337"/>
          </a:xfrm>
        </p:spPr>
        <p:txBody>
          <a:bodyPr/>
          <a:lstStyle/>
          <a:p>
            <a:endParaRPr lang="ru-BY" dirty="0"/>
          </a:p>
        </p:txBody>
      </p:sp>
      <p:sp>
        <p:nvSpPr>
          <p:cNvPr id="3" name="Подзаголовок 2">
            <a:extLst>
              <a:ext uri="{FF2B5EF4-FFF2-40B4-BE49-F238E27FC236}">
                <a16:creationId xmlns:a16="http://schemas.microsoft.com/office/drawing/2014/main" id="{CBAB1D58-78A5-7703-B9AB-F745184A9E90}"/>
              </a:ext>
            </a:extLst>
          </p:cNvPr>
          <p:cNvSpPr>
            <a:spLocks noGrp="1"/>
          </p:cNvSpPr>
          <p:nvPr>
            <p:ph type="subTitle" idx="1"/>
          </p:nvPr>
        </p:nvSpPr>
        <p:spPr/>
        <p:txBody>
          <a:bodyPr/>
          <a:lstStyle/>
          <a:p>
            <a:endParaRPr lang="ru-BY" dirty="0"/>
          </a:p>
        </p:txBody>
      </p:sp>
    </p:spTree>
    <p:extLst>
      <p:ext uri="{BB962C8B-B14F-4D97-AF65-F5344CB8AC3E}">
        <p14:creationId xmlns:p14="http://schemas.microsoft.com/office/powerpoint/2010/main" val="514258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8C0789-5616-125F-DAB4-B9AC582BAA0F}"/>
              </a:ext>
            </a:extLst>
          </p:cNvPr>
          <p:cNvSpPr>
            <a:spLocks noGrp="1"/>
          </p:cNvSpPr>
          <p:nvPr>
            <p:ph type="ctrTitle"/>
          </p:nvPr>
        </p:nvSpPr>
        <p:spPr/>
        <p:txBody>
          <a:bodyPr/>
          <a:lstStyle/>
          <a:p>
            <a:endParaRPr lang="ru-BY" dirty="0"/>
          </a:p>
        </p:txBody>
      </p:sp>
      <p:sp>
        <p:nvSpPr>
          <p:cNvPr id="3" name="Подзаголовок 2">
            <a:extLst>
              <a:ext uri="{FF2B5EF4-FFF2-40B4-BE49-F238E27FC236}">
                <a16:creationId xmlns:a16="http://schemas.microsoft.com/office/drawing/2014/main" id="{AAE44C74-331C-ED60-9333-327E7306BE5D}"/>
              </a:ext>
            </a:extLst>
          </p:cNvPr>
          <p:cNvSpPr>
            <a:spLocks noGrp="1"/>
          </p:cNvSpPr>
          <p:nvPr>
            <p:ph type="subTitle" idx="1"/>
          </p:nvPr>
        </p:nvSpPr>
        <p:spPr/>
        <p:txBody>
          <a:bodyPr>
            <a:normAutofit fontScale="70000" lnSpcReduction="20000"/>
          </a:bodyPr>
          <a:lstStyle/>
          <a:p>
            <a:r>
              <a:rPr lang="ru-RU" dirty="0"/>
              <a:t>Если взять тригонометрический базис, то все методы работают отлично, потому что точное решение — синус — лежит в этом базисе. Интереснее ситуация с полиномиальным базисом. Мы построили графики приближённых решений. Видно, что метод Галеркина даёт наименьшую погрешность. Метод коллокаций и метод наименьших квадратов показывают близкие результаты. Модификация Малышева при малом числе базисных функций уступает, но затем её точность становится сопоставимой с классическими методами. Это важный вывод: модификация не теряет в точности, хотя требует меньше вычислений</a:t>
            </a:r>
            <a:endParaRPr lang="ru-BY" dirty="0"/>
          </a:p>
        </p:txBody>
      </p:sp>
      <p:pic>
        <p:nvPicPr>
          <p:cNvPr id="4" name="Рисунок 3">
            <a:extLst>
              <a:ext uri="{FF2B5EF4-FFF2-40B4-BE49-F238E27FC236}">
                <a16:creationId xmlns:a16="http://schemas.microsoft.com/office/drawing/2014/main" id="{E263C28F-AA27-13FF-5299-FEB39B445FB5}"/>
              </a:ext>
            </a:extLst>
          </p:cNvPr>
          <p:cNvPicPr>
            <a:picLocks noChangeAspect="1"/>
          </p:cNvPicPr>
          <p:nvPr/>
        </p:nvPicPr>
        <p:blipFill>
          <a:blip r:embed="rId2"/>
          <a:stretch>
            <a:fillRect/>
          </a:stretch>
        </p:blipFill>
        <p:spPr>
          <a:xfrm>
            <a:off x="3156584" y="1185862"/>
            <a:ext cx="6495415" cy="2304757"/>
          </a:xfrm>
          <a:prstGeom prst="rect">
            <a:avLst/>
          </a:prstGeom>
        </p:spPr>
      </p:pic>
    </p:spTree>
    <p:extLst>
      <p:ext uri="{BB962C8B-B14F-4D97-AF65-F5344CB8AC3E}">
        <p14:creationId xmlns:p14="http://schemas.microsoft.com/office/powerpoint/2010/main" val="2043138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78AC1BE6-EB5F-55D7-17DA-16E1E2D5AA16}"/>
              </a:ext>
            </a:extLst>
          </p:cNvPr>
          <p:cNvPicPr>
            <a:picLocks noChangeAspect="1"/>
          </p:cNvPicPr>
          <p:nvPr/>
        </p:nvPicPr>
        <p:blipFill>
          <a:blip r:embed="rId2"/>
          <a:stretch>
            <a:fillRect/>
          </a:stretch>
        </p:blipFill>
        <p:spPr>
          <a:xfrm>
            <a:off x="0" y="2526625"/>
            <a:ext cx="9874250" cy="1655761"/>
          </a:xfrm>
          <a:prstGeom prst="rect">
            <a:avLst/>
          </a:prstGeom>
        </p:spPr>
      </p:pic>
      <p:sp>
        <p:nvSpPr>
          <p:cNvPr id="2" name="Заголовок 1">
            <a:extLst>
              <a:ext uri="{FF2B5EF4-FFF2-40B4-BE49-F238E27FC236}">
                <a16:creationId xmlns:a16="http://schemas.microsoft.com/office/drawing/2014/main" id="{63DECA7C-4309-9BC2-63D0-AD1F8BEB4134}"/>
              </a:ext>
            </a:extLst>
          </p:cNvPr>
          <p:cNvSpPr>
            <a:spLocks noGrp="1"/>
          </p:cNvSpPr>
          <p:nvPr>
            <p:ph type="ctrTitle"/>
          </p:nvPr>
        </p:nvSpPr>
        <p:spPr/>
        <p:txBody>
          <a:bodyPr/>
          <a:lstStyle/>
          <a:p>
            <a:endParaRPr lang="ru-BY" dirty="0"/>
          </a:p>
        </p:txBody>
      </p:sp>
      <p:sp>
        <p:nvSpPr>
          <p:cNvPr id="3" name="Подзаголовок 2">
            <a:extLst>
              <a:ext uri="{FF2B5EF4-FFF2-40B4-BE49-F238E27FC236}">
                <a16:creationId xmlns:a16="http://schemas.microsoft.com/office/drawing/2014/main" id="{32EC474E-171B-837C-51EA-0A721EDDD2A7}"/>
              </a:ext>
            </a:extLst>
          </p:cNvPr>
          <p:cNvSpPr>
            <a:spLocks noGrp="1"/>
          </p:cNvSpPr>
          <p:nvPr>
            <p:ph type="subTitle" idx="1"/>
          </p:nvPr>
        </p:nvSpPr>
        <p:spPr/>
        <p:txBody>
          <a:bodyPr/>
          <a:lstStyle/>
          <a:p>
            <a:endParaRPr lang="ru-BY"/>
          </a:p>
        </p:txBody>
      </p:sp>
    </p:spTree>
    <p:extLst>
      <p:ext uri="{BB962C8B-B14F-4D97-AF65-F5344CB8AC3E}">
        <p14:creationId xmlns:p14="http://schemas.microsoft.com/office/powerpoint/2010/main" val="3776051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A38AF5-0A78-4FCB-78EF-5FCB129784B6}"/>
              </a:ext>
            </a:extLst>
          </p:cNvPr>
          <p:cNvSpPr>
            <a:spLocks noGrp="1"/>
          </p:cNvSpPr>
          <p:nvPr>
            <p:ph type="ctrTitle"/>
          </p:nvPr>
        </p:nvSpPr>
        <p:spPr/>
        <p:txBody>
          <a:bodyPr/>
          <a:lstStyle/>
          <a:p>
            <a:endParaRPr lang="ru-BY" dirty="0"/>
          </a:p>
        </p:txBody>
      </p:sp>
      <p:sp>
        <p:nvSpPr>
          <p:cNvPr id="3" name="Подзаголовок 2">
            <a:extLst>
              <a:ext uri="{FF2B5EF4-FFF2-40B4-BE49-F238E27FC236}">
                <a16:creationId xmlns:a16="http://schemas.microsoft.com/office/drawing/2014/main" id="{49798245-2FD6-A061-79F6-C70516796541}"/>
              </a:ext>
            </a:extLst>
          </p:cNvPr>
          <p:cNvSpPr>
            <a:spLocks noGrp="1"/>
          </p:cNvSpPr>
          <p:nvPr>
            <p:ph type="subTitle" idx="1"/>
          </p:nvPr>
        </p:nvSpPr>
        <p:spPr/>
        <p:txBody>
          <a:bodyPr/>
          <a:lstStyle/>
          <a:p>
            <a:endParaRPr lang="ru-BY" dirty="0"/>
          </a:p>
        </p:txBody>
      </p:sp>
      <p:pic>
        <p:nvPicPr>
          <p:cNvPr id="4" name="Рисунок 3">
            <a:extLst>
              <a:ext uri="{FF2B5EF4-FFF2-40B4-BE49-F238E27FC236}">
                <a16:creationId xmlns:a16="http://schemas.microsoft.com/office/drawing/2014/main" id="{540C2C9C-3405-DD81-32CA-D7B48BF2243A}"/>
              </a:ext>
            </a:extLst>
          </p:cNvPr>
          <p:cNvPicPr>
            <a:picLocks noChangeAspect="1"/>
          </p:cNvPicPr>
          <p:nvPr/>
        </p:nvPicPr>
        <p:blipFill>
          <a:blip r:embed="rId2"/>
          <a:stretch>
            <a:fillRect/>
          </a:stretch>
        </p:blipFill>
        <p:spPr>
          <a:xfrm>
            <a:off x="1524000" y="2036762"/>
            <a:ext cx="5321073" cy="2370138"/>
          </a:xfrm>
          <a:prstGeom prst="rect">
            <a:avLst/>
          </a:prstGeom>
        </p:spPr>
      </p:pic>
      <p:pic>
        <p:nvPicPr>
          <p:cNvPr id="5" name="Рисунок 4">
            <a:extLst>
              <a:ext uri="{FF2B5EF4-FFF2-40B4-BE49-F238E27FC236}">
                <a16:creationId xmlns:a16="http://schemas.microsoft.com/office/drawing/2014/main" id="{3855488B-E99A-5445-FD89-A43B03F2DCBB}"/>
              </a:ext>
            </a:extLst>
          </p:cNvPr>
          <p:cNvPicPr>
            <a:picLocks noChangeAspect="1"/>
          </p:cNvPicPr>
          <p:nvPr/>
        </p:nvPicPr>
        <p:blipFill>
          <a:blip r:embed="rId3"/>
          <a:stretch>
            <a:fillRect/>
          </a:stretch>
        </p:blipFill>
        <p:spPr>
          <a:xfrm>
            <a:off x="6987380" y="1804883"/>
            <a:ext cx="3452019" cy="2602017"/>
          </a:xfrm>
          <a:prstGeom prst="rect">
            <a:avLst/>
          </a:prstGeom>
        </p:spPr>
      </p:pic>
    </p:spTree>
    <p:extLst>
      <p:ext uri="{BB962C8B-B14F-4D97-AF65-F5344CB8AC3E}">
        <p14:creationId xmlns:p14="http://schemas.microsoft.com/office/powerpoint/2010/main" val="1581846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220F994-00A4-FF9C-5931-87ADC0A15A35}"/>
              </a:ext>
            </a:extLst>
          </p:cNvPr>
          <p:cNvSpPr>
            <a:spLocks noGrp="1"/>
          </p:cNvSpPr>
          <p:nvPr>
            <p:ph type="ctrTitle"/>
          </p:nvPr>
        </p:nvSpPr>
        <p:spPr/>
        <p:txBody>
          <a:bodyPr/>
          <a:lstStyle/>
          <a:p>
            <a:endParaRPr lang="ru-BY" dirty="0"/>
          </a:p>
        </p:txBody>
      </p:sp>
      <p:sp>
        <p:nvSpPr>
          <p:cNvPr id="3" name="Подзаголовок 2">
            <a:extLst>
              <a:ext uri="{FF2B5EF4-FFF2-40B4-BE49-F238E27FC236}">
                <a16:creationId xmlns:a16="http://schemas.microsoft.com/office/drawing/2014/main" id="{068F1AEA-660E-D05D-8532-664354A4CF89}"/>
              </a:ext>
            </a:extLst>
          </p:cNvPr>
          <p:cNvSpPr>
            <a:spLocks noGrp="1"/>
          </p:cNvSpPr>
          <p:nvPr>
            <p:ph type="subTitle" idx="1"/>
          </p:nvPr>
        </p:nvSpPr>
        <p:spPr>
          <a:xfrm>
            <a:off x="1524000" y="2222500"/>
            <a:ext cx="9144000" cy="3035300"/>
          </a:xfrm>
        </p:spPr>
        <p:txBody>
          <a:bodyPr>
            <a:normAutofit fontScale="92500" lnSpcReduction="20000"/>
          </a:bodyPr>
          <a:lstStyle/>
          <a:p>
            <a:r>
              <a:rPr lang="ru-BY" dirty="0"/>
              <a:t>Проведённые вычисления показывают, что при использовании устойчивого ортогонального базиса метод Малышева демонстрирует сходимость и обеспечивает уменьшение среднеквадратичной ошибки при увеличении числа базисных функций. Характер сходимости отличается от классических интегральных проекционных методов: поскольку часть условий формируется на границах интервала, метод оказывается более чувствительным к выбору базиса, и для достижения той же точности может потребоваться большее число базисных функций по сравнению с классическим методом Галеркина. Однако выигрыш в вычислительных затратах на формирование матрицы системы делает эту модификацию привлекательной для задач, где требуется многократное решение при различных параметрах.</a:t>
            </a:r>
          </a:p>
          <a:p>
            <a:endParaRPr lang="ru-BY" dirty="0"/>
          </a:p>
        </p:txBody>
      </p:sp>
    </p:spTree>
    <p:extLst>
      <p:ext uri="{BB962C8B-B14F-4D97-AF65-F5344CB8AC3E}">
        <p14:creationId xmlns:p14="http://schemas.microsoft.com/office/powerpoint/2010/main" val="345662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7183B162-F491-D082-46CD-51071AD33128}"/>
              </a:ext>
            </a:extLst>
          </p:cNvPr>
          <p:cNvPicPr>
            <a:picLocks noChangeAspect="1"/>
          </p:cNvPicPr>
          <p:nvPr/>
        </p:nvPicPr>
        <p:blipFill>
          <a:blip r:embed="rId2"/>
          <a:stretch>
            <a:fillRect/>
          </a:stretch>
        </p:blipFill>
        <p:spPr>
          <a:xfrm>
            <a:off x="-1" y="2432050"/>
            <a:ext cx="13143908" cy="1700661"/>
          </a:xfrm>
          <a:prstGeom prst="rect">
            <a:avLst/>
          </a:prstGeom>
        </p:spPr>
      </p:pic>
      <p:sp>
        <p:nvSpPr>
          <p:cNvPr id="2" name="Заголовок 1">
            <a:extLst>
              <a:ext uri="{FF2B5EF4-FFF2-40B4-BE49-F238E27FC236}">
                <a16:creationId xmlns:a16="http://schemas.microsoft.com/office/drawing/2014/main" id="{03EAD259-485E-36C9-D9A6-C8803056E084}"/>
              </a:ext>
            </a:extLst>
          </p:cNvPr>
          <p:cNvSpPr>
            <a:spLocks noGrp="1"/>
          </p:cNvSpPr>
          <p:nvPr>
            <p:ph type="ctrTitle"/>
          </p:nvPr>
        </p:nvSpPr>
        <p:spPr/>
        <p:txBody>
          <a:bodyPr/>
          <a:lstStyle/>
          <a:p>
            <a:endParaRPr lang="ru-BY" dirty="0"/>
          </a:p>
        </p:txBody>
      </p:sp>
      <p:sp>
        <p:nvSpPr>
          <p:cNvPr id="3" name="Подзаголовок 2">
            <a:extLst>
              <a:ext uri="{FF2B5EF4-FFF2-40B4-BE49-F238E27FC236}">
                <a16:creationId xmlns:a16="http://schemas.microsoft.com/office/drawing/2014/main" id="{95F73A23-B271-A23F-7783-87C71398A8A8}"/>
              </a:ext>
            </a:extLst>
          </p:cNvPr>
          <p:cNvSpPr>
            <a:spLocks noGrp="1"/>
          </p:cNvSpPr>
          <p:nvPr>
            <p:ph type="subTitle" idx="1"/>
          </p:nvPr>
        </p:nvSpPr>
        <p:spPr/>
        <p:txBody>
          <a:bodyPr/>
          <a:lstStyle/>
          <a:p>
            <a:endParaRPr lang="ru-BY" dirty="0"/>
          </a:p>
        </p:txBody>
      </p:sp>
    </p:spTree>
    <p:extLst>
      <p:ext uri="{BB962C8B-B14F-4D97-AF65-F5344CB8AC3E}">
        <p14:creationId xmlns:p14="http://schemas.microsoft.com/office/powerpoint/2010/main" val="207837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6BEF13-9920-08D5-8B8E-BC3B287FD641}"/>
              </a:ext>
            </a:extLst>
          </p:cNvPr>
          <p:cNvSpPr>
            <a:spLocks noGrp="1"/>
          </p:cNvSpPr>
          <p:nvPr>
            <p:ph type="ctrTitle"/>
          </p:nvPr>
        </p:nvSpPr>
        <p:spPr/>
        <p:txBody>
          <a:bodyPr/>
          <a:lstStyle/>
          <a:p>
            <a:endParaRPr lang="ru-BY"/>
          </a:p>
        </p:txBody>
      </p:sp>
      <p:sp>
        <p:nvSpPr>
          <p:cNvPr id="3" name="Подзаголовок 2">
            <a:extLst>
              <a:ext uri="{FF2B5EF4-FFF2-40B4-BE49-F238E27FC236}">
                <a16:creationId xmlns:a16="http://schemas.microsoft.com/office/drawing/2014/main" id="{781F3DA3-62CB-0E95-6D73-2B7AF231A168}"/>
              </a:ext>
            </a:extLst>
          </p:cNvPr>
          <p:cNvSpPr>
            <a:spLocks noGrp="1"/>
          </p:cNvSpPr>
          <p:nvPr>
            <p:ph type="subTitle" idx="1"/>
          </p:nvPr>
        </p:nvSpPr>
        <p:spPr>
          <a:xfrm>
            <a:off x="1524000" y="2774950"/>
            <a:ext cx="9144000" cy="2482850"/>
          </a:xfrm>
        </p:spPr>
        <p:txBody>
          <a:bodyPr>
            <a:normAutofit/>
          </a:bodyPr>
          <a:lstStyle/>
          <a:p>
            <a:r>
              <a:rPr lang="ru-RU" i="1" dirty="0"/>
              <a:t>Для уравнения с пограничным слоем лучше всего показали себя полиномы Чебышева. Метод Галеркина с ними даёт хорошую точность. Модификация Малышева также работает, но мы заметили, что при большом числе базисных функций начинает сказываться чувствительность к ошибкам округления. Это не недостаток метода, а общая проблема полиномиальных базисов высокого порядка</a:t>
            </a:r>
            <a:endParaRPr lang="ru-BY" dirty="0"/>
          </a:p>
        </p:txBody>
      </p:sp>
    </p:spTree>
    <p:extLst>
      <p:ext uri="{BB962C8B-B14F-4D97-AF65-F5344CB8AC3E}">
        <p14:creationId xmlns:p14="http://schemas.microsoft.com/office/powerpoint/2010/main" val="1106768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71A1E2D7-B306-0812-6F54-B1C44D43718D}"/>
              </a:ext>
            </a:extLst>
          </p:cNvPr>
          <p:cNvPicPr>
            <a:picLocks noChangeAspect="1"/>
          </p:cNvPicPr>
          <p:nvPr/>
        </p:nvPicPr>
        <p:blipFill>
          <a:blip r:embed="rId2"/>
          <a:stretch>
            <a:fillRect/>
          </a:stretch>
        </p:blipFill>
        <p:spPr>
          <a:xfrm>
            <a:off x="551677" y="2008323"/>
            <a:ext cx="12074488" cy="2387600"/>
          </a:xfrm>
          <a:prstGeom prst="rect">
            <a:avLst/>
          </a:prstGeom>
        </p:spPr>
      </p:pic>
      <p:sp>
        <p:nvSpPr>
          <p:cNvPr id="2" name="Заголовок 1">
            <a:extLst>
              <a:ext uri="{FF2B5EF4-FFF2-40B4-BE49-F238E27FC236}">
                <a16:creationId xmlns:a16="http://schemas.microsoft.com/office/drawing/2014/main" id="{8BE4C40E-5E86-557A-FA8A-703AA9B560CF}"/>
              </a:ext>
            </a:extLst>
          </p:cNvPr>
          <p:cNvSpPr>
            <a:spLocks noGrp="1"/>
          </p:cNvSpPr>
          <p:nvPr>
            <p:ph type="ctrTitle"/>
          </p:nvPr>
        </p:nvSpPr>
        <p:spPr/>
        <p:txBody>
          <a:bodyPr/>
          <a:lstStyle/>
          <a:p>
            <a:endParaRPr lang="ru-BY" dirty="0"/>
          </a:p>
        </p:txBody>
      </p:sp>
      <p:sp>
        <p:nvSpPr>
          <p:cNvPr id="3" name="Подзаголовок 2">
            <a:extLst>
              <a:ext uri="{FF2B5EF4-FFF2-40B4-BE49-F238E27FC236}">
                <a16:creationId xmlns:a16="http://schemas.microsoft.com/office/drawing/2014/main" id="{422C464E-1FA1-4CC9-C3D2-49D9E7193032}"/>
              </a:ext>
            </a:extLst>
          </p:cNvPr>
          <p:cNvSpPr>
            <a:spLocks noGrp="1"/>
          </p:cNvSpPr>
          <p:nvPr>
            <p:ph type="subTitle" idx="1"/>
          </p:nvPr>
        </p:nvSpPr>
        <p:spPr/>
        <p:txBody>
          <a:bodyPr/>
          <a:lstStyle/>
          <a:p>
            <a:endParaRPr lang="ru-BY" dirty="0"/>
          </a:p>
        </p:txBody>
      </p:sp>
    </p:spTree>
    <p:extLst>
      <p:ext uri="{BB962C8B-B14F-4D97-AF65-F5344CB8AC3E}">
        <p14:creationId xmlns:p14="http://schemas.microsoft.com/office/powerpoint/2010/main" val="4154427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60E91A-E6DC-DA49-26E3-BC4610B505D7}"/>
              </a:ext>
            </a:extLst>
          </p:cNvPr>
          <p:cNvSpPr>
            <a:spLocks noGrp="1"/>
          </p:cNvSpPr>
          <p:nvPr>
            <p:ph type="ctrTitle"/>
          </p:nvPr>
        </p:nvSpPr>
        <p:spPr/>
        <p:txBody>
          <a:bodyPr/>
          <a:lstStyle/>
          <a:p>
            <a:endParaRPr lang="ru-BY" dirty="0"/>
          </a:p>
        </p:txBody>
      </p:sp>
      <p:sp>
        <p:nvSpPr>
          <p:cNvPr id="3" name="Подзаголовок 2">
            <a:extLst>
              <a:ext uri="{FF2B5EF4-FFF2-40B4-BE49-F238E27FC236}">
                <a16:creationId xmlns:a16="http://schemas.microsoft.com/office/drawing/2014/main" id="{36B52F81-B0B5-FF85-CCAF-3EA5F704F03E}"/>
              </a:ext>
            </a:extLst>
          </p:cNvPr>
          <p:cNvSpPr>
            <a:spLocks noGrp="1"/>
          </p:cNvSpPr>
          <p:nvPr>
            <p:ph type="subTitle" idx="1"/>
          </p:nvPr>
        </p:nvSpPr>
        <p:spPr>
          <a:xfrm>
            <a:off x="1524000" y="3602038"/>
            <a:ext cx="9144000" cy="2233612"/>
          </a:xfrm>
        </p:spPr>
        <p:txBody>
          <a:bodyPr>
            <a:normAutofit fontScale="70000" lnSpcReduction="20000"/>
          </a:bodyPr>
          <a:lstStyle/>
          <a:p>
            <a:r>
              <a:rPr lang="ru-RU" dirty="0"/>
              <a:t>Модификация Малышева требует вычисления производных невязки до 3-го порядка включительно</a:t>
            </a:r>
          </a:p>
          <a:p>
            <a:r>
              <a:rPr lang="ru-RU" i="1" dirty="0"/>
              <a:t>Здесь нужно удовлетворять уже двум производным условиям на границах. Тригонометрический базис снова показал себя наилучшим. Все методы сходятся монотонно. Но особый интерес представляет таблица среднеквадратичных отклонений для метода Малышева. Видно, что даже при умеренном числе базисных функций (8–12) погрешность становится достаточно малой. При этом вычислительные затраты на формирование матрицы системы в разы меньше, чем у классического Галеркина. То есть метод Малышева — это тот самый компромисс, когда вы жертвуете небольшой точностью ради большой экономии времени</a:t>
            </a:r>
            <a:endParaRPr lang="ru-BY" dirty="0"/>
          </a:p>
        </p:txBody>
      </p:sp>
      <p:pic>
        <p:nvPicPr>
          <p:cNvPr id="4" name="Рисунок 3">
            <a:extLst>
              <a:ext uri="{FF2B5EF4-FFF2-40B4-BE49-F238E27FC236}">
                <a16:creationId xmlns:a16="http://schemas.microsoft.com/office/drawing/2014/main" id="{E9D1ADF0-6180-6A75-6548-C2D776DE4643}"/>
              </a:ext>
            </a:extLst>
          </p:cNvPr>
          <p:cNvPicPr>
            <a:picLocks noChangeAspect="1"/>
          </p:cNvPicPr>
          <p:nvPr/>
        </p:nvPicPr>
        <p:blipFill>
          <a:blip r:embed="rId2"/>
          <a:stretch>
            <a:fillRect/>
          </a:stretch>
        </p:blipFill>
        <p:spPr>
          <a:xfrm>
            <a:off x="3717289" y="1193799"/>
            <a:ext cx="4796712" cy="2316163"/>
          </a:xfrm>
          <a:prstGeom prst="rect">
            <a:avLst/>
          </a:prstGeom>
        </p:spPr>
      </p:pic>
    </p:spTree>
    <p:extLst>
      <p:ext uri="{BB962C8B-B14F-4D97-AF65-F5344CB8AC3E}">
        <p14:creationId xmlns:p14="http://schemas.microsoft.com/office/powerpoint/2010/main" val="2496138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09193F-7C44-2B88-5DFA-631DBAB6EC95}"/>
              </a:ext>
            </a:extLst>
          </p:cNvPr>
          <p:cNvSpPr>
            <a:spLocks noGrp="1"/>
          </p:cNvSpPr>
          <p:nvPr>
            <p:ph type="ctrTitle"/>
          </p:nvPr>
        </p:nvSpPr>
        <p:spPr/>
        <p:txBody>
          <a:bodyPr/>
          <a:lstStyle/>
          <a:p>
            <a:endParaRPr lang="ru-BY" dirty="0"/>
          </a:p>
        </p:txBody>
      </p:sp>
      <p:sp>
        <p:nvSpPr>
          <p:cNvPr id="3" name="Подзаголовок 2">
            <a:extLst>
              <a:ext uri="{FF2B5EF4-FFF2-40B4-BE49-F238E27FC236}">
                <a16:creationId xmlns:a16="http://schemas.microsoft.com/office/drawing/2014/main" id="{09F83AD4-5294-4E2C-A3C8-56EACE671B95}"/>
              </a:ext>
            </a:extLst>
          </p:cNvPr>
          <p:cNvSpPr>
            <a:spLocks noGrp="1"/>
          </p:cNvSpPr>
          <p:nvPr>
            <p:ph type="subTitle" idx="1"/>
          </p:nvPr>
        </p:nvSpPr>
        <p:spPr>
          <a:xfrm>
            <a:off x="1524000" y="2870200"/>
            <a:ext cx="9144000" cy="2387600"/>
          </a:xfrm>
        </p:spPr>
        <p:txBody>
          <a:bodyPr>
            <a:normAutofit fontScale="85000" lnSpcReduction="10000"/>
          </a:bodyPr>
          <a:lstStyle/>
          <a:p>
            <a:r>
              <a:rPr lang="ru-RU" i="1" dirty="0"/>
              <a:t>Важный вывод, который мы сделали в ходе работы: метод — это лишь половина успеха. Не менее важен выбор базисных функций. Если вы решаете осциллирующую задачу — берите тригонометрический базис, и любой метод сработает хорошо. Если у вас пограничный слой — полиномы Чебышева дадут преимущество. Для гладких задач на отрезке хорошо работают полиномы Лежандра. Таким образом, инженер или исследователь должен выбирать не только метод, но и базис под конкретную задачу. Модификация Малышева более чувствительна к этому выбору, но при правильном базисе она работает не хуже классики</a:t>
            </a:r>
            <a:endParaRPr lang="ru-BY" dirty="0"/>
          </a:p>
        </p:txBody>
      </p:sp>
    </p:spTree>
    <p:extLst>
      <p:ext uri="{BB962C8B-B14F-4D97-AF65-F5344CB8AC3E}">
        <p14:creationId xmlns:p14="http://schemas.microsoft.com/office/powerpoint/2010/main" val="3452943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9DDC7E-C2A6-B70F-E308-266F17F26103}"/>
              </a:ext>
            </a:extLst>
          </p:cNvPr>
          <p:cNvSpPr>
            <a:spLocks noGrp="1"/>
          </p:cNvSpPr>
          <p:nvPr>
            <p:ph type="ctrTitle"/>
          </p:nvPr>
        </p:nvSpPr>
        <p:spPr/>
        <p:txBody>
          <a:bodyPr/>
          <a:lstStyle/>
          <a:p>
            <a:endParaRPr lang="ru-BY"/>
          </a:p>
        </p:txBody>
      </p:sp>
      <p:sp>
        <p:nvSpPr>
          <p:cNvPr id="3" name="Подзаголовок 2">
            <a:extLst>
              <a:ext uri="{FF2B5EF4-FFF2-40B4-BE49-F238E27FC236}">
                <a16:creationId xmlns:a16="http://schemas.microsoft.com/office/drawing/2014/main" id="{134C886C-1CF4-2B94-8FB6-927C02BF1EE8}"/>
              </a:ext>
            </a:extLst>
          </p:cNvPr>
          <p:cNvSpPr>
            <a:spLocks noGrp="1"/>
          </p:cNvSpPr>
          <p:nvPr>
            <p:ph type="subTitle" idx="1"/>
          </p:nvPr>
        </p:nvSpPr>
        <p:spPr>
          <a:xfrm>
            <a:off x="1524000" y="2514600"/>
            <a:ext cx="9144000" cy="2743200"/>
          </a:xfrm>
        </p:spPr>
        <p:txBody>
          <a:bodyPr>
            <a:normAutofit fontScale="92500" lnSpcReduction="20000"/>
          </a:bodyPr>
          <a:lstStyle/>
          <a:p>
            <a:r>
              <a:rPr lang="ru-RU" i="1" dirty="0"/>
              <a:t>Подведём итог сравнения. Классический метод Галеркина остаётся самым точным, но он и самый дорогой. Метод коллокаций — самый простой, но может быть неустойчивым. МНК хорош для плохо обусловленных задач. А модификация Малышева занимает особое место: она даёт сопоставимую точность с классическими методами, но при значительно меньших вычислительных затратах на формирование матрицы. Это особенно важно, когда задачу нужно решать многократно — например, при параметрическом анализе. Поэтому мы рекомендуем Малышева для прикладных задач, где важна скорость. А если нужна максимальная точность и ресурсы позволяют — берите Галеркина</a:t>
            </a:r>
            <a:endParaRPr lang="ru-BY" dirty="0"/>
          </a:p>
        </p:txBody>
      </p:sp>
    </p:spTree>
    <p:extLst>
      <p:ext uri="{BB962C8B-B14F-4D97-AF65-F5344CB8AC3E}">
        <p14:creationId xmlns:p14="http://schemas.microsoft.com/office/powerpoint/2010/main" val="80013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59FE8E-3EF3-7678-804A-2B1D5D5B7BAC}"/>
              </a:ext>
            </a:extLst>
          </p:cNvPr>
          <p:cNvSpPr>
            <a:spLocks noGrp="1"/>
          </p:cNvSpPr>
          <p:nvPr>
            <p:ph type="ctrTitle"/>
          </p:nvPr>
        </p:nvSpPr>
        <p:spPr>
          <a:xfrm>
            <a:off x="1524000" y="1122363"/>
            <a:ext cx="9144000" cy="1354137"/>
          </a:xfrm>
        </p:spPr>
        <p:txBody>
          <a:bodyPr>
            <a:normAutofit/>
          </a:bodyPr>
          <a:lstStyle/>
          <a:p>
            <a:r>
              <a:rPr lang="ru-RU" sz="4400" dirty="0"/>
              <a:t>Практическая ценность</a:t>
            </a:r>
            <a:endParaRPr lang="ru-BY" sz="4400" dirty="0"/>
          </a:p>
        </p:txBody>
      </p:sp>
      <p:sp>
        <p:nvSpPr>
          <p:cNvPr id="3" name="Подзаголовок 2">
            <a:extLst>
              <a:ext uri="{FF2B5EF4-FFF2-40B4-BE49-F238E27FC236}">
                <a16:creationId xmlns:a16="http://schemas.microsoft.com/office/drawing/2014/main" id="{9D0EC249-15BF-7EE6-31F4-AD1254458039}"/>
              </a:ext>
            </a:extLst>
          </p:cNvPr>
          <p:cNvSpPr>
            <a:spLocks noGrp="1"/>
          </p:cNvSpPr>
          <p:nvPr>
            <p:ph type="subTitle" idx="1"/>
          </p:nvPr>
        </p:nvSpPr>
        <p:spPr>
          <a:xfrm>
            <a:off x="1524000" y="2768600"/>
            <a:ext cx="9144000" cy="2489200"/>
          </a:xfrm>
        </p:spPr>
        <p:txBody>
          <a:bodyPr>
            <a:normAutofit fontScale="85000" lnSpcReduction="20000"/>
          </a:bodyPr>
          <a:lstStyle/>
          <a:p>
            <a:r>
              <a:rPr lang="ru-RU" dirty="0"/>
              <a:t>Модификация Малышева предложена в </a:t>
            </a:r>
            <a:r>
              <a:rPr lang="ru-RU" b="1" dirty="0"/>
              <a:t>1959 году</a:t>
            </a:r>
            <a:r>
              <a:rPr lang="ru-RU" dirty="0"/>
              <a:t>, когда компьютеры были медленными, а память — маленькой.</a:t>
            </a:r>
          </a:p>
          <a:p>
            <a:r>
              <a:rPr lang="ru-RU" dirty="0"/>
              <a:t>Замена интегрирования дифференцированием на границах была прорывом.</a:t>
            </a:r>
          </a:p>
          <a:p>
            <a:r>
              <a:rPr lang="ru-RU" dirty="0"/>
              <a:t>Сегодня компьютеры стали быстрее, но задачи — сложнее.</a:t>
            </a:r>
          </a:p>
          <a:p>
            <a:r>
              <a:rPr lang="ru-RU" dirty="0"/>
              <a:t>Метод востребован в:</a:t>
            </a:r>
          </a:p>
          <a:p>
            <a:pPr lvl="1"/>
            <a:r>
              <a:rPr lang="ru-RU" dirty="0"/>
              <a:t>системах реального времени;</a:t>
            </a:r>
          </a:p>
          <a:p>
            <a:pPr lvl="1"/>
            <a:r>
              <a:rPr lang="ru-RU" dirty="0"/>
              <a:t>встроенных системах с ограниченной производительностью;</a:t>
            </a:r>
          </a:p>
          <a:p>
            <a:pPr lvl="1"/>
            <a:r>
              <a:rPr lang="ru-RU" dirty="0"/>
              <a:t>многовариантных расчётах (например, оптимизация).</a:t>
            </a:r>
          </a:p>
          <a:p>
            <a:endParaRPr lang="ru-BY" dirty="0"/>
          </a:p>
        </p:txBody>
      </p:sp>
    </p:spTree>
    <p:extLst>
      <p:ext uri="{BB962C8B-B14F-4D97-AF65-F5344CB8AC3E}">
        <p14:creationId xmlns:p14="http://schemas.microsoft.com/office/powerpoint/2010/main" val="3649307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41EEE7-8E50-C424-A9BE-CB2EF2F9FD54}"/>
              </a:ext>
            </a:extLst>
          </p:cNvPr>
          <p:cNvSpPr>
            <a:spLocks noGrp="1"/>
          </p:cNvSpPr>
          <p:nvPr>
            <p:ph type="ctrTitle"/>
          </p:nvPr>
        </p:nvSpPr>
        <p:spPr>
          <a:xfrm>
            <a:off x="1524000" y="1122363"/>
            <a:ext cx="9144000" cy="1655762"/>
          </a:xfrm>
        </p:spPr>
        <p:txBody>
          <a:bodyPr/>
          <a:lstStyle/>
          <a:p>
            <a:r>
              <a:rPr lang="ru-RU" dirty="0"/>
              <a:t>Таким образом</a:t>
            </a:r>
            <a:endParaRPr lang="ru-BY" dirty="0"/>
          </a:p>
        </p:txBody>
      </p:sp>
      <p:sp>
        <p:nvSpPr>
          <p:cNvPr id="3" name="Подзаголовок 2">
            <a:extLst>
              <a:ext uri="{FF2B5EF4-FFF2-40B4-BE49-F238E27FC236}">
                <a16:creationId xmlns:a16="http://schemas.microsoft.com/office/drawing/2014/main" id="{91D1A39C-DA7A-85D3-B087-F18667E4C8C5}"/>
              </a:ext>
            </a:extLst>
          </p:cNvPr>
          <p:cNvSpPr>
            <a:spLocks noGrp="1"/>
          </p:cNvSpPr>
          <p:nvPr>
            <p:ph type="subTitle" idx="1"/>
          </p:nvPr>
        </p:nvSpPr>
        <p:spPr>
          <a:xfrm>
            <a:off x="1524000" y="3054350"/>
            <a:ext cx="9144000" cy="2203450"/>
          </a:xfrm>
        </p:spPr>
        <p:txBody>
          <a:bodyPr>
            <a:normAutofit fontScale="92500" lnSpcReduction="20000"/>
          </a:bodyPr>
          <a:lstStyle/>
          <a:p>
            <a:r>
              <a:rPr lang="ru-RU" dirty="0"/>
              <a:t>Проведён систематический сравнительный анализ 4 проекционных методов на 4 классах задач.</a:t>
            </a:r>
          </a:p>
          <a:p>
            <a:r>
              <a:rPr lang="ru-RU" dirty="0"/>
              <a:t>Подтверждена эффективность модификации Малышева: точность сопоставима с классикой, затраты — ниже.</a:t>
            </a:r>
          </a:p>
          <a:p>
            <a:r>
              <a:rPr lang="ru-RU" dirty="0"/>
              <a:t>Выявлена роль базисных функций: их выбор так же важен, как выбор метода.</a:t>
            </a:r>
          </a:p>
          <a:p>
            <a:r>
              <a:rPr lang="ru-RU" dirty="0"/>
              <a:t>Даны практические рекомендации для прикладных расчётов.</a:t>
            </a:r>
          </a:p>
          <a:p>
            <a:endParaRPr lang="ru-BY" dirty="0"/>
          </a:p>
        </p:txBody>
      </p:sp>
    </p:spTree>
    <p:extLst>
      <p:ext uri="{BB962C8B-B14F-4D97-AF65-F5344CB8AC3E}">
        <p14:creationId xmlns:p14="http://schemas.microsoft.com/office/powerpoint/2010/main" val="299869794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1027</Words>
  <Application>Microsoft Office PowerPoint</Application>
  <PresentationFormat>Широкоэкранный</PresentationFormat>
  <Paragraphs>52</Paragraphs>
  <Slides>24</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24</vt:i4>
      </vt:variant>
    </vt:vector>
  </HeadingPairs>
  <TitlesOfParts>
    <vt:vector size="28" baseType="lpstr">
      <vt:lpstr>Arial</vt:lpstr>
      <vt:lpstr>Calibri</vt:lpstr>
      <vt:lpstr>Calibri Light</vt:lpstr>
      <vt:lpstr>Тема Office</vt:lpstr>
      <vt:lpstr>Сравнительный анализ проекционных методов решения краевых задач дифференциальных уравнений</vt:lpstr>
      <vt:lpstr>Численные методы решения дифференциальных уравнений нужны потому, что: Аналитическое решение существует далеко не всегда. Если и существует, оно может быть слишком сложным. В инженерной практике важна скорость и предсказуемая точность. </vt:lpstr>
      <vt:lpstr>Краевая задача — это дифференциальное уравнение плюс условия на границах области.</vt:lpstr>
      <vt:lpstr>Цель работы: сравнить точность и эффективность: Метод коллокаций Метод наименьших квадратов (МНК) Метод Галеркина Модификация Малышева (обобщённый метод Галеркина) </vt:lpstr>
      <vt:lpstr> Идея проекционных методов: потребовать, чтобы невязка была равна нулю «в среднем» — в некотором смысле. Мы проектируем невязку на конечномерное подпространство и обнуляем проекцию. </vt:lpstr>
      <vt:lpstr>Виды проекционных методов</vt:lpstr>
      <vt:lpstr>Метод коллокаций </vt:lpstr>
      <vt:lpstr>Метод наименьших квадратов (МНК) </vt:lpstr>
      <vt:lpstr>Метод Галеркина</vt:lpstr>
      <vt:lpstr>Метод Малышева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Практическая ценность</vt:lpstr>
      <vt:lpstr>Таким образом</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khalamov2000@gmail.com</dc:creator>
  <cp:lastModifiedBy>khalamov2000@gmail.com</cp:lastModifiedBy>
  <cp:revision>3</cp:revision>
  <dcterms:created xsi:type="dcterms:W3CDTF">2026-04-14T07:32:47Z</dcterms:created>
  <dcterms:modified xsi:type="dcterms:W3CDTF">2026-04-14T10:22:32Z</dcterms:modified>
</cp:coreProperties>
</file>